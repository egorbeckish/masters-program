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8" r:id="rId2"/>
    <p:sldId id="269" r:id="rId3"/>
    <p:sldId id="270" r:id="rId4"/>
    <p:sldId id="271" r:id="rId5"/>
    <p:sldId id="272" r:id="rId6"/>
    <p:sldId id="273" r:id="rId7"/>
    <p:sldId id="274" r:id="rId8"/>
    <p:sldId id="275" r:id="rId9"/>
    <p:sldId id="277" r:id="rId10"/>
    <p:sldId id="278" r:id="rId11"/>
    <p:sldId id="279" r:id="rId12"/>
    <p:sldId id="280" r:id="rId13"/>
    <p:sldId id="281" r:id="rId14"/>
    <p:sldId id="282" r:id="rId15"/>
    <p:sldId id="283" r:id="rId16"/>
    <p:sldId id="284" r:id="rId17"/>
    <p:sldId id="285" r:id="rId18"/>
    <p:sldId id="286" r:id="rId19"/>
    <p:sldId id="287" r:id="rId20"/>
    <p:sldId id="288" r:id="rId21"/>
    <p:sldId id="289" r:id="rId22"/>
    <p:sldId id="290" r:id="rId23"/>
    <p:sldId id="291" r:id="rId24"/>
    <p:sldId id="292" r:id="rId25"/>
    <p:sldId id="293" r:id="rId26"/>
    <p:sldId id="294" r:id="rId27"/>
    <p:sldId id="295" r:id="rId28"/>
    <p:sldId id="296" r:id="rId29"/>
    <p:sldId id="297" r:id="rId30"/>
    <p:sldId id="298" r:id="rId31"/>
    <p:sldId id="299" r:id="rId32"/>
    <p:sldId id="300" r:id="rId33"/>
    <p:sldId id="301" r:id="rId34"/>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66"/>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754"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4575683-D7C0-4ABF-8049-E1258634148E}"/>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EA467379-DC36-47FF-B341-51E239FCE21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48B564BD-897A-4F64-B727-A546C561C7DA}"/>
              </a:ext>
            </a:extLst>
          </p:cNvPr>
          <p:cNvSpPr>
            <a:spLocks noGrp="1"/>
          </p:cNvSpPr>
          <p:nvPr>
            <p:ph type="dt" sz="half" idx="10"/>
          </p:nvPr>
        </p:nvSpPr>
        <p:spPr/>
        <p:txBody>
          <a:bodyPr/>
          <a:lstStyle/>
          <a:p>
            <a:fld id="{1FDCEC4E-D884-4FED-A1C2-9AF46924237E}" type="datetimeFigureOut">
              <a:rPr lang="ru-RU" smtClean="0"/>
              <a:t>29.04.2026</a:t>
            </a:fld>
            <a:endParaRPr lang="ru-RU"/>
          </a:p>
        </p:txBody>
      </p:sp>
      <p:sp>
        <p:nvSpPr>
          <p:cNvPr id="5" name="Нижний колонтитул 4">
            <a:extLst>
              <a:ext uri="{FF2B5EF4-FFF2-40B4-BE49-F238E27FC236}">
                <a16:creationId xmlns:a16="http://schemas.microsoft.com/office/drawing/2014/main" id="{A01BC9DE-602E-4B4F-9E79-0E762FD9C4BD}"/>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7C786A3F-F278-4F67-98AE-5A128A8501EB}"/>
              </a:ext>
            </a:extLst>
          </p:cNvPr>
          <p:cNvSpPr>
            <a:spLocks noGrp="1"/>
          </p:cNvSpPr>
          <p:nvPr>
            <p:ph type="sldNum" sz="quarter" idx="12"/>
          </p:nvPr>
        </p:nvSpPr>
        <p:spPr/>
        <p:txBody>
          <a:bodyPr/>
          <a:lstStyle/>
          <a:p>
            <a:fld id="{8AA597A5-0995-4B5E-B853-E306F9C1CCDA}" type="slidenum">
              <a:rPr lang="ru-RU" smtClean="0"/>
              <a:t>‹#›</a:t>
            </a:fld>
            <a:endParaRPr lang="ru-RU"/>
          </a:p>
        </p:txBody>
      </p:sp>
    </p:spTree>
    <p:extLst>
      <p:ext uri="{BB962C8B-B14F-4D97-AF65-F5344CB8AC3E}">
        <p14:creationId xmlns:p14="http://schemas.microsoft.com/office/powerpoint/2010/main" val="5622206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91FAA8E-EF21-4683-A797-C7B82EBF7C8F}"/>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8C320D6A-AC08-46D1-A8A6-30DC9A5624C0}"/>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745943F9-D8F1-4D24-B611-81168FF32447}"/>
              </a:ext>
            </a:extLst>
          </p:cNvPr>
          <p:cNvSpPr>
            <a:spLocks noGrp="1"/>
          </p:cNvSpPr>
          <p:nvPr>
            <p:ph type="dt" sz="half" idx="10"/>
          </p:nvPr>
        </p:nvSpPr>
        <p:spPr/>
        <p:txBody>
          <a:bodyPr/>
          <a:lstStyle/>
          <a:p>
            <a:fld id="{1FDCEC4E-D884-4FED-A1C2-9AF46924237E}" type="datetimeFigureOut">
              <a:rPr lang="ru-RU" smtClean="0"/>
              <a:t>29.04.2026</a:t>
            </a:fld>
            <a:endParaRPr lang="ru-RU"/>
          </a:p>
        </p:txBody>
      </p:sp>
      <p:sp>
        <p:nvSpPr>
          <p:cNvPr id="5" name="Нижний колонтитул 4">
            <a:extLst>
              <a:ext uri="{FF2B5EF4-FFF2-40B4-BE49-F238E27FC236}">
                <a16:creationId xmlns:a16="http://schemas.microsoft.com/office/drawing/2014/main" id="{49260B7E-824E-4E6D-B980-FB191F9132D6}"/>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59A08930-896D-48CB-B8DC-FA612C603530}"/>
              </a:ext>
            </a:extLst>
          </p:cNvPr>
          <p:cNvSpPr>
            <a:spLocks noGrp="1"/>
          </p:cNvSpPr>
          <p:nvPr>
            <p:ph type="sldNum" sz="quarter" idx="12"/>
          </p:nvPr>
        </p:nvSpPr>
        <p:spPr/>
        <p:txBody>
          <a:bodyPr/>
          <a:lstStyle/>
          <a:p>
            <a:fld id="{8AA597A5-0995-4B5E-B853-E306F9C1CCDA}" type="slidenum">
              <a:rPr lang="ru-RU" smtClean="0"/>
              <a:t>‹#›</a:t>
            </a:fld>
            <a:endParaRPr lang="ru-RU"/>
          </a:p>
        </p:txBody>
      </p:sp>
    </p:spTree>
    <p:extLst>
      <p:ext uri="{BB962C8B-B14F-4D97-AF65-F5344CB8AC3E}">
        <p14:creationId xmlns:p14="http://schemas.microsoft.com/office/powerpoint/2010/main" val="25265753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F032A85-0730-4485-A241-D335B310D427}"/>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D04B3D36-7AA3-4F64-A9E5-F760BB65118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D0377CE6-9A7F-4BCF-A590-FC9BDB2AC736}"/>
              </a:ext>
            </a:extLst>
          </p:cNvPr>
          <p:cNvSpPr>
            <a:spLocks noGrp="1"/>
          </p:cNvSpPr>
          <p:nvPr>
            <p:ph type="dt" sz="half" idx="10"/>
          </p:nvPr>
        </p:nvSpPr>
        <p:spPr/>
        <p:txBody>
          <a:bodyPr/>
          <a:lstStyle/>
          <a:p>
            <a:fld id="{1FDCEC4E-D884-4FED-A1C2-9AF46924237E}" type="datetimeFigureOut">
              <a:rPr lang="ru-RU" smtClean="0"/>
              <a:t>29.04.2026</a:t>
            </a:fld>
            <a:endParaRPr lang="ru-RU"/>
          </a:p>
        </p:txBody>
      </p:sp>
      <p:sp>
        <p:nvSpPr>
          <p:cNvPr id="5" name="Нижний колонтитул 4">
            <a:extLst>
              <a:ext uri="{FF2B5EF4-FFF2-40B4-BE49-F238E27FC236}">
                <a16:creationId xmlns:a16="http://schemas.microsoft.com/office/drawing/2014/main" id="{817585EB-7B3C-4C8D-B720-752919B8EF70}"/>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197C96D6-9AA1-47E4-AB88-B076968EF308}"/>
              </a:ext>
            </a:extLst>
          </p:cNvPr>
          <p:cNvSpPr>
            <a:spLocks noGrp="1"/>
          </p:cNvSpPr>
          <p:nvPr>
            <p:ph type="sldNum" sz="quarter" idx="12"/>
          </p:nvPr>
        </p:nvSpPr>
        <p:spPr/>
        <p:txBody>
          <a:bodyPr/>
          <a:lstStyle/>
          <a:p>
            <a:fld id="{8AA597A5-0995-4B5E-B853-E306F9C1CCDA}" type="slidenum">
              <a:rPr lang="ru-RU" smtClean="0"/>
              <a:t>‹#›</a:t>
            </a:fld>
            <a:endParaRPr lang="ru-RU"/>
          </a:p>
        </p:txBody>
      </p:sp>
    </p:spTree>
    <p:extLst>
      <p:ext uri="{BB962C8B-B14F-4D97-AF65-F5344CB8AC3E}">
        <p14:creationId xmlns:p14="http://schemas.microsoft.com/office/powerpoint/2010/main" val="15419248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171073F-8E1B-40B9-8DCE-223D7780FD36}"/>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E9B982E5-31EC-4B72-A792-2DFA4B1E7BB2}"/>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DF5E281F-29F1-49EF-A57D-51F3D4865ACC}"/>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7149BDBC-813E-456C-873D-B77308FCF165}"/>
              </a:ext>
            </a:extLst>
          </p:cNvPr>
          <p:cNvSpPr>
            <a:spLocks noGrp="1"/>
          </p:cNvSpPr>
          <p:nvPr>
            <p:ph type="dt" sz="half" idx="10"/>
          </p:nvPr>
        </p:nvSpPr>
        <p:spPr/>
        <p:txBody>
          <a:bodyPr/>
          <a:lstStyle/>
          <a:p>
            <a:fld id="{1FDCEC4E-D884-4FED-A1C2-9AF46924237E}" type="datetimeFigureOut">
              <a:rPr lang="ru-RU" smtClean="0"/>
              <a:t>29.04.2026</a:t>
            </a:fld>
            <a:endParaRPr lang="ru-RU"/>
          </a:p>
        </p:txBody>
      </p:sp>
      <p:sp>
        <p:nvSpPr>
          <p:cNvPr id="6" name="Нижний колонтитул 5">
            <a:extLst>
              <a:ext uri="{FF2B5EF4-FFF2-40B4-BE49-F238E27FC236}">
                <a16:creationId xmlns:a16="http://schemas.microsoft.com/office/drawing/2014/main" id="{487EE954-F443-4307-AD07-8529F715646E}"/>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F2AD1309-EA5C-4A52-B219-780E56651A7C}"/>
              </a:ext>
            </a:extLst>
          </p:cNvPr>
          <p:cNvSpPr>
            <a:spLocks noGrp="1"/>
          </p:cNvSpPr>
          <p:nvPr>
            <p:ph type="sldNum" sz="quarter" idx="12"/>
          </p:nvPr>
        </p:nvSpPr>
        <p:spPr/>
        <p:txBody>
          <a:bodyPr/>
          <a:lstStyle/>
          <a:p>
            <a:fld id="{8AA597A5-0995-4B5E-B853-E306F9C1CCDA}" type="slidenum">
              <a:rPr lang="ru-RU" smtClean="0"/>
              <a:t>‹#›</a:t>
            </a:fld>
            <a:endParaRPr lang="ru-RU"/>
          </a:p>
        </p:txBody>
      </p:sp>
    </p:spTree>
    <p:extLst>
      <p:ext uri="{BB962C8B-B14F-4D97-AF65-F5344CB8AC3E}">
        <p14:creationId xmlns:p14="http://schemas.microsoft.com/office/powerpoint/2010/main" val="500840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7396F53-537C-4C98-9946-E4707223EF03}"/>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9500CDAD-146D-4872-A7CD-1243F359AD7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3B580B2E-E5AF-46E3-A3D5-D410CDCF60A2}"/>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CE6BB77E-1D31-4769-B2BA-CE272B562EF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777AD439-4878-471D-92B1-AD9F70670DEE}"/>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0D2B7CBF-D4B1-47FC-AF6E-E0595E8DB452}"/>
              </a:ext>
            </a:extLst>
          </p:cNvPr>
          <p:cNvSpPr>
            <a:spLocks noGrp="1"/>
          </p:cNvSpPr>
          <p:nvPr>
            <p:ph type="dt" sz="half" idx="10"/>
          </p:nvPr>
        </p:nvSpPr>
        <p:spPr/>
        <p:txBody>
          <a:bodyPr/>
          <a:lstStyle/>
          <a:p>
            <a:fld id="{1FDCEC4E-D884-4FED-A1C2-9AF46924237E}" type="datetimeFigureOut">
              <a:rPr lang="ru-RU" smtClean="0"/>
              <a:t>29.04.2026</a:t>
            </a:fld>
            <a:endParaRPr lang="ru-RU"/>
          </a:p>
        </p:txBody>
      </p:sp>
      <p:sp>
        <p:nvSpPr>
          <p:cNvPr id="8" name="Нижний колонтитул 7">
            <a:extLst>
              <a:ext uri="{FF2B5EF4-FFF2-40B4-BE49-F238E27FC236}">
                <a16:creationId xmlns:a16="http://schemas.microsoft.com/office/drawing/2014/main" id="{032335B2-9E7A-4130-AEC8-7D3C7DF83BBB}"/>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6D521BCB-F4A0-4F41-A7B6-F0E429D064D8}"/>
              </a:ext>
            </a:extLst>
          </p:cNvPr>
          <p:cNvSpPr>
            <a:spLocks noGrp="1"/>
          </p:cNvSpPr>
          <p:nvPr>
            <p:ph type="sldNum" sz="quarter" idx="12"/>
          </p:nvPr>
        </p:nvSpPr>
        <p:spPr/>
        <p:txBody>
          <a:bodyPr/>
          <a:lstStyle/>
          <a:p>
            <a:fld id="{8AA597A5-0995-4B5E-B853-E306F9C1CCDA}" type="slidenum">
              <a:rPr lang="ru-RU" smtClean="0"/>
              <a:t>‹#›</a:t>
            </a:fld>
            <a:endParaRPr lang="ru-RU"/>
          </a:p>
        </p:txBody>
      </p:sp>
    </p:spTree>
    <p:extLst>
      <p:ext uri="{BB962C8B-B14F-4D97-AF65-F5344CB8AC3E}">
        <p14:creationId xmlns:p14="http://schemas.microsoft.com/office/powerpoint/2010/main" val="39297556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7BD0446-1F9D-4978-B0F1-D4E32A0B3412}"/>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0A34A9C4-B227-40D2-BEFE-D77969EC8D83}"/>
              </a:ext>
            </a:extLst>
          </p:cNvPr>
          <p:cNvSpPr>
            <a:spLocks noGrp="1"/>
          </p:cNvSpPr>
          <p:nvPr>
            <p:ph type="dt" sz="half" idx="10"/>
          </p:nvPr>
        </p:nvSpPr>
        <p:spPr/>
        <p:txBody>
          <a:bodyPr/>
          <a:lstStyle/>
          <a:p>
            <a:fld id="{1FDCEC4E-D884-4FED-A1C2-9AF46924237E}" type="datetimeFigureOut">
              <a:rPr lang="ru-RU" smtClean="0"/>
              <a:t>29.04.2026</a:t>
            </a:fld>
            <a:endParaRPr lang="ru-RU"/>
          </a:p>
        </p:txBody>
      </p:sp>
      <p:sp>
        <p:nvSpPr>
          <p:cNvPr id="4" name="Нижний колонтитул 3">
            <a:extLst>
              <a:ext uri="{FF2B5EF4-FFF2-40B4-BE49-F238E27FC236}">
                <a16:creationId xmlns:a16="http://schemas.microsoft.com/office/drawing/2014/main" id="{C7A6EAA3-8275-4E52-B9C0-B98FF0F202AE}"/>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E570CE58-8877-4D9A-888B-406F065D831B}"/>
              </a:ext>
            </a:extLst>
          </p:cNvPr>
          <p:cNvSpPr>
            <a:spLocks noGrp="1"/>
          </p:cNvSpPr>
          <p:nvPr>
            <p:ph type="sldNum" sz="quarter" idx="12"/>
          </p:nvPr>
        </p:nvSpPr>
        <p:spPr/>
        <p:txBody>
          <a:bodyPr/>
          <a:lstStyle/>
          <a:p>
            <a:fld id="{8AA597A5-0995-4B5E-B853-E306F9C1CCDA}" type="slidenum">
              <a:rPr lang="ru-RU" smtClean="0"/>
              <a:t>‹#›</a:t>
            </a:fld>
            <a:endParaRPr lang="ru-RU"/>
          </a:p>
        </p:txBody>
      </p:sp>
    </p:spTree>
    <p:extLst>
      <p:ext uri="{BB962C8B-B14F-4D97-AF65-F5344CB8AC3E}">
        <p14:creationId xmlns:p14="http://schemas.microsoft.com/office/powerpoint/2010/main" val="8674535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E736EF19-1E63-4F67-9F89-14704D564249}"/>
              </a:ext>
            </a:extLst>
          </p:cNvPr>
          <p:cNvSpPr>
            <a:spLocks noGrp="1"/>
          </p:cNvSpPr>
          <p:nvPr>
            <p:ph type="dt" sz="half" idx="10"/>
          </p:nvPr>
        </p:nvSpPr>
        <p:spPr/>
        <p:txBody>
          <a:bodyPr/>
          <a:lstStyle/>
          <a:p>
            <a:fld id="{1FDCEC4E-D884-4FED-A1C2-9AF46924237E}" type="datetimeFigureOut">
              <a:rPr lang="ru-RU" smtClean="0"/>
              <a:t>29.04.2026</a:t>
            </a:fld>
            <a:endParaRPr lang="ru-RU"/>
          </a:p>
        </p:txBody>
      </p:sp>
      <p:sp>
        <p:nvSpPr>
          <p:cNvPr id="3" name="Нижний колонтитул 2">
            <a:extLst>
              <a:ext uri="{FF2B5EF4-FFF2-40B4-BE49-F238E27FC236}">
                <a16:creationId xmlns:a16="http://schemas.microsoft.com/office/drawing/2014/main" id="{96C9CA0C-A7EB-4B13-9503-4CE8BA9AE144}"/>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5762A6ED-03B1-4036-848F-AA2A185CAC72}"/>
              </a:ext>
            </a:extLst>
          </p:cNvPr>
          <p:cNvSpPr>
            <a:spLocks noGrp="1"/>
          </p:cNvSpPr>
          <p:nvPr>
            <p:ph type="sldNum" sz="quarter" idx="12"/>
          </p:nvPr>
        </p:nvSpPr>
        <p:spPr/>
        <p:txBody>
          <a:bodyPr/>
          <a:lstStyle/>
          <a:p>
            <a:fld id="{8AA597A5-0995-4B5E-B853-E306F9C1CCDA}" type="slidenum">
              <a:rPr lang="ru-RU" smtClean="0"/>
              <a:t>‹#›</a:t>
            </a:fld>
            <a:endParaRPr lang="ru-RU"/>
          </a:p>
        </p:txBody>
      </p:sp>
    </p:spTree>
    <p:extLst>
      <p:ext uri="{BB962C8B-B14F-4D97-AF65-F5344CB8AC3E}">
        <p14:creationId xmlns:p14="http://schemas.microsoft.com/office/powerpoint/2010/main" val="8874742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73710B7-073B-459A-8882-467EBDB403BB}"/>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C126DEF0-1C6E-4B08-8A71-B7B35942BAA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3A0253BE-578A-4DB5-A761-F70FCFBF3F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3600B90F-35FD-4BDA-862D-EC7B1ACCA5B0}"/>
              </a:ext>
            </a:extLst>
          </p:cNvPr>
          <p:cNvSpPr>
            <a:spLocks noGrp="1"/>
          </p:cNvSpPr>
          <p:nvPr>
            <p:ph type="dt" sz="half" idx="10"/>
          </p:nvPr>
        </p:nvSpPr>
        <p:spPr/>
        <p:txBody>
          <a:bodyPr/>
          <a:lstStyle/>
          <a:p>
            <a:fld id="{1FDCEC4E-D884-4FED-A1C2-9AF46924237E}" type="datetimeFigureOut">
              <a:rPr lang="ru-RU" smtClean="0"/>
              <a:t>29.04.2026</a:t>
            </a:fld>
            <a:endParaRPr lang="ru-RU"/>
          </a:p>
        </p:txBody>
      </p:sp>
      <p:sp>
        <p:nvSpPr>
          <p:cNvPr id="6" name="Нижний колонтитул 5">
            <a:extLst>
              <a:ext uri="{FF2B5EF4-FFF2-40B4-BE49-F238E27FC236}">
                <a16:creationId xmlns:a16="http://schemas.microsoft.com/office/drawing/2014/main" id="{D2A167ED-B8BC-4617-B18D-15FC431D43A4}"/>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7B478F3B-8A65-4CC1-87BD-19FAFFA8C1B3}"/>
              </a:ext>
            </a:extLst>
          </p:cNvPr>
          <p:cNvSpPr>
            <a:spLocks noGrp="1"/>
          </p:cNvSpPr>
          <p:nvPr>
            <p:ph type="sldNum" sz="quarter" idx="12"/>
          </p:nvPr>
        </p:nvSpPr>
        <p:spPr/>
        <p:txBody>
          <a:bodyPr/>
          <a:lstStyle/>
          <a:p>
            <a:fld id="{8AA597A5-0995-4B5E-B853-E306F9C1CCDA}" type="slidenum">
              <a:rPr lang="ru-RU" smtClean="0"/>
              <a:t>‹#›</a:t>
            </a:fld>
            <a:endParaRPr lang="ru-RU"/>
          </a:p>
        </p:txBody>
      </p:sp>
    </p:spTree>
    <p:extLst>
      <p:ext uri="{BB962C8B-B14F-4D97-AF65-F5344CB8AC3E}">
        <p14:creationId xmlns:p14="http://schemas.microsoft.com/office/powerpoint/2010/main" val="20624493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714C775-0B71-47DF-B66D-8895570B10FE}"/>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AC4E99A3-1A0A-4A92-98B1-140A875623F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9832BE0F-830F-4325-9996-4902F77E4D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BFA27074-A00A-4DF4-9862-4B37436027A4}"/>
              </a:ext>
            </a:extLst>
          </p:cNvPr>
          <p:cNvSpPr>
            <a:spLocks noGrp="1"/>
          </p:cNvSpPr>
          <p:nvPr>
            <p:ph type="dt" sz="half" idx="10"/>
          </p:nvPr>
        </p:nvSpPr>
        <p:spPr/>
        <p:txBody>
          <a:bodyPr/>
          <a:lstStyle/>
          <a:p>
            <a:fld id="{1FDCEC4E-D884-4FED-A1C2-9AF46924237E}" type="datetimeFigureOut">
              <a:rPr lang="ru-RU" smtClean="0"/>
              <a:t>29.04.2026</a:t>
            </a:fld>
            <a:endParaRPr lang="ru-RU"/>
          </a:p>
        </p:txBody>
      </p:sp>
      <p:sp>
        <p:nvSpPr>
          <p:cNvPr id="6" name="Нижний колонтитул 5">
            <a:extLst>
              <a:ext uri="{FF2B5EF4-FFF2-40B4-BE49-F238E27FC236}">
                <a16:creationId xmlns:a16="http://schemas.microsoft.com/office/drawing/2014/main" id="{B8134A09-739E-49BC-A61A-0D67DCE6259B}"/>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BB27000F-BBF2-4444-8ED0-3CAFEEC00F83}"/>
              </a:ext>
            </a:extLst>
          </p:cNvPr>
          <p:cNvSpPr>
            <a:spLocks noGrp="1"/>
          </p:cNvSpPr>
          <p:nvPr>
            <p:ph type="sldNum" sz="quarter" idx="12"/>
          </p:nvPr>
        </p:nvSpPr>
        <p:spPr/>
        <p:txBody>
          <a:bodyPr/>
          <a:lstStyle/>
          <a:p>
            <a:fld id="{8AA597A5-0995-4B5E-B853-E306F9C1CCDA}" type="slidenum">
              <a:rPr lang="ru-RU" smtClean="0"/>
              <a:t>‹#›</a:t>
            </a:fld>
            <a:endParaRPr lang="ru-RU"/>
          </a:p>
        </p:txBody>
      </p:sp>
    </p:spTree>
    <p:extLst>
      <p:ext uri="{BB962C8B-B14F-4D97-AF65-F5344CB8AC3E}">
        <p14:creationId xmlns:p14="http://schemas.microsoft.com/office/powerpoint/2010/main" val="4188462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C16B956-D3E6-4D99-A00D-CBE0186518AC}"/>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AB9C322B-9D9B-4FC4-87EF-45185F8E3EA8}"/>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A32AA392-8DEB-407A-9E9A-06590E008BF9}"/>
              </a:ext>
            </a:extLst>
          </p:cNvPr>
          <p:cNvSpPr>
            <a:spLocks noGrp="1"/>
          </p:cNvSpPr>
          <p:nvPr>
            <p:ph type="dt" sz="half" idx="10"/>
          </p:nvPr>
        </p:nvSpPr>
        <p:spPr/>
        <p:txBody>
          <a:bodyPr/>
          <a:lstStyle/>
          <a:p>
            <a:fld id="{1FDCEC4E-D884-4FED-A1C2-9AF46924237E}" type="datetimeFigureOut">
              <a:rPr lang="ru-RU" smtClean="0"/>
              <a:t>29.04.2026</a:t>
            </a:fld>
            <a:endParaRPr lang="ru-RU"/>
          </a:p>
        </p:txBody>
      </p:sp>
      <p:sp>
        <p:nvSpPr>
          <p:cNvPr id="5" name="Нижний колонтитул 4">
            <a:extLst>
              <a:ext uri="{FF2B5EF4-FFF2-40B4-BE49-F238E27FC236}">
                <a16:creationId xmlns:a16="http://schemas.microsoft.com/office/drawing/2014/main" id="{412D111D-1FF4-49F1-B0AC-C8A57A51D431}"/>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29E96348-6AC5-4A27-A292-1164ED502858}"/>
              </a:ext>
            </a:extLst>
          </p:cNvPr>
          <p:cNvSpPr>
            <a:spLocks noGrp="1"/>
          </p:cNvSpPr>
          <p:nvPr>
            <p:ph type="sldNum" sz="quarter" idx="12"/>
          </p:nvPr>
        </p:nvSpPr>
        <p:spPr/>
        <p:txBody>
          <a:bodyPr/>
          <a:lstStyle/>
          <a:p>
            <a:fld id="{8AA597A5-0995-4B5E-B853-E306F9C1CCDA}" type="slidenum">
              <a:rPr lang="ru-RU" smtClean="0"/>
              <a:t>‹#›</a:t>
            </a:fld>
            <a:endParaRPr lang="ru-RU"/>
          </a:p>
        </p:txBody>
      </p:sp>
    </p:spTree>
    <p:extLst>
      <p:ext uri="{BB962C8B-B14F-4D97-AF65-F5344CB8AC3E}">
        <p14:creationId xmlns:p14="http://schemas.microsoft.com/office/powerpoint/2010/main" val="13646833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BC6E49D5-3899-4D81-9F9D-06471D17221A}"/>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9D7E2687-CBE2-49EA-B601-0B5BF278EC6C}"/>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1AA05A53-B31C-4FC6-AB1D-1CF1E3CD4493}"/>
              </a:ext>
            </a:extLst>
          </p:cNvPr>
          <p:cNvSpPr>
            <a:spLocks noGrp="1"/>
          </p:cNvSpPr>
          <p:nvPr>
            <p:ph type="dt" sz="half" idx="10"/>
          </p:nvPr>
        </p:nvSpPr>
        <p:spPr/>
        <p:txBody>
          <a:bodyPr/>
          <a:lstStyle/>
          <a:p>
            <a:fld id="{1FDCEC4E-D884-4FED-A1C2-9AF46924237E}" type="datetimeFigureOut">
              <a:rPr lang="ru-RU" smtClean="0"/>
              <a:t>29.04.2026</a:t>
            </a:fld>
            <a:endParaRPr lang="ru-RU"/>
          </a:p>
        </p:txBody>
      </p:sp>
      <p:sp>
        <p:nvSpPr>
          <p:cNvPr id="5" name="Нижний колонтитул 4">
            <a:extLst>
              <a:ext uri="{FF2B5EF4-FFF2-40B4-BE49-F238E27FC236}">
                <a16:creationId xmlns:a16="http://schemas.microsoft.com/office/drawing/2014/main" id="{F5F598D1-DA41-4CA5-AD54-0009129B4442}"/>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08A5358B-409F-437D-96F6-EE03240C2E71}"/>
              </a:ext>
            </a:extLst>
          </p:cNvPr>
          <p:cNvSpPr>
            <a:spLocks noGrp="1"/>
          </p:cNvSpPr>
          <p:nvPr>
            <p:ph type="sldNum" sz="quarter" idx="12"/>
          </p:nvPr>
        </p:nvSpPr>
        <p:spPr/>
        <p:txBody>
          <a:bodyPr/>
          <a:lstStyle/>
          <a:p>
            <a:fld id="{8AA597A5-0995-4B5E-B853-E306F9C1CCDA}" type="slidenum">
              <a:rPr lang="ru-RU" smtClean="0"/>
              <a:t>‹#›</a:t>
            </a:fld>
            <a:endParaRPr lang="ru-RU"/>
          </a:p>
        </p:txBody>
      </p:sp>
    </p:spTree>
    <p:extLst>
      <p:ext uri="{BB962C8B-B14F-4D97-AF65-F5344CB8AC3E}">
        <p14:creationId xmlns:p14="http://schemas.microsoft.com/office/powerpoint/2010/main" val="33124708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ADBCF38-CFF7-42B4-B60B-D2E676604F6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A4BC23DC-9AC4-4111-A8EE-501C35F8602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83C8368A-E9FD-46E7-A6E3-16FB7C96790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FDCEC4E-D884-4FED-A1C2-9AF46924237E}" type="datetimeFigureOut">
              <a:rPr lang="ru-RU" smtClean="0"/>
              <a:t>29.04.2026</a:t>
            </a:fld>
            <a:endParaRPr lang="ru-RU"/>
          </a:p>
        </p:txBody>
      </p:sp>
      <p:sp>
        <p:nvSpPr>
          <p:cNvPr id="5" name="Нижний колонтитул 4">
            <a:extLst>
              <a:ext uri="{FF2B5EF4-FFF2-40B4-BE49-F238E27FC236}">
                <a16:creationId xmlns:a16="http://schemas.microsoft.com/office/drawing/2014/main" id="{E5571BA8-0B13-4981-919A-6548824FA80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a:extLst>
              <a:ext uri="{FF2B5EF4-FFF2-40B4-BE49-F238E27FC236}">
                <a16:creationId xmlns:a16="http://schemas.microsoft.com/office/drawing/2014/main" id="{771B3BE9-FF50-44CC-8871-38FC211B65A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A597A5-0995-4B5E-B853-E306F9C1CCDA}" type="slidenum">
              <a:rPr lang="ru-RU" smtClean="0"/>
              <a:t>‹#›</a:t>
            </a:fld>
            <a:endParaRPr lang="ru-RU"/>
          </a:p>
        </p:txBody>
      </p:sp>
    </p:spTree>
    <p:extLst>
      <p:ext uri="{BB962C8B-B14F-4D97-AF65-F5344CB8AC3E}">
        <p14:creationId xmlns:p14="http://schemas.microsoft.com/office/powerpoint/2010/main" val="14235723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 Id="rId5" Type="http://schemas.openxmlformats.org/officeDocument/2006/relationships/image" Target="../media/image27.png"/><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hyperlink" Target="https://github.com/egorbeckish/Masters-program/blob/main/1.%20First%20Course/Semester%202/%D0%90%D0%BB%D0%B3%D0%B5%D0%B1%D1%80%D0%B0%D0%B8%D1%87%D0%B5%D1%81%D0%BA%D0%B8%D0%B5%20%D0%BC%D0%B5%D1%82%D0%BE%D0%B4%D1%8B%20%D0%B0%D0%BD%D0%B0%D0%BB%D0%B8%D0%B7%D0%B0%20%D0%B4%D0%B0%D0%BD%D0%BD%D1%8B%D1%85/%D0%BA%D1%83%D1%80%D1%81%D0%BE%D0%B2%D0%B0%D1%8F/main.ipynb"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Рисунок 5">
            <a:extLst>
              <a:ext uri="{FF2B5EF4-FFF2-40B4-BE49-F238E27FC236}">
                <a16:creationId xmlns:a16="http://schemas.microsoft.com/office/drawing/2014/main" id="{437A29E3-3D77-42A0-A6A4-2A391E8BA5A3}"/>
              </a:ext>
            </a:extLst>
          </p:cNvPr>
          <p:cNvPicPr>
            <a:picLocks noChangeAspect="1"/>
          </p:cNvPicPr>
          <p:nvPr/>
        </p:nvPicPr>
        <p:blipFill>
          <a:blip r:embed="rId2"/>
          <a:stretch>
            <a:fillRect/>
          </a:stretch>
        </p:blipFill>
        <p:spPr>
          <a:xfrm>
            <a:off x="0" y="0"/>
            <a:ext cx="3343275" cy="1866391"/>
          </a:xfrm>
          <a:prstGeom prst="rect">
            <a:avLst/>
          </a:prstGeom>
        </p:spPr>
      </p:pic>
      <p:sp>
        <p:nvSpPr>
          <p:cNvPr id="2" name="Заголовок 1">
            <a:extLst>
              <a:ext uri="{FF2B5EF4-FFF2-40B4-BE49-F238E27FC236}">
                <a16:creationId xmlns:a16="http://schemas.microsoft.com/office/drawing/2014/main" id="{630FD50F-F427-4227-BA61-1469DA592B3F}"/>
              </a:ext>
            </a:extLst>
          </p:cNvPr>
          <p:cNvSpPr>
            <a:spLocks noGrp="1"/>
          </p:cNvSpPr>
          <p:nvPr>
            <p:ph type="ctrTitle"/>
          </p:nvPr>
        </p:nvSpPr>
        <p:spPr>
          <a:xfrm>
            <a:off x="3267074" y="-14839"/>
            <a:ext cx="8991601" cy="1747839"/>
          </a:xfrm>
        </p:spPr>
        <p:txBody>
          <a:bodyPr>
            <a:normAutofit/>
          </a:bodyPr>
          <a:lstStyle/>
          <a:p>
            <a:pPr>
              <a:lnSpc>
                <a:spcPct val="107000"/>
              </a:lnSpc>
              <a:spcAft>
                <a:spcPts val="800"/>
              </a:spcAft>
            </a:pPr>
            <a:r>
              <a:rPr lang="ru-RU" sz="1800" b="1" dirty="0">
                <a:latin typeface="Times New Roman" panose="02020603050405020304" pitchFamily="18" charset="0"/>
                <a:ea typeface="Times New Roman" panose="02020603050405020304" pitchFamily="18" charset="0"/>
                <a:cs typeface="Times New Roman" panose="02020603050405020304" pitchFamily="18" charset="0"/>
              </a:rPr>
              <a:t>Министерство науки и высшего образования Российской Федерации</a:t>
            </a:r>
            <a:br>
              <a:rPr lang="ru-RU" sz="1800" b="1" dirty="0">
                <a:latin typeface="Times New Roman" panose="02020603050405020304" pitchFamily="18" charset="0"/>
                <a:ea typeface="Calibri" panose="020F0502020204030204" pitchFamily="34" charset="0"/>
                <a:cs typeface="Times New Roman" panose="02020603050405020304" pitchFamily="18" charset="0"/>
              </a:rPr>
            </a:br>
            <a:r>
              <a:rPr lang="ru-RU" sz="1800" b="1" dirty="0">
                <a:latin typeface="Times New Roman" panose="02020603050405020304" pitchFamily="18" charset="0"/>
                <a:ea typeface="Times New Roman" panose="02020603050405020304" pitchFamily="18" charset="0"/>
                <a:cs typeface="Times New Roman" panose="02020603050405020304" pitchFamily="18" charset="0"/>
              </a:rPr>
              <a:t>федеральное государственное бюджетное образовательное учреждение </a:t>
            </a:r>
            <a:br>
              <a:rPr lang="ru-RU" sz="1800" b="1" dirty="0">
                <a:latin typeface="Times New Roman" panose="02020603050405020304" pitchFamily="18" charset="0"/>
                <a:ea typeface="Times New Roman" panose="02020603050405020304" pitchFamily="18" charset="0"/>
                <a:cs typeface="Times New Roman" panose="02020603050405020304" pitchFamily="18" charset="0"/>
              </a:rPr>
            </a:br>
            <a:r>
              <a:rPr lang="ru-RU" sz="1800" b="1" dirty="0">
                <a:latin typeface="Times New Roman" panose="02020603050405020304" pitchFamily="18" charset="0"/>
                <a:ea typeface="Times New Roman" panose="02020603050405020304" pitchFamily="18" charset="0"/>
                <a:cs typeface="Times New Roman" panose="02020603050405020304" pitchFamily="18" charset="0"/>
              </a:rPr>
              <a:t>высшего образования</a:t>
            </a:r>
            <a:br>
              <a:rPr lang="ru-RU" sz="1800" b="1" dirty="0">
                <a:latin typeface="Times New Roman" panose="02020603050405020304" pitchFamily="18" charset="0"/>
                <a:ea typeface="Calibri" panose="020F0502020204030204" pitchFamily="34" charset="0"/>
                <a:cs typeface="Times New Roman" panose="02020603050405020304" pitchFamily="18" charset="0"/>
              </a:rPr>
            </a:br>
            <a:r>
              <a:rPr lang="ru-RU" sz="1800" b="1" dirty="0">
                <a:latin typeface="Times New Roman" panose="02020603050405020304" pitchFamily="18" charset="0"/>
                <a:ea typeface="Times New Roman" panose="02020603050405020304" pitchFamily="18" charset="0"/>
                <a:cs typeface="Times New Roman" panose="02020603050405020304" pitchFamily="18" charset="0"/>
              </a:rPr>
              <a:t>«Самарский государственный технический университет»</a:t>
            </a:r>
            <a:br>
              <a:rPr lang="ru-RU" sz="1800" b="1" dirty="0">
                <a:latin typeface="Times New Roman" panose="02020603050405020304" pitchFamily="18" charset="0"/>
                <a:ea typeface="Times New Roman" panose="02020603050405020304" pitchFamily="18" charset="0"/>
                <a:cs typeface="Times New Roman" panose="02020603050405020304" pitchFamily="18" charset="0"/>
              </a:rPr>
            </a:br>
            <a:r>
              <a:rPr lang="ru-RU" sz="1800" b="1" dirty="0">
                <a:latin typeface="Times New Roman" panose="02020603050405020304" pitchFamily="18" charset="0"/>
                <a:ea typeface="Times New Roman" panose="02020603050405020304" pitchFamily="18" charset="0"/>
                <a:cs typeface="Times New Roman" panose="02020603050405020304" pitchFamily="18" charset="0"/>
              </a:rPr>
              <a:t>(ФГБОУ ВО «</a:t>
            </a:r>
            <a:r>
              <a:rPr lang="ru-RU" sz="1800" b="1" dirty="0" err="1">
                <a:latin typeface="Times New Roman" panose="02020603050405020304" pitchFamily="18" charset="0"/>
                <a:ea typeface="Times New Roman" panose="02020603050405020304" pitchFamily="18" charset="0"/>
                <a:cs typeface="Times New Roman" panose="02020603050405020304" pitchFamily="18" charset="0"/>
              </a:rPr>
              <a:t>СамГТУ</a:t>
            </a:r>
            <a:r>
              <a:rPr lang="ru-RU" sz="1800" b="1" dirty="0">
                <a:latin typeface="Times New Roman" panose="02020603050405020304" pitchFamily="18" charset="0"/>
                <a:ea typeface="Times New Roman" panose="02020603050405020304" pitchFamily="18" charset="0"/>
                <a:cs typeface="Times New Roman" panose="02020603050405020304" pitchFamily="18" charset="0"/>
              </a:rPr>
              <a:t>»)</a:t>
            </a:r>
            <a:endParaRPr lang="ru-RU" sz="1800" b="1" dirty="0">
              <a:latin typeface="Times New Roman" panose="02020603050405020304" pitchFamily="18" charset="0"/>
              <a:cs typeface="Times New Roman" panose="02020603050405020304" pitchFamily="18" charset="0"/>
            </a:endParaRPr>
          </a:p>
        </p:txBody>
      </p:sp>
      <p:sp>
        <p:nvSpPr>
          <p:cNvPr id="3" name="Подзаголовок 2">
            <a:extLst>
              <a:ext uri="{FF2B5EF4-FFF2-40B4-BE49-F238E27FC236}">
                <a16:creationId xmlns:a16="http://schemas.microsoft.com/office/drawing/2014/main" id="{3553E7E6-51AF-41AF-AA9A-51034BA05C79}"/>
              </a:ext>
            </a:extLst>
          </p:cNvPr>
          <p:cNvSpPr>
            <a:spLocks noGrp="1"/>
          </p:cNvSpPr>
          <p:nvPr>
            <p:ph type="subTitle" idx="1"/>
          </p:nvPr>
        </p:nvSpPr>
        <p:spPr>
          <a:xfrm>
            <a:off x="6734174" y="5703273"/>
            <a:ext cx="5457826" cy="1154727"/>
          </a:xfrm>
        </p:spPr>
        <p:txBody>
          <a:bodyPr>
            <a:noAutofit/>
          </a:bodyPr>
          <a:lstStyle/>
          <a:p>
            <a:pPr algn="r"/>
            <a:r>
              <a:rPr lang="ru-RU" sz="1600" b="1" dirty="0">
                <a:latin typeface="Times New Roman" panose="02020603050405020304" pitchFamily="18" charset="0"/>
                <a:cs typeface="Times New Roman" panose="02020603050405020304" pitchFamily="18" charset="0"/>
              </a:rPr>
              <a:t>Студент</a:t>
            </a:r>
            <a:r>
              <a:rPr lang="en-US" sz="1600" b="1" dirty="0">
                <a:latin typeface="Times New Roman" panose="02020603050405020304" pitchFamily="18" charset="0"/>
                <a:cs typeface="Times New Roman" panose="02020603050405020304" pitchFamily="18" charset="0"/>
              </a:rPr>
              <a:t>: </a:t>
            </a:r>
            <a:r>
              <a:rPr lang="ru-RU" sz="1600" b="1" dirty="0">
                <a:latin typeface="Times New Roman" panose="02020603050405020304" pitchFamily="18" charset="0"/>
                <a:cs typeface="Times New Roman" panose="02020603050405020304" pitchFamily="18" charset="0"/>
              </a:rPr>
              <a:t>Бекиш Егор Павлович</a:t>
            </a:r>
            <a:endParaRPr lang="en-US" sz="1600" b="1" dirty="0">
              <a:latin typeface="Times New Roman" panose="02020603050405020304" pitchFamily="18" charset="0"/>
              <a:cs typeface="Times New Roman" panose="02020603050405020304" pitchFamily="18" charset="0"/>
            </a:endParaRPr>
          </a:p>
          <a:p>
            <a:pPr algn="r"/>
            <a:r>
              <a:rPr lang="ru-RU" sz="1600" b="1" dirty="0">
                <a:latin typeface="Times New Roman" panose="02020603050405020304" pitchFamily="18" charset="0"/>
                <a:cs typeface="Times New Roman" panose="02020603050405020304" pitchFamily="18" charset="0"/>
              </a:rPr>
              <a:t>Группа</a:t>
            </a:r>
            <a:r>
              <a:rPr lang="en-US" sz="1600" b="1" dirty="0">
                <a:latin typeface="Times New Roman" panose="02020603050405020304" pitchFamily="18" charset="0"/>
                <a:cs typeface="Times New Roman" panose="02020603050405020304" pitchFamily="18" charset="0"/>
              </a:rPr>
              <a:t>: </a:t>
            </a:r>
            <a:r>
              <a:rPr lang="ru-RU" sz="1600" b="1" dirty="0">
                <a:solidFill>
                  <a:srgbClr val="212529"/>
                </a:solidFill>
                <a:latin typeface="Times New Roman" panose="02020603050405020304" pitchFamily="18" charset="0"/>
                <a:cs typeface="Times New Roman" panose="02020603050405020304" pitchFamily="18" charset="0"/>
              </a:rPr>
              <a:t>1-ИИЭиГО-25ИАИТ-113М</a:t>
            </a:r>
            <a:endParaRPr lang="en-US" sz="1600" b="1" dirty="0">
              <a:solidFill>
                <a:srgbClr val="212529"/>
              </a:solidFill>
              <a:latin typeface="Times New Roman" panose="02020603050405020304" pitchFamily="18" charset="0"/>
              <a:cs typeface="Times New Roman" panose="02020603050405020304" pitchFamily="18" charset="0"/>
            </a:endParaRPr>
          </a:p>
          <a:p>
            <a:pPr algn="r"/>
            <a:r>
              <a:rPr lang="ru-RU" sz="1600" b="1" dirty="0">
                <a:solidFill>
                  <a:srgbClr val="212529"/>
                </a:solidFill>
                <a:latin typeface="Times New Roman" panose="02020603050405020304" pitchFamily="18" charset="0"/>
                <a:cs typeface="Times New Roman" panose="02020603050405020304" pitchFamily="18" charset="0"/>
              </a:rPr>
              <a:t>Преподаватель</a:t>
            </a:r>
            <a:r>
              <a:rPr lang="en-US" sz="1600" b="1" dirty="0">
                <a:solidFill>
                  <a:srgbClr val="212529"/>
                </a:solidFill>
                <a:latin typeface="Times New Roman" panose="02020603050405020304" pitchFamily="18" charset="0"/>
                <a:cs typeface="Times New Roman" panose="02020603050405020304" pitchFamily="18" charset="0"/>
              </a:rPr>
              <a:t>: </a:t>
            </a:r>
            <a:r>
              <a:rPr lang="ru-RU" sz="1600" b="1" dirty="0">
                <a:solidFill>
                  <a:srgbClr val="212529"/>
                </a:solidFill>
                <a:latin typeface="Times New Roman" panose="02020603050405020304" pitchFamily="18" charset="0"/>
                <a:cs typeface="Times New Roman" panose="02020603050405020304" pitchFamily="18" charset="0"/>
              </a:rPr>
              <a:t>Фадеева Оксана Владиславовна</a:t>
            </a:r>
            <a:endParaRPr lang="ru-RU" sz="16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5F87980F-0555-4DCA-BEFA-BA2D244E1193}"/>
              </a:ext>
            </a:extLst>
          </p:cNvPr>
          <p:cNvSpPr txBox="1"/>
          <p:nvPr/>
        </p:nvSpPr>
        <p:spPr>
          <a:xfrm>
            <a:off x="1283491" y="2636633"/>
            <a:ext cx="9625013" cy="1110689"/>
          </a:xfrm>
          <a:prstGeom prst="rect">
            <a:avLst/>
          </a:prstGeom>
          <a:noFill/>
        </p:spPr>
        <p:txBody>
          <a:bodyPr wrap="square" rtlCol="0">
            <a:spAutoFit/>
          </a:bodyPr>
          <a:lstStyle/>
          <a:p>
            <a:pPr algn="ctr">
              <a:lnSpc>
                <a:spcPct val="107000"/>
              </a:lnSpc>
              <a:spcAft>
                <a:spcPts val="800"/>
              </a:spcAft>
              <a:tabLst>
                <a:tab pos="3060700" algn="ctr"/>
                <a:tab pos="5940425" algn="ctr"/>
              </a:tabLst>
            </a:pPr>
            <a:r>
              <a:rPr lang="ru-RU" sz="3200" b="1" dirty="0">
                <a:effectLst/>
                <a:latin typeface="Times New Roman" panose="02020603050405020304" pitchFamily="18" charset="0"/>
                <a:ea typeface="Calibri" panose="020F0502020204030204" pitchFamily="34" charset="0"/>
                <a:cs typeface="Times New Roman" panose="02020603050405020304" pitchFamily="18" charset="0"/>
              </a:rPr>
              <a:t>Оценка влияния выбора начального приближения</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ru-RU" sz="3200" b="1" dirty="0">
                <a:effectLst/>
                <a:latin typeface="Times New Roman" panose="02020603050405020304" pitchFamily="18" charset="0"/>
                <a:ea typeface="Calibri" panose="020F0502020204030204" pitchFamily="34" charset="0"/>
                <a:cs typeface="Times New Roman" panose="02020603050405020304" pitchFamily="18" charset="0"/>
              </a:rPr>
              <a:t>сингулярного разложения</a:t>
            </a:r>
            <a:endParaRPr lang="ru-RU" sz="3200" b="1"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49AF227B-92AC-4DA4-9971-6DB88A2225BF}"/>
              </a:ext>
            </a:extLst>
          </p:cNvPr>
          <p:cNvSpPr txBox="1"/>
          <p:nvPr/>
        </p:nvSpPr>
        <p:spPr>
          <a:xfrm>
            <a:off x="5258116" y="6488668"/>
            <a:ext cx="1675761" cy="369332"/>
          </a:xfrm>
          <a:prstGeom prst="rect">
            <a:avLst/>
          </a:prstGeom>
          <a:noFill/>
        </p:spPr>
        <p:txBody>
          <a:bodyPr wrap="square" rtlCol="0">
            <a:spAutoFit/>
          </a:bodyPr>
          <a:lstStyle/>
          <a:p>
            <a:r>
              <a:rPr lang="ru-RU" dirty="0">
                <a:latin typeface="Times New Roman" panose="02020603050405020304" pitchFamily="18" charset="0"/>
                <a:cs typeface="Times New Roman" panose="02020603050405020304" pitchFamily="18" charset="0"/>
              </a:rPr>
              <a:t>Самара, 2026 г.</a:t>
            </a:r>
          </a:p>
        </p:txBody>
      </p:sp>
    </p:spTree>
    <p:extLst>
      <p:ext uri="{BB962C8B-B14F-4D97-AF65-F5344CB8AC3E}">
        <p14:creationId xmlns:p14="http://schemas.microsoft.com/office/powerpoint/2010/main" val="20574154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8DFE038-147D-45BF-924E-610297DA866F}"/>
              </a:ext>
            </a:extLst>
          </p:cNvPr>
          <p:cNvSpPr>
            <a:spLocks noGrp="1"/>
          </p:cNvSpPr>
          <p:nvPr>
            <p:ph type="title"/>
          </p:nvPr>
        </p:nvSpPr>
        <p:spPr>
          <a:xfrm>
            <a:off x="285749" y="307976"/>
            <a:ext cx="1933575" cy="444500"/>
          </a:xfrm>
        </p:spPr>
        <p:txBody>
          <a:bodyPr>
            <a:noAutofit/>
          </a:bodyPr>
          <a:lstStyle/>
          <a:p>
            <a:pPr algn="just"/>
            <a:r>
              <a:rPr lang="ru-RU" sz="3200" b="1" dirty="0">
                <a:latin typeface="Times New Roman" panose="02020603050405020304" pitchFamily="18" charset="0"/>
                <a:cs typeface="Times New Roman" panose="02020603050405020304" pitchFamily="18" charset="0"/>
              </a:rPr>
              <a:t>Введение</a:t>
            </a:r>
          </a:p>
        </p:txBody>
      </p:sp>
      <p:sp>
        <p:nvSpPr>
          <p:cNvPr id="4" name="TextBox 3">
            <a:extLst>
              <a:ext uri="{FF2B5EF4-FFF2-40B4-BE49-F238E27FC236}">
                <a16:creationId xmlns:a16="http://schemas.microsoft.com/office/drawing/2014/main" id="{FD4AF82C-EFA2-4B33-8AF1-AA7121FB60CE}"/>
              </a:ext>
            </a:extLst>
          </p:cNvPr>
          <p:cNvSpPr txBox="1"/>
          <p:nvPr/>
        </p:nvSpPr>
        <p:spPr>
          <a:xfrm>
            <a:off x="514350" y="904786"/>
            <a:ext cx="11239500" cy="1282274"/>
          </a:xfrm>
          <a:prstGeom prst="rect">
            <a:avLst/>
          </a:prstGeom>
          <a:noFill/>
        </p:spPr>
        <p:txBody>
          <a:bodyPr wrap="square">
            <a:spAutoFit/>
          </a:bodyPr>
          <a:lstStyle/>
          <a:p>
            <a:pPr algn="just">
              <a:lnSpc>
                <a:spcPct val="120000"/>
              </a:lnSpc>
            </a:pPr>
            <a:r>
              <a:rPr lang="ru-RU" sz="2200" dirty="0">
                <a:effectLst/>
                <a:latin typeface="Times New Roman" panose="02020603050405020304" pitchFamily="18" charset="0"/>
                <a:ea typeface="Calibri" panose="020F0502020204030204" pitchFamily="34" charset="0"/>
              </a:rPr>
              <a:t>	Сингулярное разложение (</a:t>
            </a:r>
            <a:r>
              <a:rPr lang="en-US" sz="2200" dirty="0">
                <a:effectLst/>
                <a:latin typeface="Times New Roman" panose="02020603050405020304" pitchFamily="18" charset="0"/>
                <a:ea typeface="Calibri" panose="020F0502020204030204" pitchFamily="34" charset="0"/>
              </a:rPr>
              <a:t>SVD</a:t>
            </a:r>
            <a:r>
              <a:rPr lang="ru-RU" sz="2200" dirty="0">
                <a:effectLst/>
                <a:latin typeface="Times New Roman" panose="02020603050405020304" pitchFamily="18" charset="0"/>
                <a:ea typeface="Calibri" panose="020F0502020204030204" pitchFamily="34" charset="0"/>
              </a:rPr>
              <a:t>) – один из важных методов в математика, который широко используется в прикладных задачах, таких как: компьютерное зрение, обработка изображений, обработка данных и т.п.</a:t>
            </a:r>
            <a:endParaRPr lang="ru-RU" sz="2200" dirty="0"/>
          </a:p>
        </p:txBody>
      </p:sp>
      <p:sp>
        <p:nvSpPr>
          <p:cNvPr id="6" name="TextBox 5">
            <a:extLst>
              <a:ext uri="{FF2B5EF4-FFF2-40B4-BE49-F238E27FC236}">
                <a16:creationId xmlns:a16="http://schemas.microsoft.com/office/drawing/2014/main" id="{F01E09F9-F451-4853-8BCA-2DFD099562CF}"/>
              </a:ext>
            </a:extLst>
          </p:cNvPr>
          <p:cNvSpPr txBox="1"/>
          <p:nvPr/>
        </p:nvSpPr>
        <p:spPr>
          <a:xfrm>
            <a:off x="514350" y="2165092"/>
            <a:ext cx="11239500" cy="3713324"/>
          </a:xfrm>
          <a:prstGeom prst="rect">
            <a:avLst/>
          </a:prstGeom>
          <a:noFill/>
        </p:spPr>
        <p:txBody>
          <a:bodyPr wrap="square">
            <a:spAutoFit/>
          </a:bodyPr>
          <a:lstStyle/>
          <a:p>
            <a:pPr algn="just">
              <a:lnSpc>
                <a:spcPct val="120000"/>
              </a:lnSpc>
            </a:pPr>
            <a:r>
              <a:rPr lang="ru-RU" sz="2200" dirty="0">
                <a:effectLst/>
                <a:latin typeface="Times New Roman" panose="02020603050405020304" pitchFamily="18" charset="0"/>
                <a:ea typeface="Calibri" panose="020F0502020204030204" pitchFamily="34" charset="0"/>
              </a:rPr>
              <a:t>	Сам по себе метод, с точки зрения расчета, не имеет никаких сложностей, но для решение вышеописанных задач, для которых необходима ЭВМ, возникают определенные параметры и критерии оценивания алгоритма. В частности – начальное приближение при решении СЛАУ при расчетах матриц, которые используется для разложения. Для этого существуют численные методы, которые предлагают алгоритмы для итеративных методов вычисления </a:t>
            </a:r>
            <a:r>
              <a:rPr lang="en-US" sz="2200" dirty="0">
                <a:effectLst/>
                <a:latin typeface="Times New Roman" panose="02020603050405020304" pitchFamily="18" charset="0"/>
                <a:ea typeface="Calibri" panose="020F0502020204030204" pitchFamily="34" charset="0"/>
              </a:rPr>
              <a:t>SVD</a:t>
            </a:r>
            <a:r>
              <a:rPr lang="ru-RU" sz="2200" dirty="0">
                <a:effectLst/>
                <a:latin typeface="Times New Roman" panose="02020603050405020304" pitchFamily="18" charset="0"/>
                <a:ea typeface="Calibri" panose="020F0502020204030204" pitchFamily="34" charset="0"/>
              </a:rPr>
              <a:t>, такие как:</a:t>
            </a:r>
          </a:p>
          <a:p>
            <a:pPr marL="900000" indent="360000" algn="just">
              <a:lnSpc>
                <a:spcPct val="120000"/>
              </a:lnSpc>
              <a:buFont typeface="Arial" panose="020B0604020202020204" pitchFamily="34" charset="0"/>
              <a:buChar char="•"/>
            </a:pPr>
            <a:r>
              <a:rPr lang="ru-RU" sz="2200" dirty="0">
                <a:latin typeface="Times New Roman" panose="02020603050405020304" pitchFamily="18" charset="0"/>
                <a:cs typeface="Times New Roman" panose="02020603050405020304" pitchFamily="18" charset="0"/>
              </a:rPr>
              <a:t>Прямые</a:t>
            </a:r>
          </a:p>
          <a:p>
            <a:pPr marL="900000" indent="360000" algn="just">
              <a:lnSpc>
                <a:spcPct val="120000"/>
              </a:lnSpc>
              <a:buFont typeface="Arial" panose="020B0604020202020204" pitchFamily="34" charset="0"/>
              <a:buChar char="•"/>
            </a:pPr>
            <a:r>
              <a:rPr lang="ru-RU" sz="2200" dirty="0">
                <a:latin typeface="Times New Roman" panose="02020603050405020304" pitchFamily="18" charset="0"/>
                <a:cs typeface="Times New Roman" panose="02020603050405020304" pitchFamily="18" charset="0"/>
              </a:rPr>
              <a:t>Степенные</a:t>
            </a:r>
          </a:p>
          <a:p>
            <a:pPr marL="900000" indent="360000" algn="just">
              <a:lnSpc>
                <a:spcPct val="120000"/>
              </a:lnSpc>
              <a:buFont typeface="Arial" panose="020B0604020202020204" pitchFamily="34" charset="0"/>
              <a:buChar char="•"/>
            </a:pPr>
            <a:r>
              <a:rPr lang="ru-RU" sz="2200" dirty="0">
                <a:latin typeface="Times New Roman" panose="02020603050405020304" pitchFamily="18" charset="0"/>
                <a:cs typeface="Times New Roman" panose="02020603050405020304" pitchFamily="18" charset="0"/>
              </a:rPr>
              <a:t>Рандомизированные</a:t>
            </a:r>
          </a:p>
        </p:txBody>
      </p:sp>
      <p:sp>
        <p:nvSpPr>
          <p:cNvPr id="7" name="Блок-схема: узел 6">
            <a:extLst>
              <a:ext uri="{FF2B5EF4-FFF2-40B4-BE49-F238E27FC236}">
                <a16:creationId xmlns:a16="http://schemas.microsoft.com/office/drawing/2014/main" id="{A2BBABD6-AB7B-40F3-A7CC-D9EC800523D1}"/>
              </a:ext>
            </a:extLst>
          </p:cNvPr>
          <p:cNvSpPr/>
          <p:nvPr/>
        </p:nvSpPr>
        <p:spPr>
          <a:xfrm>
            <a:off x="11393850" y="6067424"/>
            <a:ext cx="720000" cy="720000"/>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1</a:t>
            </a:r>
            <a:endParaRPr lang="ru-RU"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057817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1">
            <a:extLst>
              <a:ext uri="{FF2B5EF4-FFF2-40B4-BE49-F238E27FC236}">
                <a16:creationId xmlns:a16="http://schemas.microsoft.com/office/drawing/2014/main" id="{6400D9A0-B58A-4123-A2D8-078CD5EBE4AB}"/>
              </a:ext>
            </a:extLst>
          </p:cNvPr>
          <p:cNvSpPr txBox="1">
            <a:spLocks/>
          </p:cNvSpPr>
          <p:nvPr/>
        </p:nvSpPr>
        <p:spPr>
          <a:xfrm>
            <a:off x="285749" y="307976"/>
            <a:ext cx="4905375" cy="4445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ru-RU" sz="3200" b="1" dirty="0">
                <a:latin typeface="Times New Roman" panose="02020603050405020304" pitchFamily="18" charset="0"/>
                <a:cs typeface="Times New Roman" panose="02020603050405020304" pitchFamily="18" charset="0"/>
              </a:rPr>
              <a:t>Стандартная форма </a:t>
            </a:r>
            <a:r>
              <a:rPr lang="en-US" sz="3200" b="1" dirty="0">
                <a:latin typeface="Times New Roman" panose="02020603050405020304" pitchFamily="18" charset="0"/>
                <a:cs typeface="Times New Roman" panose="02020603050405020304" pitchFamily="18" charset="0"/>
              </a:rPr>
              <a:t>SVD</a:t>
            </a:r>
            <a:endParaRPr lang="ru-RU" sz="3200" b="1"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0BC7D417-EBC0-4C78-8EC3-86DE96D6F87A}"/>
                  </a:ext>
                </a:extLst>
              </p:cNvPr>
              <p:cNvSpPr txBox="1"/>
              <p:nvPr/>
            </p:nvSpPr>
            <p:spPr>
              <a:xfrm>
                <a:off x="5245702" y="2057310"/>
                <a:ext cx="6508147" cy="492443"/>
              </a:xfrm>
              <a:prstGeom prst="rect">
                <a:avLst/>
              </a:prstGeom>
              <a:noFill/>
            </p:spPr>
            <p:txBody>
              <a:bodyPr wrap="square" lIns="0" tIns="0" rIns="0" bIns="0" rtlCol="0">
                <a:spAutoFit/>
              </a:bodyPr>
              <a:lstStyle/>
              <a:p>
                <a:pPr algn="just"/>
                <a14:m>
                  <m:oMath xmlns:m="http://schemas.openxmlformats.org/officeDocument/2006/math">
                    <m:r>
                      <a:rPr lang="en-US" sz="3200" i="1" smtClean="0"/>
                      <m:t>𝐴</m:t>
                    </m:r>
                    <m:r>
                      <a:rPr lang="en-US" sz="3200" i="1" smtClean="0"/>
                      <m:t>=</m:t>
                    </m:r>
                    <m:r>
                      <a:rPr lang="en-US" sz="3200" i="1" smtClean="0"/>
                      <m:t>𝑈</m:t>
                    </m:r>
                    <m:r>
                      <a:rPr lang="en-US" sz="3200" i="1" smtClean="0"/>
                      <m:t>𝛴</m:t>
                    </m:r>
                    <m:r>
                      <a:rPr lang="en-US" sz="3200" i="1" smtClean="0"/>
                      <m:t>𝑉</m:t>
                    </m:r>
                  </m:oMath>
                </a14:m>
                <a:r>
                  <a:rPr lang="ru-RU" sz="3200" dirty="0">
                    <a:latin typeface="Times New Roman" panose="02020603050405020304" pitchFamily="18" charset="0"/>
                    <a:cs typeface="Times New Roman" panose="02020603050405020304" pitchFamily="18" charset="0"/>
                  </a:rPr>
                  <a:t>			                       (1)</a:t>
                </a:r>
                <a:endParaRPr lang="en-US" sz="3200" dirty="0">
                  <a:latin typeface="Times New Roman" panose="02020603050405020304" pitchFamily="18" charset="0"/>
                  <a:cs typeface="Times New Roman" panose="02020603050405020304" pitchFamily="18" charset="0"/>
                </a:endParaRPr>
              </a:p>
            </p:txBody>
          </p:sp>
        </mc:Choice>
        <mc:Fallback>
          <p:sp>
            <p:nvSpPr>
              <p:cNvPr id="6" name="TextBox 5">
                <a:extLst>
                  <a:ext uri="{FF2B5EF4-FFF2-40B4-BE49-F238E27FC236}">
                    <a16:creationId xmlns:a16="http://schemas.microsoft.com/office/drawing/2014/main" id="{0BC7D417-EBC0-4C78-8EC3-86DE96D6F87A}"/>
                  </a:ext>
                </a:extLst>
              </p:cNvPr>
              <p:cNvSpPr txBox="1">
                <a:spLocks noRot="1" noChangeAspect="1" noMove="1" noResize="1" noEditPoints="1" noAdjustHandles="1" noChangeArrowheads="1" noChangeShapeType="1" noTextEdit="1"/>
              </p:cNvSpPr>
              <p:nvPr/>
            </p:nvSpPr>
            <p:spPr>
              <a:xfrm>
                <a:off x="5245702" y="2057310"/>
                <a:ext cx="6508147" cy="492443"/>
              </a:xfrm>
              <a:prstGeom prst="rect">
                <a:avLst/>
              </a:prstGeom>
              <a:blipFill>
                <a:blip r:embed="rId2"/>
                <a:stretch>
                  <a:fillRect l="-94" t="-25926" r="-3187" b="-48148"/>
                </a:stretch>
              </a:blipFill>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8B9FDE3B-F265-45E1-9C0E-2EEC61DAC78A}"/>
                  </a:ext>
                </a:extLst>
              </p:cNvPr>
              <p:cNvSpPr txBox="1"/>
              <p:nvPr/>
            </p:nvSpPr>
            <p:spPr>
              <a:xfrm>
                <a:off x="828674" y="3525023"/>
                <a:ext cx="11134725" cy="2370649"/>
              </a:xfrm>
              <a:prstGeom prst="rect">
                <a:avLst/>
              </a:prstGeom>
              <a:noFill/>
            </p:spPr>
            <p:txBody>
              <a:bodyPr wrap="square" rtlCol="0">
                <a:spAutoFit/>
              </a:bodyPr>
              <a:lstStyle/>
              <a:p>
                <a:pPr algn="just">
                  <a:lnSpc>
                    <a:spcPct val="150000"/>
                  </a:lnSpc>
                  <a:spcAft>
                    <a:spcPts val="800"/>
                  </a:spcAft>
                </a:pPr>
                <a:r>
                  <a:rPr lang="ru-RU" sz="2200" dirty="0">
                    <a:effectLst/>
                    <a:latin typeface="Times New Roman" panose="02020603050405020304" pitchFamily="18" charset="0"/>
                    <a:ea typeface="Times New Roman" panose="02020603050405020304" pitchFamily="18" charset="0"/>
                    <a:cs typeface="Times New Roman" panose="02020603050405020304" pitchFamily="18" charset="0"/>
                  </a:rPr>
                  <a:t>где </a:t>
                </a:r>
                <a14:m>
                  <m:oMath xmlns:m="http://schemas.openxmlformats.org/officeDocument/2006/math">
                    <m:r>
                      <a:rPr lang="en-US" sz="2200" i="1">
                        <a:effectLst/>
                        <a:latin typeface="Cambria Math" panose="02040503050406030204" pitchFamily="18" charset="0"/>
                        <a:ea typeface="Calibri" panose="020F0502020204030204" pitchFamily="34" charset="0"/>
                        <a:cs typeface="Times New Roman" panose="02020603050405020304" pitchFamily="18" charset="0"/>
                      </a:rPr>
                      <m:t>𝐴</m:t>
                    </m:r>
                  </m:oMath>
                </a14:m>
                <a:r>
                  <a:rPr lang="ru-RU" sz="2200" dirty="0">
                    <a:effectLst/>
                    <a:latin typeface="Times New Roman" panose="02020603050405020304" pitchFamily="18" charset="0"/>
                    <a:ea typeface="Times New Roman" panose="02020603050405020304" pitchFamily="18" charset="0"/>
                    <a:cs typeface="Times New Roman" panose="02020603050405020304" pitchFamily="18" charset="0"/>
                  </a:rPr>
                  <a:t> – исходная матрица </a:t>
                </a:r>
                <a14:m>
                  <m:oMath xmlns:m="http://schemas.openxmlformats.org/officeDocument/2006/math">
                    <m:r>
                      <a:rPr lang="en-US" sz="2200" i="1">
                        <a:effectLst/>
                        <a:latin typeface="Cambria Math" panose="02040503050406030204" pitchFamily="18" charset="0"/>
                        <a:ea typeface="Calibri" panose="020F0502020204030204" pitchFamily="34" charset="0"/>
                        <a:cs typeface="Times New Roman" panose="02020603050405020304" pitchFamily="18" charset="0"/>
                      </a:rPr>
                      <m:t>𝑚</m:t>
                    </m:r>
                    <m:r>
                      <a:rPr lang="ru-RU" sz="2200" i="1">
                        <a:effectLst/>
                        <a:latin typeface="Cambria Math" panose="02040503050406030204" pitchFamily="18" charset="0"/>
                        <a:ea typeface="Calibri" panose="020F0502020204030204" pitchFamily="34" charset="0"/>
                        <a:cs typeface="Times New Roman" panose="02020603050405020304" pitchFamily="18" charset="0"/>
                      </a:rPr>
                      <m:t>×</m:t>
                    </m:r>
                    <m:r>
                      <a:rPr lang="en-US" sz="2200" i="1">
                        <a:effectLst/>
                        <a:latin typeface="Cambria Math" panose="02040503050406030204" pitchFamily="18" charset="0"/>
                        <a:ea typeface="Calibri" panose="020F0502020204030204" pitchFamily="34" charset="0"/>
                        <a:cs typeface="Times New Roman" panose="02020603050405020304" pitchFamily="18" charset="0"/>
                      </a:rPr>
                      <m:t>𝑛</m:t>
                    </m:r>
                  </m:oMath>
                </a14:m>
                <a:r>
                  <a:rPr lang="ru-RU" sz="22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ru-RU" sz="2200" dirty="0">
                  <a:effectLst/>
                  <a:latin typeface="Times New Roman" panose="02020603050405020304" pitchFamily="18" charset="0"/>
                  <a:ea typeface="Calibri" panose="020F0502020204030204" pitchFamily="34" charset="0"/>
                  <a:cs typeface="Times New Roman" panose="02020603050405020304" pitchFamily="18" charset="0"/>
                </a:endParaRPr>
              </a:p>
              <a:p>
                <a:pPr indent="270510" algn="just">
                  <a:lnSpc>
                    <a:spcPct val="150000"/>
                  </a:lnSpc>
                  <a:spcAft>
                    <a:spcPts val="800"/>
                  </a:spcAft>
                </a:pPr>
                <a14:m>
                  <m:oMath xmlns:m="http://schemas.openxmlformats.org/officeDocument/2006/math">
                    <m:r>
                      <a:rPr lang="en-US" sz="2200" i="1">
                        <a:effectLst/>
                        <a:latin typeface="Cambria Math" panose="02040503050406030204" pitchFamily="18" charset="0"/>
                        <a:ea typeface="Calibri" panose="020F0502020204030204" pitchFamily="34" charset="0"/>
                        <a:cs typeface="Times New Roman" panose="02020603050405020304" pitchFamily="18" charset="0"/>
                      </a:rPr>
                      <m:t>𝑈</m:t>
                    </m:r>
                  </m:oMath>
                </a14:m>
                <a:r>
                  <a:rPr lang="ru-RU" sz="2200" dirty="0">
                    <a:effectLst/>
                    <a:latin typeface="Times New Roman" panose="02020603050405020304" pitchFamily="18" charset="0"/>
                    <a:ea typeface="Times New Roman" panose="02020603050405020304" pitchFamily="18" charset="0"/>
                    <a:cs typeface="Times New Roman" panose="02020603050405020304" pitchFamily="18" charset="0"/>
                  </a:rPr>
                  <a:t> – ортогональная матрица </a:t>
                </a:r>
                <a14:m>
                  <m:oMath xmlns:m="http://schemas.openxmlformats.org/officeDocument/2006/math">
                    <m:r>
                      <a:rPr lang="en-US" sz="2200" i="1">
                        <a:effectLst/>
                        <a:latin typeface="Cambria Math" panose="02040503050406030204" pitchFamily="18" charset="0"/>
                        <a:ea typeface="Calibri" panose="020F0502020204030204" pitchFamily="34" charset="0"/>
                        <a:cs typeface="Times New Roman" panose="02020603050405020304" pitchFamily="18" charset="0"/>
                      </a:rPr>
                      <m:t>𝑚</m:t>
                    </m:r>
                    <m:r>
                      <a:rPr lang="ru-RU" sz="2200" i="1">
                        <a:effectLst/>
                        <a:latin typeface="Cambria Math" panose="02040503050406030204" pitchFamily="18" charset="0"/>
                        <a:ea typeface="Calibri" panose="020F0502020204030204" pitchFamily="34" charset="0"/>
                        <a:cs typeface="Times New Roman" panose="02020603050405020304" pitchFamily="18" charset="0"/>
                      </a:rPr>
                      <m:t>×</m:t>
                    </m:r>
                    <m:r>
                      <a:rPr lang="en-US" sz="2200" i="1">
                        <a:effectLst/>
                        <a:latin typeface="Cambria Math" panose="02040503050406030204" pitchFamily="18" charset="0"/>
                        <a:ea typeface="Calibri" panose="020F0502020204030204" pitchFamily="34" charset="0"/>
                        <a:cs typeface="Times New Roman" panose="02020603050405020304" pitchFamily="18" charset="0"/>
                      </a:rPr>
                      <m:t>𝑚</m:t>
                    </m:r>
                  </m:oMath>
                </a14:m>
                <a:r>
                  <a:rPr lang="ru-RU" sz="2200" dirty="0">
                    <a:effectLst/>
                    <a:latin typeface="Times New Roman" panose="02020603050405020304" pitchFamily="18" charset="0"/>
                    <a:ea typeface="Times New Roman" panose="02020603050405020304" pitchFamily="18" charset="0"/>
                    <a:cs typeface="Times New Roman" panose="02020603050405020304" pitchFamily="18" charset="0"/>
                  </a:rPr>
                  <a:t>, образующая левые сингулярные векторы.</a:t>
                </a:r>
                <a:endParaRPr lang="ru-RU" sz="2200" dirty="0">
                  <a:effectLst/>
                  <a:latin typeface="Times New Roman" panose="02020603050405020304" pitchFamily="18" charset="0"/>
                  <a:ea typeface="Calibri" panose="020F0502020204030204" pitchFamily="34" charset="0"/>
                  <a:cs typeface="Times New Roman" panose="02020603050405020304" pitchFamily="18" charset="0"/>
                </a:endParaRPr>
              </a:p>
              <a:p>
                <a:pPr indent="270510" algn="just">
                  <a:lnSpc>
                    <a:spcPct val="150000"/>
                  </a:lnSpc>
                  <a:spcAft>
                    <a:spcPts val="800"/>
                  </a:spcAft>
                </a:pPr>
                <a14:m>
                  <m:oMath xmlns:m="http://schemas.openxmlformats.org/officeDocument/2006/math">
                    <m:r>
                      <a:rPr lang="en-US" sz="2200" i="1">
                        <a:effectLst/>
                        <a:latin typeface="Cambria Math" panose="02040503050406030204" pitchFamily="18" charset="0"/>
                        <a:ea typeface="Calibri" panose="020F0502020204030204" pitchFamily="34" charset="0"/>
                        <a:cs typeface="Times New Roman" panose="02020603050405020304" pitchFamily="18" charset="0"/>
                      </a:rPr>
                      <m:t>𝛴</m:t>
                    </m:r>
                  </m:oMath>
                </a14:m>
                <a:r>
                  <a:rPr lang="ru-RU" sz="2200" dirty="0">
                    <a:effectLst/>
                    <a:latin typeface="Times New Roman" panose="02020603050405020304" pitchFamily="18" charset="0"/>
                    <a:ea typeface="Calibri" panose="020F0502020204030204" pitchFamily="34" charset="0"/>
                    <a:cs typeface="Times New Roman" panose="02020603050405020304" pitchFamily="18" charset="0"/>
                  </a:rPr>
                  <a:t> – диагональная матрица </a:t>
                </a:r>
                <a14:m>
                  <m:oMath xmlns:m="http://schemas.openxmlformats.org/officeDocument/2006/math">
                    <m:r>
                      <a:rPr lang="en-US" sz="2200" i="1">
                        <a:effectLst/>
                        <a:latin typeface="Cambria Math" panose="02040503050406030204" pitchFamily="18" charset="0"/>
                        <a:ea typeface="Calibri" panose="020F0502020204030204" pitchFamily="34" charset="0"/>
                        <a:cs typeface="Times New Roman" panose="02020603050405020304" pitchFamily="18" charset="0"/>
                      </a:rPr>
                      <m:t>𝑚</m:t>
                    </m:r>
                    <m:r>
                      <a:rPr lang="ru-RU" sz="2200" i="1">
                        <a:effectLst/>
                        <a:latin typeface="Cambria Math" panose="02040503050406030204" pitchFamily="18" charset="0"/>
                        <a:ea typeface="Calibri" panose="020F0502020204030204" pitchFamily="34" charset="0"/>
                        <a:cs typeface="Times New Roman" panose="02020603050405020304" pitchFamily="18" charset="0"/>
                      </a:rPr>
                      <m:t>×</m:t>
                    </m:r>
                    <m:r>
                      <a:rPr lang="en-US" sz="2200" i="1">
                        <a:effectLst/>
                        <a:latin typeface="Cambria Math" panose="02040503050406030204" pitchFamily="18" charset="0"/>
                        <a:ea typeface="Calibri" panose="020F0502020204030204" pitchFamily="34" charset="0"/>
                        <a:cs typeface="Times New Roman" panose="02020603050405020304" pitchFamily="18" charset="0"/>
                      </a:rPr>
                      <m:t>𝑛</m:t>
                    </m:r>
                  </m:oMath>
                </a14:m>
                <a:r>
                  <a:rPr lang="ru-RU" sz="2200" dirty="0">
                    <a:effectLst/>
                    <a:latin typeface="Times New Roman" panose="02020603050405020304" pitchFamily="18" charset="0"/>
                    <a:ea typeface="Calibri" panose="020F0502020204030204" pitchFamily="34" charset="0"/>
                    <a:cs typeface="Times New Roman" panose="02020603050405020304" pitchFamily="18" charset="0"/>
                  </a:rPr>
                  <a:t>, образующая сингулярные неотрицательные числа.</a:t>
                </a:r>
              </a:p>
              <a:p>
                <a:pPr indent="270510" algn="just">
                  <a:lnSpc>
                    <a:spcPct val="150000"/>
                  </a:lnSpc>
                  <a:spcAft>
                    <a:spcPts val="800"/>
                  </a:spcAft>
                </a:pPr>
                <a14:m>
                  <m:oMath xmlns:m="http://schemas.openxmlformats.org/officeDocument/2006/math">
                    <m:r>
                      <a:rPr lang="en-US" sz="2200" i="1">
                        <a:effectLst/>
                        <a:latin typeface="Cambria Math" panose="02040503050406030204" pitchFamily="18" charset="0"/>
                        <a:ea typeface="Calibri" panose="020F0502020204030204" pitchFamily="34" charset="0"/>
                        <a:cs typeface="Times New Roman" panose="02020603050405020304" pitchFamily="18" charset="0"/>
                      </a:rPr>
                      <m:t>𝑉</m:t>
                    </m:r>
                  </m:oMath>
                </a14:m>
                <a:r>
                  <a:rPr lang="ru-RU" sz="2200" dirty="0">
                    <a:effectLst/>
                    <a:latin typeface="Times New Roman" panose="02020603050405020304" pitchFamily="18" charset="0"/>
                    <a:ea typeface="Calibri" panose="020F0502020204030204" pitchFamily="34" charset="0"/>
                    <a:cs typeface="Times New Roman" panose="02020603050405020304" pitchFamily="18" charset="0"/>
                  </a:rPr>
                  <a:t> – ортогональная матрица </a:t>
                </a:r>
                <a14:m>
                  <m:oMath xmlns:m="http://schemas.openxmlformats.org/officeDocument/2006/math">
                    <m:r>
                      <a:rPr lang="en-US" sz="2200" i="1">
                        <a:effectLst/>
                        <a:latin typeface="Cambria Math" panose="02040503050406030204" pitchFamily="18" charset="0"/>
                        <a:ea typeface="Calibri" panose="020F0502020204030204" pitchFamily="34" charset="0"/>
                        <a:cs typeface="Times New Roman" panose="02020603050405020304" pitchFamily="18" charset="0"/>
                      </a:rPr>
                      <m:t>𝑛</m:t>
                    </m:r>
                    <m:r>
                      <a:rPr lang="ru-RU" sz="2200" i="1">
                        <a:effectLst/>
                        <a:latin typeface="Cambria Math" panose="02040503050406030204" pitchFamily="18" charset="0"/>
                        <a:ea typeface="Calibri" panose="020F0502020204030204" pitchFamily="34" charset="0"/>
                        <a:cs typeface="Times New Roman" panose="02020603050405020304" pitchFamily="18" charset="0"/>
                      </a:rPr>
                      <m:t>×</m:t>
                    </m:r>
                    <m:r>
                      <a:rPr lang="en-US" sz="2200" i="1">
                        <a:effectLst/>
                        <a:latin typeface="Cambria Math" panose="02040503050406030204" pitchFamily="18" charset="0"/>
                        <a:ea typeface="Calibri" panose="020F0502020204030204" pitchFamily="34" charset="0"/>
                        <a:cs typeface="Times New Roman" panose="02020603050405020304" pitchFamily="18" charset="0"/>
                      </a:rPr>
                      <m:t>𝑛</m:t>
                    </m:r>
                  </m:oMath>
                </a14:m>
                <a:r>
                  <a:rPr lang="ru-RU" sz="2200" dirty="0">
                    <a:effectLst/>
                    <a:latin typeface="Times New Roman" panose="02020603050405020304" pitchFamily="18" charset="0"/>
                    <a:ea typeface="Calibri" panose="020F0502020204030204" pitchFamily="34" charset="0"/>
                    <a:cs typeface="Times New Roman" panose="02020603050405020304" pitchFamily="18" charset="0"/>
                  </a:rPr>
                  <a:t>, образующая правые сингулярные векторы.</a:t>
                </a:r>
              </a:p>
            </p:txBody>
          </p:sp>
        </mc:Choice>
        <mc:Fallback>
          <p:sp>
            <p:nvSpPr>
              <p:cNvPr id="7" name="TextBox 6">
                <a:extLst>
                  <a:ext uri="{FF2B5EF4-FFF2-40B4-BE49-F238E27FC236}">
                    <a16:creationId xmlns:a16="http://schemas.microsoft.com/office/drawing/2014/main" id="{8B9FDE3B-F265-45E1-9C0E-2EEC61DAC78A}"/>
                  </a:ext>
                </a:extLst>
              </p:cNvPr>
              <p:cNvSpPr txBox="1">
                <a:spLocks noRot="1" noChangeAspect="1" noMove="1" noResize="1" noEditPoints="1" noAdjustHandles="1" noChangeArrowheads="1" noChangeShapeType="1" noTextEdit="1"/>
              </p:cNvSpPr>
              <p:nvPr/>
            </p:nvSpPr>
            <p:spPr>
              <a:xfrm>
                <a:off x="828674" y="3525023"/>
                <a:ext cx="11134725" cy="2370649"/>
              </a:xfrm>
              <a:prstGeom prst="rect">
                <a:avLst/>
              </a:prstGeom>
              <a:blipFill>
                <a:blip r:embed="rId3"/>
                <a:stretch>
                  <a:fillRect l="-712" b="-4370"/>
                </a:stretch>
              </a:blipFill>
            </p:spPr>
            <p:txBody>
              <a:bodyPr/>
              <a:lstStyle/>
              <a:p>
                <a:r>
                  <a:rPr lang="ru-RU">
                    <a:noFill/>
                  </a:rPr>
                  <a:t> </a:t>
                </a:r>
              </a:p>
            </p:txBody>
          </p:sp>
        </mc:Fallback>
      </mc:AlternateContent>
      <p:sp>
        <p:nvSpPr>
          <p:cNvPr id="8" name="Блок-схема: узел 7">
            <a:extLst>
              <a:ext uri="{FF2B5EF4-FFF2-40B4-BE49-F238E27FC236}">
                <a16:creationId xmlns:a16="http://schemas.microsoft.com/office/drawing/2014/main" id="{23374097-4996-475D-A5DE-AB7C3156047D}"/>
              </a:ext>
            </a:extLst>
          </p:cNvPr>
          <p:cNvSpPr/>
          <p:nvPr/>
        </p:nvSpPr>
        <p:spPr>
          <a:xfrm>
            <a:off x="11393850" y="6067424"/>
            <a:ext cx="720000" cy="720000"/>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2</a:t>
            </a:r>
            <a:endParaRPr lang="ru-RU"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056006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E979C45-98D9-4D73-8E2F-12407B3F89FF}"/>
              </a:ext>
            </a:extLst>
          </p:cNvPr>
          <p:cNvSpPr txBox="1">
            <a:spLocks/>
          </p:cNvSpPr>
          <p:nvPr/>
        </p:nvSpPr>
        <p:spPr>
          <a:xfrm>
            <a:off x="285749" y="307976"/>
            <a:ext cx="4905375" cy="4445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ru-RU" sz="3200" b="1" dirty="0">
                <a:latin typeface="Times New Roman" panose="02020603050405020304" pitchFamily="18" charset="0"/>
                <a:cs typeface="Times New Roman" panose="02020603050405020304" pitchFamily="18" charset="0"/>
              </a:rPr>
              <a:t>Алгоритм разложения</a:t>
            </a: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35D1ECDC-5BEE-4799-B297-B43DB27E0A20}"/>
                  </a:ext>
                </a:extLst>
              </p:cNvPr>
              <p:cNvSpPr txBox="1"/>
              <p:nvPr/>
            </p:nvSpPr>
            <p:spPr>
              <a:xfrm>
                <a:off x="5208898" y="1219200"/>
                <a:ext cx="6583052" cy="501291"/>
              </a:xfrm>
              <a:prstGeom prst="rect">
                <a:avLst/>
              </a:prstGeom>
              <a:noFill/>
            </p:spPr>
            <p:txBody>
              <a:bodyPr wrap="square" lIns="0" tIns="0" rIns="0" bIns="0" rtlCol="0">
                <a:spAutoFit/>
              </a:bodyPr>
              <a:lstStyle/>
              <a:p>
                <a14:m>
                  <m:oMath xmlns:m="http://schemas.openxmlformats.org/officeDocument/2006/math">
                    <m:sSub>
                      <m:sSubPr>
                        <m:ctrlPr>
                          <a:rPr lang="ru-RU" sz="3200" i="1"/>
                        </m:ctrlPr>
                      </m:sSubPr>
                      <m:e>
                        <m:r>
                          <a:rPr lang="en-US" sz="3200" i="1"/>
                          <m:t>𝐴</m:t>
                        </m:r>
                      </m:e>
                      <m:sub>
                        <m:r>
                          <a:rPr lang="ru-RU" sz="3200" i="1"/>
                          <m:t>𝑟</m:t>
                        </m:r>
                      </m:sub>
                    </m:sSub>
                    <m:r>
                      <a:rPr lang="ru-RU" sz="3200" i="1"/>
                      <m:t>=</m:t>
                    </m:r>
                    <m:sSup>
                      <m:sSupPr>
                        <m:ctrlPr>
                          <a:rPr lang="ru-RU" sz="3200" i="1"/>
                        </m:ctrlPr>
                      </m:sSupPr>
                      <m:e>
                        <m:r>
                          <a:rPr lang="ru-RU" sz="3200" i="1"/>
                          <m:t>𝐴</m:t>
                        </m:r>
                      </m:e>
                      <m:sup>
                        <m:r>
                          <a:rPr lang="ru-RU" sz="3200" i="1"/>
                          <m:t>𝑇</m:t>
                        </m:r>
                      </m:sup>
                    </m:sSup>
                    <m:r>
                      <a:rPr lang="ru-RU" sz="3200" i="1"/>
                      <m:t>𝐴</m:t>
                    </m:r>
                  </m:oMath>
                </a14:m>
                <a:r>
                  <a:rPr lang="ru-RU" sz="3200" dirty="0">
                    <a:latin typeface="Times New Roman" panose="02020603050405020304" pitchFamily="18" charset="0"/>
                    <a:cs typeface="Times New Roman" panose="02020603050405020304" pitchFamily="18" charset="0"/>
                  </a:rPr>
                  <a:t> 					      (2)</a:t>
                </a:r>
              </a:p>
            </p:txBody>
          </p:sp>
        </mc:Choice>
        <mc:Fallback>
          <p:sp>
            <p:nvSpPr>
              <p:cNvPr id="3" name="TextBox 2">
                <a:extLst>
                  <a:ext uri="{FF2B5EF4-FFF2-40B4-BE49-F238E27FC236}">
                    <a16:creationId xmlns:a16="http://schemas.microsoft.com/office/drawing/2014/main" id="{35D1ECDC-5BEE-4799-B297-B43DB27E0A20}"/>
                  </a:ext>
                </a:extLst>
              </p:cNvPr>
              <p:cNvSpPr txBox="1">
                <a:spLocks noRot="1" noChangeAspect="1" noMove="1" noResize="1" noEditPoints="1" noAdjustHandles="1" noChangeArrowheads="1" noChangeShapeType="1" noTextEdit="1"/>
              </p:cNvSpPr>
              <p:nvPr/>
            </p:nvSpPr>
            <p:spPr>
              <a:xfrm>
                <a:off x="5208898" y="1219200"/>
                <a:ext cx="6583052" cy="501291"/>
              </a:xfrm>
              <a:prstGeom prst="rect">
                <a:avLst/>
              </a:prstGeom>
              <a:blipFill>
                <a:blip r:embed="rId2"/>
                <a:stretch>
                  <a:fillRect t="-23171" r="-3611" b="-47561"/>
                </a:stretch>
              </a:blipFill>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B6FDFB2A-BAFE-4D9C-B515-4A4755C432FC}"/>
                  </a:ext>
                </a:extLst>
              </p:cNvPr>
              <p:cNvSpPr txBox="1"/>
              <p:nvPr/>
            </p:nvSpPr>
            <p:spPr>
              <a:xfrm>
                <a:off x="887102" y="2044184"/>
                <a:ext cx="6096000" cy="430887"/>
              </a:xfrm>
              <a:prstGeom prst="rect">
                <a:avLst/>
              </a:prstGeom>
              <a:noFill/>
            </p:spPr>
            <p:txBody>
              <a:bodyPr wrap="square">
                <a:spAutoFit/>
              </a:bodyPr>
              <a:lstStyle/>
              <a:p>
                <a:r>
                  <a:rPr lang="ru-RU" sz="2200" dirty="0">
                    <a:effectLst/>
                    <a:latin typeface="Times New Roman" panose="02020603050405020304" pitchFamily="18" charset="0"/>
                    <a:ea typeface="Times New Roman" panose="02020603050405020304" pitchFamily="18" charset="0"/>
                    <a:cs typeface="Times New Roman" panose="02020603050405020304" pitchFamily="18" charset="0"/>
                  </a:rPr>
                  <a:t>где </a:t>
                </a:r>
                <a14:m>
                  <m:oMath xmlns:m="http://schemas.openxmlformats.org/officeDocument/2006/math">
                    <m:sSup>
                      <m:sSupPr>
                        <m:ctrlPr>
                          <a:rPr lang="ru-RU" sz="22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ru-RU" sz="2200" i="1">
                            <a:effectLst/>
                            <a:latin typeface="Cambria Math" panose="02040503050406030204" pitchFamily="18" charset="0"/>
                            <a:ea typeface="Times New Roman" panose="02020603050405020304" pitchFamily="18" charset="0"/>
                            <a:cs typeface="Times New Roman" panose="02020603050405020304" pitchFamily="18" charset="0"/>
                          </a:rPr>
                          <m:t>𝐴</m:t>
                        </m:r>
                      </m:e>
                      <m:sup>
                        <m:r>
                          <a:rPr lang="ru-RU" sz="2200" i="1">
                            <a:effectLst/>
                            <a:latin typeface="Cambria Math" panose="02040503050406030204" pitchFamily="18" charset="0"/>
                            <a:ea typeface="Times New Roman" panose="02020603050405020304" pitchFamily="18" charset="0"/>
                            <a:cs typeface="Times New Roman" panose="02020603050405020304" pitchFamily="18" charset="0"/>
                          </a:rPr>
                          <m:t>𝑇</m:t>
                        </m:r>
                      </m:sup>
                    </m:sSup>
                  </m:oMath>
                </a14:m>
                <a:r>
                  <a:rPr lang="ru-RU" sz="2200" dirty="0">
                    <a:effectLst/>
                    <a:latin typeface="Times New Roman" panose="02020603050405020304" pitchFamily="18" charset="0"/>
                    <a:ea typeface="Times New Roman" panose="02020603050405020304" pitchFamily="18" charset="0"/>
                    <a:cs typeface="Times New Roman" panose="02020603050405020304" pitchFamily="18" charset="0"/>
                  </a:rPr>
                  <a:t> – транспонированная исходная матрица.</a:t>
                </a:r>
                <a:endParaRPr lang="ru-RU" sz="2200" dirty="0">
                  <a:latin typeface="Times New Roman" panose="02020603050405020304" pitchFamily="18" charset="0"/>
                  <a:cs typeface="Times New Roman" panose="02020603050405020304" pitchFamily="18" charset="0"/>
                </a:endParaRPr>
              </a:p>
            </p:txBody>
          </p:sp>
        </mc:Choice>
        <mc:Fallback>
          <p:sp>
            <p:nvSpPr>
              <p:cNvPr id="5" name="TextBox 4">
                <a:extLst>
                  <a:ext uri="{FF2B5EF4-FFF2-40B4-BE49-F238E27FC236}">
                    <a16:creationId xmlns:a16="http://schemas.microsoft.com/office/drawing/2014/main" id="{B6FDFB2A-BAFE-4D9C-B515-4A4755C432FC}"/>
                  </a:ext>
                </a:extLst>
              </p:cNvPr>
              <p:cNvSpPr txBox="1">
                <a:spLocks noRot="1" noChangeAspect="1" noMove="1" noResize="1" noEditPoints="1" noAdjustHandles="1" noChangeArrowheads="1" noChangeShapeType="1" noTextEdit="1"/>
              </p:cNvSpPr>
              <p:nvPr/>
            </p:nvSpPr>
            <p:spPr>
              <a:xfrm>
                <a:off x="887102" y="2044184"/>
                <a:ext cx="6096000" cy="430887"/>
              </a:xfrm>
              <a:prstGeom prst="rect">
                <a:avLst/>
              </a:prstGeom>
              <a:blipFill>
                <a:blip r:embed="rId3"/>
                <a:stretch>
                  <a:fillRect l="-1300" t="-8451" b="-28169"/>
                </a:stretch>
              </a:blipFill>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15944B68-0589-4CE7-A8ED-B49A25FECD55}"/>
                  </a:ext>
                </a:extLst>
              </p:cNvPr>
              <p:cNvSpPr txBox="1"/>
              <p:nvPr/>
            </p:nvSpPr>
            <p:spPr>
              <a:xfrm>
                <a:off x="5208898" y="2930009"/>
                <a:ext cx="6668776" cy="584775"/>
              </a:xfrm>
              <a:prstGeom prst="rect">
                <a:avLst/>
              </a:prstGeom>
              <a:noFill/>
            </p:spPr>
            <p:txBody>
              <a:bodyPr wrap="square">
                <a:spAutoFit/>
              </a:bodyPr>
              <a:lstStyle/>
              <a:p>
                <a:pPr/>
                <a14:m>
                  <m:oMath xmlns:m="http://schemas.openxmlformats.org/officeDocument/2006/math">
                    <m:sSub>
                      <m:sSubPr>
                        <m:ctrlPr>
                          <a:rPr lang="ru-RU" sz="3200" i="1" smtClean="0">
                            <a:solidFill>
                              <a:srgbClr val="836967"/>
                            </a:solidFill>
                            <a:latin typeface="Cambria Math" panose="02040503050406030204" pitchFamily="18" charset="0"/>
                          </a:rPr>
                        </m:ctrlPr>
                      </m:sSubPr>
                      <m:e>
                        <m:r>
                          <a:rPr lang="ru-RU" sz="3200" i="1">
                            <a:latin typeface="Cambria Math" panose="02040503050406030204" pitchFamily="18" charset="0"/>
                          </a:rPr>
                          <m:t>𝐴</m:t>
                        </m:r>
                      </m:e>
                      <m:sub>
                        <m:r>
                          <a:rPr lang="ru-RU" sz="3200" i="1">
                            <a:latin typeface="Cambria Math" panose="02040503050406030204" pitchFamily="18" charset="0"/>
                          </a:rPr>
                          <m:t>𝑙</m:t>
                        </m:r>
                      </m:sub>
                    </m:sSub>
                    <m:r>
                      <a:rPr lang="ru-RU" sz="3200" i="0">
                        <a:latin typeface="Cambria Math" panose="02040503050406030204" pitchFamily="18" charset="0"/>
                      </a:rPr>
                      <m:t>=</m:t>
                    </m:r>
                    <m:r>
                      <a:rPr lang="ru-RU" sz="3200" i="1">
                        <a:latin typeface="Cambria Math" panose="02040503050406030204" pitchFamily="18" charset="0"/>
                      </a:rPr>
                      <m:t>𝐴</m:t>
                    </m:r>
                    <m:sSup>
                      <m:sSupPr>
                        <m:ctrlPr>
                          <a:rPr lang="ru-RU" sz="3200" i="1">
                            <a:solidFill>
                              <a:srgbClr val="836967"/>
                            </a:solidFill>
                            <a:latin typeface="Cambria Math" panose="02040503050406030204" pitchFamily="18" charset="0"/>
                          </a:rPr>
                        </m:ctrlPr>
                      </m:sSupPr>
                      <m:e>
                        <m:r>
                          <a:rPr lang="ru-RU" sz="3200" i="1">
                            <a:latin typeface="Cambria Math" panose="02040503050406030204" pitchFamily="18" charset="0"/>
                          </a:rPr>
                          <m:t>𝐴</m:t>
                        </m:r>
                      </m:e>
                      <m:sup>
                        <m:r>
                          <a:rPr lang="ru-RU" sz="3200" i="1">
                            <a:latin typeface="Cambria Math" panose="02040503050406030204" pitchFamily="18" charset="0"/>
                          </a:rPr>
                          <m:t>𝑇</m:t>
                        </m:r>
                      </m:sup>
                    </m:sSup>
                  </m:oMath>
                </a14:m>
                <a:r>
                  <a:rPr lang="ru-RU" sz="3200" dirty="0">
                    <a:latin typeface="Times New Roman" panose="02020603050405020304" pitchFamily="18" charset="0"/>
                    <a:cs typeface="Times New Roman" panose="02020603050405020304" pitchFamily="18" charset="0"/>
                  </a:rPr>
                  <a:t>  				     (3)</a:t>
                </a:r>
              </a:p>
            </p:txBody>
          </p:sp>
        </mc:Choice>
        <mc:Fallback>
          <p:sp>
            <p:nvSpPr>
              <p:cNvPr id="7" name="TextBox 6">
                <a:extLst>
                  <a:ext uri="{FF2B5EF4-FFF2-40B4-BE49-F238E27FC236}">
                    <a16:creationId xmlns:a16="http://schemas.microsoft.com/office/drawing/2014/main" id="{15944B68-0589-4CE7-A8ED-B49A25FECD55}"/>
                  </a:ext>
                </a:extLst>
              </p:cNvPr>
              <p:cNvSpPr txBox="1">
                <a:spLocks noRot="1" noChangeAspect="1" noMove="1" noResize="1" noEditPoints="1" noAdjustHandles="1" noChangeArrowheads="1" noChangeShapeType="1" noTextEdit="1"/>
              </p:cNvSpPr>
              <p:nvPr/>
            </p:nvSpPr>
            <p:spPr>
              <a:xfrm>
                <a:off x="5208898" y="2930009"/>
                <a:ext cx="6668776" cy="584775"/>
              </a:xfrm>
              <a:prstGeom prst="rect">
                <a:avLst/>
              </a:prstGeom>
              <a:blipFill>
                <a:blip r:embed="rId4"/>
                <a:stretch>
                  <a:fillRect t="-13542" r="-2102" b="-33333"/>
                </a:stretch>
              </a:blipFill>
            </p:spPr>
            <p:txBody>
              <a:bodyPr/>
              <a:lstStyle/>
              <a:p>
                <a:r>
                  <a:rPr lang="ru-RU">
                    <a:noFill/>
                  </a:rPr>
                  <a:t> </a:t>
                </a:r>
              </a:p>
            </p:txBody>
          </p:sp>
        </mc:Fallback>
      </mc:AlternateContent>
      <p:sp>
        <p:nvSpPr>
          <p:cNvPr id="8" name="Блок-схема: узел 7">
            <a:extLst>
              <a:ext uri="{FF2B5EF4-FFF2-40B4-BE49-F238E27FC236}">
                <a16:creationId xmlns:a16="http://schemas.microsoft.com/office/drawing/2014/main" id="{B75D62F4-E2D4-47CA-A0C6-AF12280E04C3}"/>
              </a:ext>
            </a:extLst>
          </p:cNvPr>
          <p:cNvSpPr/>
          <p:nvPr/>
        </p:nvSpPr>
        <p:spPr>
          <a:xfrm>
            <a:off x="11393850" y="6067424"/>
            <a:ext cx="720000" cy="720000"/>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3</a:t>
            </a:r>
            <a:endParaRPr lang="ru-RU"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5290CC47-8500-4525-A9AE-1694B9399476}"/>
                  </a:ext>
                </a:extLst>
              </p:cNvPr>
              <p:cNvSpPr txBox="1"/>
              <p:nvPr/>
            </p:nvSpPr>
            <p:spPr>
              <a:xfrm>
                <a:off x="2412972" y="3969722"/>
                <a:ext cx="9464702" cy="492443"/>
              </a:xfrm>
              <a:prstGeom prst="rect">
                <a:avLst/>
              </a:prstGeom>
              <a:noFill/>
            </p:spPr>
            <p:txBody>
              <a:bodyPr wrap="square" lIns="0" tIns="0" rIns="0" bIns="0" rtlCol="0">
                <a:spAutoFit/>
              </a:bodyPr>
              <a:lstStyle/>
              <a:p>
                <a14:m>
                  <m:oMath xmlns:m="http://schemas.openxmlformats.org/officeDocument/2006/math">
                    <m:r>
                      <a:rPr lang="en-US" sz="3200" b="0" i="1" smtClean="0">
                        <a:latin typeface="Cambria Math" panose="02040503050406030204" pitchFamily="18" charset="0"/>
                      </a:rPr>
                      <m:t>𝐴𝑥</m:t>
                    </m:r>
                    <m:r>
                      <a:rPr lang="en-US" sz="3200" b="0" i="1" smtClean="0">
                        <a:latin typeface="Cambria Math" panose="02040503050406030204" pitchFamily="18" charset="0"/>
                      </a:rPr>
                      <m:t>=</m:t>
                    </m:r>
                    <m:r>
                      <a:rPr lang="ru-RU" sz="3200" i="1" smtClean="0">
                        <a:latin typeface="Cambria Math" panose="02040503050406030204" pitchFamily="18" charset="0"/>
                      </a:rPr>
                      <m:t>𝜆</m:t>
                    </m:r>
                    <m:r>
                      <a:rPr lang="en-US" sz="3200" b="0" i="1" smtClean="0">
                        <a:latin typeface="Cambria Math" panose="02040503050406030204" pitchFamily="18" charset="0"/>
                      </a:rPr>
                      <m:t>𝑥</m:t>
                    </m:r>
                    <m:r>
                      <a:rPr lang="en-US" sz="3200" b="0" i="1" smtClean="0">
                        <a:latin typeface="Cambria Math" panose="02040503050406030204" pitchFamily="18" charset="0"/>
                        <a:ea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𝐴𝑥</m:t>
                    </m:r>
                    <m:r>
                      <a:rPr lang="en-US" sz="3200" b="0" i="1" smtClean="0">
                        <a:latin typeface="Cambria Math" panose="02040503050406030204" pitchFamily="18" charset="0"/>
                        <a:ea typeface="Cambria Math" panose="02040503050406030204" pitchFamily="18" charset="0"/>
                      </a:rPr>
                      <m:t>−</m:t>
                    </m:r>
                    <m:r>
                      <a:rPr lang="ru-RU" sz="3200" i="1" smtClean="0">
                        <a:latin typeface="Cambria Math" panose="02040503050406030204" pitchFamily="18" charset="0"/>
                      </a:rPr>
                      <m:t>𝜆</m:t>
                    </m:r>
                    <m:r>
                      <a:rPr lang="en-US" sz="3200" b="0" i="1" smtClean="0">
                        <a:latin typeface="Cambria Math" panose="02040503050406030204" pitchFamily="18" charset="0"/>
                      </a:rPr>
                      <m:t>𝑥</m:t>
                    </m:r>
                    <m:r>
                      <a:rPr lang="en-US" sz="3200" b="0" i="1" smtClean="0">
                        <a:latin typeface="Cambria Math" panose="02040503050406030204" pitchFamily="18" charset="0"/>
                      </a:rPr>
                      <m:t>=0</m:t>
                    </m:r>
                    <m:r>
                      <a:rPr lang="en-US" sz="3200" b="0" i="1" smtClean="0">
                        <a:latin typeface="Cambria Math" panose="02040503050406030204" pitchFamily="18" charset="0"/>
                        <a:ea typeface="Cambria Math" panose="02040503050406030204" pitchFamily="18" charset="0"/>
                      </a:rPr>
                      <m:t>→</m:t>
                    </m:r>
                    <m:d>
                      <m:dPr>
                        <m:begChr m:val="|"/>
                        <m:endChr m:val="|"/>
                        <m:ctrlPr>
                          <a:rPr lang="ru-RU" sz="3200" i="1"/>
                        </m:ctrlPr>
                      </m:dPr>
                      <m:e>
                        <m:r>
                          <a:rPr lang="ru-RU" sz="3200" i="1"/>
                          <m:t>𝐴</m:t>
                        </m:r>
                        <m:r>
                          <a:rPr lang="ru-RU" sz="3200" i="1"/>
                          <m:t> −</m:t>
                        </m:r>
                        <m:r>
                          <a:rPr lang="ru-RU" sz="3200" i="1"/>
                          <m:t>𝜆𝛪</m:t>
                        </m:r>
                      </m:e>
                    </m:d>
                    <m:r>
                      <a:rPr lang="en-US" sz="3200" b="0" i="1" smtClean="0">
                        <a:latin typeface="Cambria Math" panose="02040503050406030204" pitchFamily="18" charset="0"/>
                      </a:rPr>
                      <m:t>𝑥</m:t>
                    </m:r>
                    <m:r>
                      <a:rPr lang="ru-RU" sz="3200" i="1"/>
                      <m:t>=0</m:t>
                    </m:r>
                  </m:oMath>
                </a14:m>
                <a:r>
                  <a:rPr lang="en-US" sz="3200" dirty="0">
                    <a:latin typeface="Times New Roman" panose="02020603050405020304" pitchFamily="18" charset="0"/>
                    <a:cs typeface="Times New Roman" panose="02020603050405020304" pitchFamily="18" charset="0"/>
                  </a:rPr>
                  <a:t>		       (4)</a:t>
                </a:r>
                <a:endParaRPr lang="ru-RU" sz="3200" dirty="0">
                  <a:latin typeface="Times New Roman" panose="02020603050405020304" pitchFamily="18" charset="0"/>
                  <a:cs typeface="Times New Roman" panose="02020603050405020304" pitchFamily="18" charset="0"/>
                </a:endParaRPr>
              </a:p>
            </p:txBody>
          </p:sp>
        </mc:Choice>
        <mc:Fallback>
          <p:sp>
            <p:nvSpPr>
              <p:cNvPr id="9" name="TextBox 8">
                <a:extLst>
                  <a:ext uri="{FF2B5EF4-FFF2-40B4-BE49-F238E27FC236}">
                    <a16:creationId xmlns:a16="http://schemas.microsoft.com/office/drawing/2014/main" id="{5290CC47-8500-4525-A9AE-1694B9399476}"/>
                  </a:ext>
                </a:extLst>
              </p:cNvPr>
              <p:cNvSpPr txBox="1">
                <a:spLocks noRot="1" noChangeAspect="1" noMove="1" noResize="1" noEditPoints="1" noAdjustHandles="1" noChangeArrowheads="1" noChangeShapeType="1" noTextEdit="1"/>
              </p:cNvSpPr>
              <p:nvPr/>
            </p:nvSpPr>
            <p:spPr>
              <a:xfrm>
                <a:off x="2412972" y="3969722"/>
                <a:ext cx="9464702" cy="492443"/>
              </a:xfrm>
              <a:prstGeom prst="rect">
                <a:avLst/>
              </a:prstGeom>
              <a:blipFill>
                <a:blip r:embed="rId5"/>
                <a:stretch>
                  <a:fillRect l="-64" t="-25926" r="-2126" b="-48148"/>
                </a:stretch>
              </a:blipFill>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D359307D-850B-4785-A8E6-AD305BDD1BDD}"/>
                  </a:ext>
                </a:extLst>
              </p:cNvPr>
              <p:cNvSpPr txBox="1"/>
              <p:nvPr/>
            </p:nvSpPr>
            <p:spPr>
              <a:xfrm>
                <a:off x="1200150" y="4972407"/>
                <a:ext cx="10677523" cy="584775"/>
              </a:xfrm>
              <a:prstGeom prst="rect">
                <a:avLst/>
              </a:prstGeom>
              <a:noFill/>
            </p:spPr>
            <p:txBody>
              <a:bodyPr wrap="square">
                <a:spAutoFit/>
              </a:bodyPr>
              <a:lstStyle/>
              <a:p>
                <a:pPr/>
                <a14:m>
                  <m:oMath xmlns:m="http://schemas.openxmlformats.org/officeDocument/2006/math">
                    <m:r>
                      <a:rPr lang="en-US" sz="3200" i="1" smtClean="0"/>
                      <m:t>𝑈</m:t>
                    </m:r>
                    <m:r>
                      <a:rPr lang="en-US" sz="3200" i="1" smtClean="0"/>
                      <m:t>=</m:t>
                    </m:r>
                    <m:d>
                      <m:dPr>
                        <m:ctrlPr>
                          <a:rPr lang="ru-RU" sz="3200" i="1"/>
                        </m:ctrlPr>
                      </m:dPr>
                      <m:e>
                        <m:m>
                          <m:mPr>
                            <m:mcs>
                              <m:mc>
                                <m:mcPr>
                                  <m:count m:val="4"/>
                                  <m:mcJc m:val="center"/>
                                </m:mcPr>
                              </m:mc>
                            </m:mcs>
                            <m:ctrlPr>
                              <a:rPr lang="ru-RU" sz="3200" i="1"/>
                            </m:ctrlPr>
                          </m:mPr>
                          <m:mr>
                            <m:e>
                              <m:sSub>
                                <m:sSubPr>
                                  <m:ctrlPr>
                                    <a:rPr lang="ru-RU" sz="3200" i="1"/>
                                  </m:ctrlPr>
                                </m:sSubPr>
                                <m:e>
                                  <m:r>
                                    <a:rPr lang="en-US" sz="3200" i="1"/>
                                    <m:t>𝑈</m:t>
                                  </m:r>
                                </m:e>
                                <m:sub>
                                  <m:r>
                                    <a:rPr lang="en-US" sz="3200" i="1"/>
                                    <m:t>1</m:t>
                                  </m:r>
                                </m:sub>
                              </m:sSub>
                            </m:e>
                            <m:e>
                              <m:sSub>
                                <m:sSubPr>
                                  <m:ctrlPr>
                                    <a:rPr lang="ru-RU" sz="3200" i="1"/>
                                  </m:ctrlPr>
                                </m:sSubPr>
                                <m:e>
                                  <m:r>
                                    <a:rPr lang="en-US" sz="3200" i="1"/>
                                    <m:t>𝑈</m:t>
                                  </m:r>
                                </m:e>
                                <m:sub>
                                  <m:r>
                                    <a:rPr lang="en-US" sz="3200" i="1"/>
                                    <m:t>2</m:t>
                                  </m:r>
                                </m:sub>
                              </m:sSub>
                            </m:e>
                            <m:e>
                              <m:r>
                                <a:rPr lang="en-US" sz="3200" i="1"/>
                                <m:t>⋯</m:t>
                              </m:r>
                            </m:e>
                            <m:e>
                              <m:sSub>
                                <m:sSubPr>
                                  <m:ctrlPr>
                                    <a:rPr lang="ru-RU" sz="3200" i="1"/>
                                  </m:ctrlPr>
                                </m:sSubPr>
                                <m:e>
                                  <m:r>
                                    <a:rPr lang="en-US" sz="3200" i="1"/>
                                    <m:t>𝑈</m:t>
                                  </m:r>
                                </m:e>
                                <m:sub>
                                  <m:r>
                                    <a:rPr lang="en-US" sz="3200" i="1"/>
                                    <m:t>𝑚</m:t>
                                  </m:r>
                                </m:sub>
                              </m:sSub>
                            </m:e>
                          </m:mr>
                        </m:m>
                      </m:e>
                    </m:d>
                    <m:r>
                      <a:rPr lang="en-US" sz="3200" b="0" i="1" smtClean="0">
                        <a:latin typeface="Cambria Math" panose="02040503050406030204" pitchFamily="18" charset="0"/>
                      </a:rPr>
                      <m:t>      </m:t>
                    </m:r>
                    <m:r>
                      <a:rPr lang="ru-RU" sz="3200" i="1" smtClean="0">
                        <a:latin typeface="Cambria Math" panose="02040503050406030204" pitchFamily="18" charset="0"/>
                      </a:rPr>
                      <m:t>𝑉</m:t>
                    </m:r>
                    <m:r>
                      <a:rPr lang="ru-RU" sz="3200" i="0">
                        <a:latin typeface="Cambria Math" panose="02040503050406030204" pitchFamily="18" charset="0"/>
                      </a:rPr>
                      <m:t>=</m:t>
                    </m:r>
                    <m:sSup>
                      <m:sSupPr>
                        <m:ctrlPr>
                          <a:rPr lang="ru-RU" sz="3200" i="1">
                            <a:solidFill>
                              <a:srgbClr val="836967"/>
                            </a:solidFill>
                            <a:latin typeface="Cambria Math" panose="02040503050406030204" pitchFamily="18" charset="0"/>
                          </a:rPr>
                        </m:ctrlPr>
                      </m:sSupPr>
                      <m:e>
                        <m:d>
                          <m:dPr>
                            <m:ctrlPr>
                              <a:rPr lang="ru-RU" sz="3200" i="1">
                                <a:solidFill>
                                  <a:srgbClr val="836967"/>
                                </a:solidFill>
                                <a:latin typeface="Cambria Math" panose="02040503050406030204" pitchFamily="18" charset="0"/>
                              </a:rPr>
                            </m:ctrlPr>
                          </m:dPr>
                          <m:e>
                            <m:m>
                              <m:mPr>
                                <m:plcHide m:val="on"/>
                                <m:mcs>
                                  <m:mc>
                                    <m:mcPr>
                                      <m:count m:val="4"/>
                                      <m:mcJc m:val="center"/>
                                    </m:mcPr>
                                  </m:mc>
                                </m:mcs>
                                <m:ctrlPr>
                                  <a:rPr lang="ru-RU" sz="3200" i="1">
                                    <a:solidFill>
                                      <a:srgbClr val="836967"/>
                                    </a:solidFill>
                                    <a:latin typeface="Cambria Math" panose="02040503050406030204" pitchFamily="18" charset="0"/>
                                  </a:rPr>
                                </m:ctrlPr>
                              </m:mPr>
                              <m:mr>
                                <m:e>
                                  <m:sSub>
                                    <m:sSubPr>
                                      <m:ctrlPr>
                                        <a:rPr lang="ru-RU" sz="3200" i="1">
                                          <a:solidFill>
                                            <a:srgbClr val="836967"/>
                                          </a:solidFill>
                                          <a:latin typeface="Cambria Math" panose="02040503050406030204" pitchFamily="18" charset="0"/>
                                        </a:rPr>
                                      </m:ctrlPr>
                                    </m:sSubPr>
                                    <m:e>
                                      <m:r>
                                        <a:rPr lang="ru-RU" sz="3200" i="1">
                                          <a:latin typeface="Cambria Math" panose="02040503050406030204" pitchFamily="18" charset="0"/>
                                        </a:rPr>
                                        <m:t>𝑉</m:t>
                                      </m:r>
                                    </m:e>
                                    <m:sub>
                                      <m:r>
                                        <a:rPr lang="ru-RU" sz="3200" i="0">
                                          <a:latin typeface="Cambria Math" panose="02040503050406030204" pitchFamily="18" charset="0"/>
                                        </a:rPr>
                                        <m:t>1</m:t>
                                      </m:r>
                                    </m:sub>
                                  </m:sSub>
                                </m:e>
                                <m:e>
                                  <m:sSub>
                                    <m:sSubPr>
                                      <m:ctrlPr>
                                        <a:rPr lang="ru-RU" sz="3200" i="1">
                                          <a:solidFill>
                                            <a:srgbClr val="836967"/>
                                          </a:solidFill>
                                          <a:latin typeface="Cambria Math" panose="02040503050406030204" pitchFamily="18" charset="0"/>
                                        </a:rPr>
                                      </m:ctrlPr>
                                    </m:sSubPr>
                                    <m:e>
                                      <m:r>
                                        <a:rPr lang="ru-RU" sz="3200" i="1">
                                          <a:latin typeface="Cambria Math" panose="02040503050406030204" pitchFamily="18" charset="0"/>
                                        </a:rPr>
                                        <m:t>𝑉</m:t>
                                      </m:r>
                                    </m:e>
                                    <m:sub>
                                      <m:r>
                                        <a:rPr lang="ru-RU" sz="3200" i="0">
                                          <a:latin typeface="Cambria Math" panose="02040503050406030204" pitchFamily="18" charset="0"/>
                                        </a:rPr>
                                        <m:t>2</m:t>
                                      </m:r>
                                    </m:sub>
                                  </m:sSub>
                                </m:e>
                                <m:e>
                                  <m:r>
                                    <a:rPr lang="ru-RU" sz="3200" i="0">
                                      <a:latin typeface="Cambria Math" panose="02040503050406030204" pitchFamily="18" charset="0"/>
                                    </a:rPr>
                                    <m:t>⋯</m:t>
                                  </m:r>
                                </m:e>
                                <m:e>
                                  <m:sSub>
                                    <m:sSubPr>
                                      <m:ctrlPr>
                                        <a:rPr lang="ru-RU" sz="3200" i="1">
                                          <a:solidFill>
                                            <a:srgbClr val="836967"/>
                                          </a:solidFill>
                                          <a:latin typeface="Cambria Math" panose="02040503050406030204" pitchFamily="18" charset="0"/>
                                        </a:rPr>
                                      </m:ctrlPr>
                                    </m:sSubPr>
                                    <m:e>
                                      <m:r>
                                        <a:rPr lang="ru-RU" sz="3200" i="1">
                                          <a:latin typeface="Cambria Math" panose="02040503050406030204" pitchFamily="18" charset="0"/>
                                        </a:rPr>
                                        <m:t>𝑉</m:t>
                                      </m:r>
                                    </m:e>
                                    <m:sub>
                                      <m:r>
                                        <a:rPr lang="ru-RU" sz="3200" i="1">
                                          <a:latin typeface="Cambria Math" panose="02040503050406030204" pitchFamily="18" charset="0"/>
                                        </a:rPr>
                                        <m:t>𝑛</m:t>
                                      </m:r>
                                    </m:sub>
                                  </m:sSub>
                                </m:e>
                              </m:mr>
                            </m:m>
                          </m:e>
                        </m:d>
                      </m:e>
                      <m:sup>
                        <m:r>
                          <a:rPr lang="ru-RU" sz="3200" i="1">
                            <a:latin typeface="Cambria Math" panose="02040503050406030204" pitchFamily="18" charset="0"/>
                          </a:rPr>
                          <m:t>𝑇</m:t>
                        </m:r>
                      </m:sup>
                    </m:sSup>
                  </m:oMath>
                </a14:m>
                <a:r>
                  <a:rPr lang="en-US" sz="3200" dirty="0">
                    <a:latin typeface="Times New Roman" panose="02020603050405020304" pitchFamily="18" charset="0"/>
                    <a:cs typeface="Times New Roman" panose="02020603050405020304" pitchFamily="18" charset="0"/>
                  </a:rPr>
                  <a:t>             (5)</a:t>
                </a:r>
                <a:endParaRPr lang="ru-RU" sz="3200" dirty="0">
                  <a:latin typeface="Times New Roman" panose="02020603050405020304" pitchFamily="18" charset="0"/>
                  <a:cs typeface="Times New Roman" panose="02020603050405020304" pitchFamily="18" charset="0"/>
                </a:endParaRPr>
              </a:p>
            </p:txBody>
          </p:sp>
        </mc:Choice>
        <mc:Fallback>
          <p:sp>
            <p:nvSpPr>
              <p:cNvPr id="12" name="TextBox 11">
                <a:extLst>
                  <a:ext uri="{FF2B5EF4-FFF2-40B4-BE49-F238E27FC236}">
                    <a16:creationId xmlns:a16="http://schemas.microsoft.com/office/drawing/2014/main" id="{D359307D-850B-4785-A8E6-AD305BDD1BDD}"/>
                  </a:ext>
                </a:extLst>
              </p:cNvPr>
              <p:cNvSpPr txBox="1">
                <a:spLocks noRot="1" noChangeAspect="1" noMove="1" noResize="1" noEditPoints="1" noAdjustHandles="1" noChangeArrowheads="1" noChangeShapeType="1" noTextEdit="1"/>
              </p:cNvSpPr>
              <p:nvPr/>
            </p:nvSpPr>
            <p:spPr>
              <a:xfrm>
                <a:off x="1200150" y="4972407"/>
                <a:ext cx="10677523" cy="584775"/>
              </a:xfrm>
              <a:prstGeom prst="rect">
                <a:avLst/>
              </a:prstGeom>
              <a:blipFill>
                <a:blip r:embed="rId6"/>
                <a:stretch>
                  <a:fillRect t="-13542" r="-1428" b="-33333"/>
                </a:stretch>
              </a:blipFill>
            </p:spPr>
            <p:txBody>
              <a:bodyPr/>
              <a:lstStyle/>
              <a:p>
                <a:r>
                  <a:rPr lang="ru-RU">
                    <a:noFill/>
                  </a:rPr>
                  <a:t> </a:t>
                </a:r>
              </a:p>
            </p:txBody>
          </p:sp>
        </mc:Fallback>
      </mc:AlternateContent>
    </p:spTree>
    <p:extLst>
      <p:ext uri="{BB962C8B-B14F-4D97-AF65-F5344CB8AC3E}">
        <p14:creationId xmlns:p14="http://schemas.microsoft.com/office/powerpoint/2010/main" val="27551070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E979C45-98D9-4D73-8E2F-12407B3F89FF}"/>
              </a:ext>
            </a:extLst>
          </p:cNvPr>
          <p:cNvSpPr txBox="1">
            <a:spLocks/>
          </p:cNvSpPr>
          <p:nvPr/>
        </p:nvSpPr>
        <p:spPr>
          <a:xfrm>
            <a:off x="285749" y="307976"/>
            <a:ext cx="4905375" cy="4445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ru-RU" sz="3200" b="1" dirty="0">
                <a:latin typeface="Times New Roman" panose="02020603050405020304" pitchFamily="18" charset="0"/>
                <a:cs typeface="Times New Roman" panose="02020603050405020304" pitchFamily="18" charset="0"/>
              </a:rPr>
              <a:t>Алгоритм разложения</a:t>
            </a:r>
          </a:p>
        </p:txBody>
      </p:sp>
      <p:sp>
        <p:nvSpPr>
          <p:cNvPr id="8" name="Блок-схема: узел 7">
            <a:extLst>
              <a:ext uri="{FF2B5EF4-FFF2-40B4-BE49-F238E27FC236}">
                <a16:creationId xmlns:a16="http://schemas.microsoft.com/office/drawing/2014/main" id="{B75D62F4-E2D4-47CA-A0C6-AF12280E04C3}"/>
              </a:ext>
            </a:extLst>
          </p:cNvPr>
          <p:cNvSpPr/>
          <p:nvPr/>
        </p:nvSpPr>
        <p:spPr>
          <a:xfrm>
            <a:off x="11393850" y="6067424"/>
            <a:ext cx="720000" cy="720000"/>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4</a:t>
            </a:r>
            <a:endParaRPr lang="ru-RU"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ED309AAE-FE56-43D1-B389-EFA22B2EDA0E}"/>
                  </a:ext>
                </a:extLst>
              </p:cNvPr>
              <p:cNvSpPr txBox="1"/>
              <p:nvPr/>
            </p:nvSpPr>
            <p:spPr>
              <a:xfrm>
                <a:off x="3494903" y="990600"/>
                <a:ext cx="8249422" cy="2752228"/>
              </a:xfrm>
              <a:prstGeom prst="rect">
                <a:avLst/>
              </a:prstGeom>
              <a:noFill/>
            </p:spPr>
            <p:txBody>
              <a:bodyPr wrap="square" lIns="0" tIns="0" rIns="0" bIns="0" rtlCol="0">
                <a:spAutoFit/>
              </a:bodyPr>
              <a:lstStyle/>
              <a:p>
                <a14:m>
                  <m:oMath xmlns:m="http://schemas.openxmlformats.org/officeDocument/2006/math">
                    <m:r>
                      <a:rPr lang="ru-RU" sz="3200" i="1" smtClean="0"/>
                      <m:t>𝛴</m:t>
                    </m:r>
                    <m:r>
                      <a:rPr lang="ru-RU" sz="3200" i="1" smtClean="0"/>
                      <m:t>=</m:t>
                    </m:r>
                    <m:d>
                      <m:dPr>
                        <m:ctrlPr>
                          <a:rPr lang="ru-RU" sz="3200" i="1" smtClean="0"/>
                        </m:ctrlPr>
                      </m:dPr>
                      <m:e>
                        <m:m>
                          <m:mPr>
                            <m:mcs>
                              <m:mc>
                                <m:mcPr>
                                  <m:count m:val="4"/>
                                  <m:mcJc m:val="center"/>
                                </m:mcPr>
                              </m:mc>
                            </m:mcs>
                            <m:ctrlPr>
                              <a:rPr lang="ru-RU" sz="3200" i="1"/>
                            </m:ctrlPr>
                          </m:mPr>
                          <m:mr>
                            <m:e>
                              <m:rad>
                                <m:radPr>
                                  <m:degHide m:val="on"/>
                                  <m:ctrlPr>
                                    <a:rPr lang="ru-RU" sz="3200" i="1"/>
                                  </m:ctrlPr>
                                </m:radPr>
                                <m:deg/>
                                <m:e>
                                  <m:sSub>
                                    <m:sSubPr>
                                      <m:ctrlPr>
                                        <a:rPr lang="ru-RU" sz="3200" i="1"/>
                                      </m:ctrlPr>
                                    </m:sSubPr>
                                    <m:e>
                                      <m:r>
                                        <a:rPr lang="ru-RU" sz="3200" i="1"/>
                                        <m:t>𝛿</m:t>
                                      </m:r>
                                    </m:e>
                                    <m:sub>
                                      <m:r>
                                        <a:rPr lang="ru-RU" sz="3200" i="1"/>
                                        <m:t>1</m:t>
                                      </m:r>
                                    </m:sub>
                                  </m:sSub>
                                </m:e>
                              </m:rad>
                            </m:e>
                            <m:e>
                              <m:r>
                                <a:rPr lang="ru-RU" sz="3200" i="1"/>
                                <m:t>0</m:t>
                              </m:r>
                            </m:e>
                            <m:e>
                              <m:r>
                                <a:rPr lang="ru-RU" sz="3200" i="1"/>
                                <m:t>⋯</m:t>
                              </m:r>
                            </m:e>
                            <m:e>
                              <m:r>
                                <a:rPr lang="ru-RU" sz="3200" i="1"/>
                                <m:t>0</m:t>
                              </m:r>
                            </m:e>
                          </m:mr>
                          <m:mr>
                            <m:e>
                              <m:r>
                                <a:rPr lang="ru-RU" sz="3200" i="1"/>
                                <m:t>0</m:t>
                              </m:r>
                            </m:e>
                            <m:e>
                              <m:rad>
                                <m:radPr>
                                  <m:degHide m:val="on"/>
                                  <m:ctrlPr>
                                    <a:rPr lang="ru-RU" sz="3200" i="1"/>
                                  </m:ctrlPr>
                                </m:radPr>
                                <m:deg/>
                                <m:e>
                                  <m:sSub>
                                    <m:sSubPr>
                                      <m:ctrlPr>
                                        <a:rPr lang="ru-RU" sz="3200" i="1"/>
                                      </m:ctrlPr>
                                    </m:sSubPr>
                                    <m:e>
                                      <m:r>
                                        <a:rPr lang="ru-RU" sz="3200" i="1"/>
                                        <m:t>𝛿</m:t>
                                      </m:r>
                                    </m:e>
                                    <m:sub>
                                      <m:r>
                                        <a:rPr lang="ru-RU" sz="3200" i="1"/>
                                        <m:t>2</m:t>
                                      </m:r>
                                    </m:sub>
                                  </m:sSub>
                                </m:e>
                              </m:rad>
                            </m:e>
                            <m:e>
                              <m:r>
                                <a:rPr lang="ru-RU" sz="3200" i="1"/>
                                <m:t>⋯</m:t>
                              </m:r>
                            </m:e>
                            <m:e>
                              <m:r>
                                <a:rPr lang="ru-RU" sz="3200" i="1"/>
                                <m:t>0</m:t>
                              </m:r>
                            </m:e>
                          </m:mr>
                          <m:mr>
                            <m:e>
                              <m:r>
                                <a:rPr lang="ru-RU" sz="3200" i="1"/>
                                <m:t>0</m:t>
                              </m:r>
                            </m:e>
                            <m:e>
                              <m:r>
                                <a:rPr lang="ru-RU" sz="3200" i="1"/>
                                <m:t>0</m:t>
                              </m:r>
                            </m:e>
                            <m:e>
                              <m:r>
                                <a:rPr lang="ru-RU" sz="3200" i="1"/>
                                <m:t>⋱</m:t>
                              </m:r>
                            </m:e>
                            <m:e>
                              <m:r>
                                <a:rPr lang="ru-RU" sz="3200" i="1"/>
                                <m:t>0</m:t>
                              </m:r>
                            </m:e>
                          </m:mr>
                          <m:mr>
                            <m:e>
                              <m:r>
                                <a:rPr lang="ru-RU" sz="3200" i="1"/>
                                <m:t>0</m:t>
                              </m:r>
                            </m:e>
                            <m:e>
                              <m:r>
                                <a:rPr lang="ru-RU" sz="3200" i="1"/>
                                <m:t>0</m:t>
                              </m:r>
                            </m:e>
                            <m:e>
                              <m:r>
                                <a:rPr lang="ru-RU" sz="3200" i="1"/>
                                <m:t>⋯</m:t>
                              </m:r>
                            </m:e>
                            <m:e>
                              <m:rad>
                                <m:radPr>
                                  <m:degHide m:val="on"/>
                                  <m:ctrlPr>
                                    <a:rPr lang="ru-RU" sz="3200" i="1"/>
                                  </m:ctrlPr>
                                </m:radPr>
                                <m:deg/>
                                <m:e>
                                  <m:sSub>
                                    <m:sSubPr>
                                      <m:ctrlPr>
                                        <a:rPr lang="ru-RU" sz="3200" i="1"/>
                                      </m:ctrlPr>
                                    </m:sSubPr>
                                    <m:e>
                                      <m:r>
                                        <a:rPr lang="ru-RU" sz="3200" i="1"/>
                                        <m:t>𝛿</m:t>
                                      </m:r>
                                    </m:e>
                                    <m:sub>
                                      <m:r>
                                        <a:rPr lang="ru-RU" sz="3200" i="1"/>
                                        <m:t>𝑛</m:t>
                                      </m:r>
                                    </m:sub>
                                  </m:sSub>
                                </m:e>
                              </m:rad>
                            </m:e>
                          </m:mr>
                          <m:mr>
                            <m:e>
                              <m:r>
                                <a:rPr lang="ru-RU" sz="3200" i="1"/>
                                <m:t>0</m:t>
                              </m:r>
                            </m:e>
                            <m:e>
                              <m:r>
                                <a:rPr lang="ru-RU" sz="3200" i="1"/>
                                <m:t>0</m:t>
                              </m:r>
                            </m:e>
                            <m:e>
                              <m:r>
                                <a:rPr lang="ru-RU" sz="3200" i="1"/>
                                <m:t>⋯</m:t>
                              </m:r>
                            </m:e>
                            <m:e>
                              <m:r>
                                <a:rPr lang="ru-RU" sz="3200" i="1"/>
                                <m:t>0</m:t>
                              </m:r>
                            </m:e>
                          </m:mr>
                        </m:m>
                      </m:e>
                    </m:d>
                  </m:oMath>
                </a14:m>
                <a:r>
                  <a:rPr lang="ru-RU" sz="3200" dirty="0">
                    <a:latin typeface="Times New Roman" panose="02020603050405020304" pitchFamily="18" charset="0"/>
                    <a:cs typeface="Times New Roman" panose="02020603050405020304" pitchFamily="18" charset="0"/>
                  </a:rPr>
                  <a:t>                          (6)</a:t>
                </a:r>
              </a:p>
            </p:txBody>
          </p:sp>
        </mc:Choice>
        <mc:Fallback>
          <p:sp>
            <p:nvSpPr>
              <p:cNvPr id="4" name="TextBox 3">
                <a:extLst>
                  <a:ext uri="{FF2B5EF4-FFF2-40B4-BE49-F238E27FC236}">
                    <a16:creationId xmlns:a16="http://schemas.microsoft.com/office/drawing/2014/main" id="{ED309AAE-FE56-43D1-B389-EFA22B2EDA0E}"/>
                  </a:ext>
                </a:extLst>
              </p:cNvPr>
              <p:cNvSpPr txBox="1">
                <a:spLocks noRot="1" noChangeAspect="1" noMove="1" noResize="1" noEditPoints="1" noAdjustHandles="1" noChangeArrowheads="1" noChangeShapeType="1" noTextEdit="1"/>
              </p:cNvSpPr>
              <p:nvPr/>
            </p:nvSpPr>
            <p:spPr>
              <a:xfrm>
                <a:off x="3494903" y="990600"/>
                <a:ext cx="8249422" cy="2752228"/>
              </a:xfrm>
              <a:prstGeom prst="rect">
                <a:avLst/>
              </a:prstGeom>
              <a:blipFill>
                <a:blip r:embed="rId2"/>
                <a:stretch>
                  <a:fillRect r="-1920"/>
                </a:stretch>
              </a:blipFill>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63FDCEAB-3ADA-4542-B928-C7F14691CEFE}"/>
                  </a:ext>
                </a:extLst>
              </p:cNvPr>
              <p:cNvSpPr txBox="1"/>
              <p:nvPr/>
            </p:nvSpPr>
            <p:spPr>
              <a:xfrm>
                <a:off x="1038224" y="4092652"/>
                <a:ext cx="6096000" cy="539378"/>
              </a:xfrm>
              <a:prstGeom prst="rect">
                <a:avLst/>
              </a:prstGeom>
              <a:noFill/>
            </p:spPr>
            <p:txBody>
              <a:bodyPr wrap="square">
                <a:spAutoFit/>
              </a:bodyPr>
              <a:lstStyle/>
              <a:p>
                <a:pPr algn="just">
                  <a:lnSpc>
                    <a:spcPct val="150000"/>
                  </a:lnSpc>
                  <a:spcAft>
                    <a:spcPts val="800"/>
                  </a:spcAft>
                </a:pPr>
                <a:r>
                  <a:rPr lang="ru-RU" sz="2200" dirty="0">
                    <a:effectLst/>
                    <a:latin typeface="Times New Roman" panose="02020603050405020304" pitchFamily="18" charset="0"/>
                    <a:ea typeface="Times New Roman" panose="02020603050405020304" pitchFamily="18" charset="0"/>
                    <a:cs typeface="Times New Roman" panose="02020603050405020304" pitchFamily="18" charset="0"/>
                  </a:rPr>
                  <a:t>где </a:t>
                </a:r>
                <a14:m>
                  <m:oMath xmlns:m="http://schemas.openxmlformats.org/officeDocument/2006/math">
                    <m:sSub>
                      <m:sSubPr>
                        <m:ctrlPr>
                          <a:rPr lang="ru-RU" sz="2200" i="1">
                            <a:effectLst/>
                            <a:latin typeface="Cambria Math" panose="02040503050406030204" pitchFamily="18" charset="0"/>
                            <a:ea typeface="Cambria Math" panose="02040503050406030204" pitchFamily="18" charset="0"/>
                            <a:cs typeface="Cambria Math" panose="02040503050406030204" pitchFamily="18" charset="0"/>
                          </a:rPr>
                        </m:ctrlPr>
                      </m:sSubPr>
                      <m:e>
                        <m:r>
                          <a:rPr lang="ru-RU" sz="2200" i="1">
                            <a:effectLst/>
                            <a:latin typeface="Cambria Math" panose="02040503050406030204" pitchFamily="18" charset="0"/>
                            <a:ea typeface="Cambria Math" panose="02040503050406030204" pitchFamily="18" charset="0"/>
                            <a:cs typeface="Cambria Math" panose="02040503050406030204" pitchFamily="18" charset="0"/>
                          </a:rPr>
                          <m:t>𝛿</m:t>
                        </m:r>
                      </m:e>
                      <m:sub>
                        <m:r>
                          <a:rPr lang="ru-RU" sz="2200" i="1">
                            <a:effectLst/>
                            <a:latin typeface="Cambria Math" panose="02040503050406030204" pitchFamily="18" charset="0"/>
                            <a:ea typeface="Cambria Math" panose="02040503050406030204" pitchFamily="18" charset="0"/>
                            <a:cs typeface="Cambria Math" panose="02040503050406030204" pitchFamily="18" charset="0"/>
                          </a:rPr>
                          <m:t>𝑖</m:t>
                        </m:r>
                      </m:sub>
                    </m:sSub>
                  </m:oMath>
                </a14:m>
                <a:r>
                  <a:rPr lang="ru-RU" sz="2200" dirty="0">
                    <a:effectLst/>
                    <a:latin typeface="Times New Roman" panose="02020603050405020304" pitchFamily="18" charset="0"/>
                    <a:ea typeface="Times New Roman" panose="02020603050405020304" pitchFamily="18" charset="0"/>
                    <a:cs typeface="Times New Roman" panose="02020603050405020304" pitchFamily="18" charset="0"/>
                  </a:rPr>
                  <a:t> – собственные числа.</a:t>
                </a:r>
                <a:endParaRPr lang="ru-RU" sz="2200" dirty="0">
                  <a:effectLst/>
                  <a:latin typeface="Times New Roman" panose="02020603050405020304" pitchFamily="18" charset="0"/>
                  <a:ea typeface="Calibri" panose="020F0502020204030204" pitchFamily="34" charset="0"/>
                  <a:cs typeface="Times New Roman" panose="02020603050405020304" pitchFamily="18" charset="0"/>
                </a:endParaRPr>
              </a:p>
            </p:txBody>
          </p:sp>
        </mc:Choice>
        <mc:Fallback>
          <p:sp>
            <p:nvSpPr>
              <p:cNvPr id="11" name="TextBox 10">
                <a:extLst>
                  <a:ext uri="{FF2B5EF4-FFF2-40B4-BE49-F238E27FC236}">
                    <a16:creationId xmlns:a16="http://schemas.microsoft.com/office/drawing/2014/main" id="{63FDCEAB-3ADA-4542-B928-C7F14691CEFE}"/>
                  </a:ext>
                </a:extLst>
              </p:cNvPr>
              <p:cNvSpPr txBox="1">
                <a:spLocks noRot="1" noChangeAspect="1" noMove="1" noResize="1" noEditPoints="1" noAdjustHandles="1" noChangeArrowheads="1" noChangeShapeType="1" noTextEdit="1"/>
              </p:cNvSpPr>
              <p:nvPr/>
            </p:nvSpPr>
            <p:spPr>
              <a:xfrm>
                <a:off x="1038224" y="4092652"/>
                <a:ext cx="6096000" cy="539378"/>
              </a:xfrm>
              <a:prstGeom prst="rect">
                <a:avLst/>
              </a:prstGeom>
              <a:blipFill>
                <a:blip r:embed="rId3"/>
                <a:stretch>
                  <a:fillRect l="-1300" b="-22472"/>
                </a:stretch>
              </a:blipFill>
            </p:spPr>
            <p:txBody>
              <a:bodyPr/>
              <a:lstStyle/>
              <a:p>
                <a:r>
                  <a:rPr lang="ru-RU">
                    <a:noFill/>
                  </a:rPr>
                  <a:t> </a:t>
                </a:r>
              </a:p>
            </p:txBody>
          </p:sp>
        </mc:Fallback>
      </mc:AlternateContent>
    </p:spTree>
    <p:extLst>
      <p:ext uri="{BB962C8B-B14F-4D97-AF65-F5344CB8AC3E}">
        <p14:creationId xmlns:p14="http://schemas.microsoft.com/office/powerpoint/2010/main" val="39980738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2B0B32E-90AE-4322-B74F-86418474CEAD}"/>
              </a:ext>
            </a:extLst>
          </p:cNvPr>
          <p:cNvSpPr txBox="1">
            <a:spLocks/>
          </p:cNvSpPr>
          <p:nvPr/>
        </p:nvSpPr>
        <p:spPr>
          <a:xfrm>
            <a:off x="285750" y="307976"/>
            <a:ext cx="1762126" cy="4445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ru-RU" sz="3200" b="1" dirty="0">
                <a:latin typeface="Times New Roman" panose="02020603050405020304" pitchFamily="18" charset="0"/>
                <a:cs typeface="Times New Roman" panose="02020603050405020304" pitchFamily="18" charset="0"/>
              </a:rPr>
              <a:t>Пример</a:t>
            </a:r>
          </a:p>
        </p:txBody>
      </p:sp>
      <p:sp>
        <p:nvSpPr>
          <p:cNvPr id="3" name="Блок-схема: узел 2">
            <a:extLst>
              <a:ext uri="{FF2B5EF4-FFF2-40B4-BE49-F238E27FC236}">
                <a16:creationId xmlns:a16="http://schemas.microsoft.com/office/drawing/2014/main" id="{85499A46-5EC4-4E27-8BB9-863D471F0E31}"/>
              </a:ext>
            </a:extLst>
          </p:cNvPr>
          <p:cNvSpPr/>
          <p:nvPr/>
        </p:nvSpPr>
        <p:spPr>
          <a:xfrm>
            <a:off x="11393850" y="6067424"/>
            <a:ext cx="720000" cy="720000"/>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solidFill>
                  <a:schemeClr val="tx1"/>
                </a:solidFill>
                <a:latin typeface="Times New Roman" panose="02020603050405020304" pitchFamily="18" charset="0"/>
                <a:cs typeface="Times New Roman" panose="02020603050405020304" pitchFamily="18" charset="0"/>
              </a:rPr>
              <a:t>5</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027264BE-ACE3-4DB0-9982-1914900E3411}"/>
                  </a:ext>
                </a:extLst>
              </p:cNvPr>
              <p:cNvSpPr txBox="1"/>
              <p:nvPr/>
            </p:nvSpPr>
            <p:spPr>
              <a:xfrm>
                <a:off x="-52388" y="752476"/>
                <a:ext cx="12296776" cy="1880643"/>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lang="ru-RU" sz="2200" i="1" smtClean="0">
                          <a:latin typeface="Cambria Math" panose="02040503050406030204" pitchFamily="18" charset="0"/>
                        </a:rPr>
                        <m:t>𝐴</m:t>
                      </m:r>
                      <m:r>
                        <a:rPr lang="ru-RU" sz="2200" i="0">
                          <a:latin typeface="Cambria Math" panose="02040503050406030204" pitchFamily="18" charset="0"/>
                        </a:rPr>
                        <m:t>=</m:t>
                      </m:r>
                      <m:d>
                        <m:dPr>
                          <m:ctrlPr>
                            <a:rPr lang="ru-RU" sz="2200" i="1">
                              <a:solidFill>
                                <a:srgbClr val="836967"/>
                              </a:solidFill>
                              <a:latin typeface="Cambria Math" panose="02040503050406030204" pitchFamily="18" charset="0"/>
                            </a:rPr>
                          </m:ctrlPr>
                        </m:dPr>
                        <m:e>
                          <m:m>
                            <m:mPr>
                              <m:plcHide m:val="on"/>
                              <m:mcs>
                                <m:mc>
                                  <m:mcPr>
                                    <m:count m:val="2"/>
                                    <m:mcJc m:val="center"/>
                                  </m:mcPr>
                                </m:mc>
                              </m:mcs>
                              <m:ctrlPr>
                                <a:rPr lang="ru-RU" sz="2200" i="1">
                                  <a:solidFill>
                                    <a:srgbClr val="836967"/>
                                  </a:solidFill>
                                  <a:latin typeface="Cambria Math" panose="02040503050406030204" pitchFamily="18" charset="0"/>
                                </a:rPr>
                              </m:ctrlPr>
                            </m:mPr>
                            <m:mr>
                              <m:e>
                                <m:r>
                                  <a:rPr lang="ru-RU" sz="2200" i="0">
                                    <a:latin typeface="Cambria Math" panose="02040503050406030204" pitchFamily="18" charset="0"/>
                                  </a:rPr>
                                  <m:t>1</m:t>
                                </m:r>
                              </m:e>
                              <m:e>
                                <m:r>
                                  <a:rPr lang="ru-RU" sz="2200" i="0">
                                    <a:latin typeface="Cambria Math" panose="02040503050406030204" pitchFamily="18" charset="0"/>
                                  </a:rPr>
                                  <m:t>0</m:t>
                                </m:r>
                              </m:e>
                            </m:mr>
                            <m:mr>
                              <m:e>
                                <m:r>
                                  <a:rPr lang="ru-RU" sz="2200" i="0">
                                    <a:latin typeface="Cambria Math" panose="02040503050406030204" pitchFamily="18" charset="0"/>
                                  </a:rPr>
                                  <m:t>0</m:t>
                                </m:r>
                              </m:e>
                              <m:e>
                                <m:r>
                                  <a:rPr lang="ru-RU" sz="2200" i="0">
                                    <a:latin typeface="Cambria Math" panose="02040503050406030204" pitchFamily="18" charset="0"/>
                                  </a:rPr>
                                  <m:t>1</m:t>
                                </m:r>
                              </m:e>
                            </m:mr>
                            <m:mr>
                              <m:e>
                                <m:r>
                                  <a:rPr lang="ru-RU" sz="2200" i="0">
                                    <a:latin typeface="Cambria Math" panose="02040503050406030204" pitchFamily="18" charset="0"/>
                                  </a:rPr>
                                  <m:t>2</m:t>
                                </m:r>
                              </m:e>
                              <m:e>
                                <m:r>
                                  <a:rPr lang="ru-RU" sz="2200" i="0">
                                    <a:latin typeface="Cambria Math" panose="02040503050406030204" pitchFamily="18" charset="0"/>
                                  </a:rPr>
                                  <m:t>2</m:t>
                                </m:r>
                              </m:e>
                            </m:mr>
                          </m:m>
                        </m:e>
                      </m:d>
                    </m:oMath>
                  </m:oMathPara>
                </a14:m>
                <a:endParaRPr lang="ru-RU" sz="2200" i="1" dirty="0">
                  <a:latin typeface="Cambria Math" panose="02040503050406030204" pitchFamily="18" charset="0"/>
                </a:endParaRPr>
              </a:p>
              <a:p>
                <a14:m>
                  <m:oMathPara xmlns:m="http://schemas.openxmlformats.org/officeDocument/2006/math">
                    <m:oMathParaPr>
                      <m:jc m:val="centerGroup"/>
                    </m:oMathParaPr>
                    <m:oMath xmlns:m="http://schemas.openxmlformats.org/officeDocument/2006/math">
                      <m:sSub>
                        <m:sSubPr>
                          <m:ctrlPr>
                            <a:rPr lang="ru-RU" sz="2200" i="1"/>
                          </m:ctrlPr>
                        </m:sSubPr>
                        <m:e>
                          <m:r>
                            <a:rPr lang="en-US" sz="2200" i="1"/>
                            <m:t>𝐴</m:t>
                          </m:r>
                        </m:e>
                        <m:sub>
                          <m:r>
                            <a:rPr lang="ru-RU" sz="2200" i="1"/>
                            <m:t>𝑟</m:t>
                          </m:r>
                        </m:sub>
                      </m:sSub>
                      <m:r>
                        <a:rPr lang="ru-RU" sz="2200" i="1"/>
                        <m:t>=</m:t>
                      </m:r>
                      <m:sSup>
                        <m:sSupPr>
                          <m:ctrlPr>
                            <a:rPr lang="ru-RU" sz="2200" i="1"/>
                          </m:ctrlPr>
                        </m:sSupPr>
                        <m:e>
                          <m:r>
                            <a:rPr lang="ru-RU" sz="2200" i="1"/>
                            <m:t>𝐴</m:t>
                          </m:r>
                        </m:e>
                        <m:sup>
                          <m:r>
                            <a:rPr lang="ru-RU" sz="2200" i="1"/>
                            <m:t>𝑇</m:t>
                          </m:r>
                        </m:sup>
                      </m:sSup>
                      <m:r>
                        <a:rPr lang="ru-RU" sz="2200" i="1"/>
                        <m:t>𝐴</m:t>
                      </m:r>
                      <m:r>
                        <a:rPr lang="ru-RU" sz="2200" i="1"/>
                        <m:t>=</m:t>
                      </m:r>
                      <m:d>
                        <m:dPr>
                          <m:ctrlPr>
                            <a:rPr lang="ru-RU" sz="2200" i="1"/>
                          </m:ctrlPr>
                        </m:dPr>
                        <m:e>
                          <m:m>
                            <m:mPr>
                              <m:mcs>
                                <m:mc>
                                  <m:mcPr>
                                    <m:count m:val="3"/>
                                    <m:mcJc m:val="center"/>
                                  </m:mcPr>
                                </m:mc>
                              </m:mcs>
                              <m:ctrlPr>
                                <a:rPr lang="ru-RU" sz="2200" i="1"/>
                              </m:ctrlPr>
                            </m:mPr>
                            <m:mr>
                              <m:e>
                                <m:r>
                                  <a:rPr lang="ru-RU" sz="2200" i="1"/>
                                  <m:t>1</m:t>
                                </m:r>
                              </m:e>
                              <m:e>
                                <m:r>
                                  <a:rPr lang="ru-RU" sz="2200" i="1"/>
                                  <m:t>0</m:t>
                                </m:r>
                              </m:e>
                              <m:e>
                                <m:r>
                                  <a:rPr lang="ru-RU" sz="2200" i="1"/>
                                  <m:t>2</m:t>
                                </m:r>
                              </m:e>
                            </m:mr>
                            <m:mr>
                              <m:e>
                                <m:r>
                                  <a:rPr lang="ru-RU" sz="2200" i="1"/>
                                  <m:t>0</m:t>
                                </m:r>
                              </m:e>
                              <m:e>
                                <m:r>
                                  <a:rPr lang="ru-RU" sz="2200" i="1"/>
                                  <m:t>1</m:t>
                                </m:r>
                              </m:e>
                              <m:e>
                                <m:r>
                                  <a:rPr lang="ru-RU" sz="2200" i="1"/>
                                  <m:t>2</m:t>
                                </m:r>
                              </m:e>
                            </m:mr>
                          </m:m>
                        </m:e>
                      </m:d>
                      <m:d>
                        <m:dPr>
                          <m:ctrlPr>
                            <a:rPr lang="ru-RU" sz="2200" i="1"/>
                          </m:ctrlPr>
                        </m:dPr>
                        <m:e>
                          <m:m>
                            <m:mPr>
                              <m:mcs>
                                <m:mc>
                                  <m:mcPr>
                                    <m:count m:val="2"/>
                                    <m:mcJc m:val="center"/>
                                  </m:mcPr>
                                </m:mc>
                              </m:mcs>
                              <m:ctrlPr>
                                <a:rPr lang="ru-RU" sz="2200" i="1"/>
                              </m:ctrlPr>
                            </m:mPr>
                            <m:mr>
                              <m:e>
                                <m:r>
                                  <a:rPr lang="en-US" sz="2200" i="1"/>
                                  <m:t>1</m:t>
                                </m:r>
                              </m:e>
                              <m:e>
                                <m:r>
                                  <a:rPr lang="en-US" sz="2200" i="1"/>
                                  <m:t>0</m:t>
                                </m:r>
                              </m:e>
                            </m:mr>
                            <m:mr>
                              <m:e>
                                <m:r>
                                  <a:rPr lang="en-US" sz="2200" i="1"/>
                                  <m:t>0</m:t>
                                </m:r>
                              </m:e>
                              <m:e>
                                <m:r>
                                  <a:rPr lang="en-US" sz="2200" i="1"/>
                                  <m:t>1</m:t>
                                </m:r>
                              </m:e>
                            </m:mr>
                            <m:mr>
                              <m:e>
                                <m:r>
                                  <a:rPr lang="en-US" sz="2200" i="1"/>
                                  <m:t>2</m:t>
                                </m:r>
                              </m:e>
                              <m:e>
                                <m:r>
                                  <a:rPr lang="en-US" sz="2200" i="1"/>
                                  <m:t>2</m:t>
                                </m:r>
                              </m:e>
                            </m:mr>
                          </m:m>
                        </m:e>
                      </m:d>
                      <m:r>
                        <a:rPr lang="en-US" sz="2200" i="1"/>
                        <m:t>=</m:t>
                      </m:r>
                      <m:d>
                        <m:dPr>
                          <m:ctrlPr>
                            <a:rPr lang="ru-RU" sz="2200" i="1"/>
                          </m:ctrlPr>
                        </m:dPr>
                        <m:e>
                          <m:m>
                            <m:mPr>
                              <m:mcs>
                                <m:mc>
                                  <m:mcPr>
                                    <m:count m:val="2"/>
                                    <m:mcJc m:val="center"/>
                                  </m:mcPr>
                                </m:mc>
                              </m:mcs>
                              <m:ctrlPr>
                                <a:rPr lang="ru-RU" sz="2200" i="1"/>
                              </m:ctrlPr>
                            </m:mPr>
                            <m:mr>
                              <m:e>
                                <m:r>
                                  <a:rPr lang="en-US" sz="2200" i="1"/>
                                  <m:t>5</m:t>
                                </m:r>
                              </m:e>
                              <m:e>
                                <m:r>
                                  <a:rPr lang="en-US" sz="2200" i="1"/>
                                  <m:t>4</m:t>
                                </m:r>
                              </m:e>
                            </m:mr>
                            <m:mr>
                              <m:e>
                                <m:r>
                                  <a:rPr lang="en-US" sz="2200" i="1"/>
                                  <m:t>4</m:t>
                                </m:r>
                              </m:e>
                              <m:e>
                                <m:r>
                                  <a:rPr lang="en-US" sz="2200" i="1"/>
                                  <m:t>5</m:t>
                                </m:r>
                              </m:e>
                            </m:mr>
                          </m:m>
                        </m:e>
                      </m:d>
                      <m:r>
                        <a:rPr lang="ru-RU" sz="2200" b="0" i="1" smtClean="0">
                          <a:latin typeface="Cambria Math" panose="02040503050406030204" pitchFamily="18" charset="0"/>
                        </a:rPr>
                        <m:t>       </m:t>
                      </m:r>
                      <m:sSub>
                        <m:sSubPr>
                          <m:ctrlPr>
                            <a:rPr lang="ru-RU" sz="2200" i="1"/>
                          </m:ctrlPr>
                        </m:sSubPr>
                        <m:e>
                          <m:r>
                            <a:rPr lang="en-US" sz="2200" i="1"/>
                            <m:t>𝐴</m:t>
                          </m:r>
                        </m:e>
                        <m:sub>
                          <m:r>
                            <a:rPr lang="ru-RU" sz="2200" i="1"/>
                            <m:t>𝑙</m:t>
                          </m:r>
                        </m:sub>
                      </m:sSub>
                      <m:r>
                        <a:rPr lang="ru-RU" sz="2200" i="1"/>
                        <m:t>=</m:t>
                      </m:r>
                      <m:r>
                        <a:rPr lang="ru-RU" sz="2200" i="1"/>
                        <m:t>𝐴</m:t>
                      </m:r>
                      <m:sSup>
                        <m:sSupPr>
                          <m:ctrlPr>
                            <a:rPr lang="ru-RU" sz="2200" i="1"/>
                          </m:ctrlPr>
                        </m:sSupPr>
                        <m:e>
                          <m:r>
                            <a:rPr lang="ru-RU" sz="2200" i="1"/>
                            <m:t>𝐴</m:t>
                          </m:r>
                        </m:e>
                        <m:sup>
                          <m:r>
                            <a:rPr lang="ru-RU" sz="2200" i="1"/>
                            <m:t>𝑇</m:t>
                          </m:r>
                        </m:sup>
                      </m:sSup>
                      <m:r>
                        <a:rPr lang="ru-RU" sz="2200" i="1"/>
                        <m:t>=</m:t>
                      </m:r>
                      <m:d>
                        <m:dPr>
                          <m:ctrlPr>
                            <a:rPr lang="ru-RU" sz="2200" i="1"/>
                          </m:ctrlPr>
                        </m:dPr>
                        <m:e>
                          <m:m>
                            <m:mPr>
                              <m:mcs>
                                <m:mc>
                                  <m:mcPr>
                                    <m:count m:val="2"/>
                                    <m:mcJc m:val="center"/>
                                  </m:mcPr>
                                </m:mc>
                              </m:mcs>
                              <m:ctrlPr>
                                <a:rPr lang="ru-RU" sz="2200" i="1"/>
                              </m:ctrlPr>
                            </m:mPr>
                            <m:mr>
                              <m:e>
                                <m:r>
                                  <a:rPr lang="en-US" sz="2200" i="1"/>
                                  <m:t>1</m:t>
                                </m:r>
                              </m:e>
                              <m:e>
                                <m:r>
                                  <a:rPr lang="en-US" sz="2200" i="1"/>
                                  <m:t>0</m:t>
                                </m:r>
                              </m:e>
                            </m:mr>
                            <m:mr>
                              <m:e>
                                <m:r>
                                  <a:rPr lang="en-US" sz="2200" i="1"/>
                                  <m:t>0</m:t>
                                </m:r>
                              </m:e>
                              <m:e>
                                <m:r>
                                  <a:rPr lang="en-US" sz="2200" i="1"/>
                                  <m:t>1</m:t>
                                </m:r>
                              </m:e>
                            </m:mr>
                            <m:mr>
                              <m:e>
                                <m:r>
                                  <a:rPr lang="en-US" sz="2200" i="1"/>
                                  <m:t>2</m:t>
                                </m:r>
                              </m:e>
                              <m:e>
                                <m:r>
                                  <a:rPr lang="en-US" sz="2200" i="1"/>
                                  <m:t>2</m:t>
                                </m:r>
                              </m:e>
                            </m:mr>
                          </m:m>
                        </m:e>
                      </m:d>
                      <m:d>
                        <m:dPr>
                          <m:ctrlPr>
                            <a:rPr lang="ru-RU" sz="2200" i="1"/>
                          </m:ctrlPr>
                        </m:dPr>
                        <m:e>
                          <m:m>
                            <m:mPr>
                              <m:mcs>
                                <m:mc>
                                  <m:mcPr>
                                    <m:count m:val="3"/>
                                    <m:mcJc m:val="center"/>
                                  </m:mcPr>
                                </m:mc>
                              </m:mcs>
                              <m:ctrlPr>
                                <a:rPr lang="ru-RU" sz="2200" i="1"/>
                              </m:ctrlPr>
                            </m:mPr>
                            <m:mr>
                              <m:e>
                                <m:r>
                                  <a:rPr lang="ru-RU" sz="2200" i="1"/>
                                  <m:t>1</m:t>
                                </m:r>
                              </m:e>
                              <m:e>
                                <m:r>
                                  <a:rPr lang="ru-RU" sz="2200" i="1"/>
                                  <m:t>0</m:t>
                                </m:r>
                              </m:e>
                              <m:e>
                                <m:r>
                                  <a:rPr lang="ru-RU" sz="2200" i="1"/>
                                  <m:t>2</m:t>
                                </m:r>
                              </m:e>
                            </m:mr>
                            <m:mr>
                              <m:e>
                                <m:r>
                                  <a:rPr lang="ru-RU" sz="2200" i="1"/>
                                  <m:t>0</m:t>
                                </m:r>
                              </m:e>
                              <m:e>
                                <m:r>
                                  <a:rPr lang="ru-RU" sz="2200" i="1"/>
                                  <m:t>1</m:t>
                                </m:r>
                              </m:e>
                              <m:e>
                                <m:r>
                                  <a:rPr lang="ru-RU" sz="2200" i="1"/>
                                  <m:t>2</m:t>
                                </m:r>
                              </m:e>
                            </m:mr>
                          </m:m>
                        </m:e>
                      </m:d>
                      <m:r>
                        <a:rPr lang="ru-RU" sz="2200" i="1"/>
                        <m:t>=</m:t>
                      </m:r>
                      <m:d>
                        <m:dPr>
                          <m:ctrlPr>
                            <a:rPr lang="ru-RU" sz="2200" i="1"/>
                          </m:ctrlPr>
                        </m:dPr>
                        <m:e>
                          <m:m>
                            <m:mPr>
                              <m:mcs>
                                <m:mc>
                                  <m:mcPr>
                                    <m:count m:val="3"/>
                                    <m:mcJc m:val="center"/>
                                  </m:mcPr>
                                </m:mc>
                              </m:mcs>
                              <m:ctrlPr>
                                <a:rPr lang="ru-RU" sz="2200" i="1"/>
                              </m:ctrlPr>
                            </m:mPr>
                            <m:mr>
                              <m:e>
                                <m:r>
                                  <a:rPr lang="ru-RU" sz="2200" i="1"/>
                                  <m:t>1</m:t>
                                </m:r>
                              </m:e>
                              <m:e>
                                <m:r>
                                  <a:rPr lang="ru-RU" sz="2200" i="1"/>
                                  <m:t>0</m:t>
                                </m:r>
                              </m:e>
                              <m:e>
                                <m:r>
                                  <a:rPr lang="ru-RU" sz="2200" i="1"/>
                                  <m:t>2</m:t>
                                </m:r>
                              </m:e>
                            </m:mr>
                            <m:mr>
                              <m:e>
                                <m:r>
                                  <a:rPr lang="ru-RU" sz="2200" i="1"/>
                                  <m:t>0</m:t>
                                </m:r>
                              </m:e>
                              <m:e>
                                <m:r>
                                  <a:rPr lang="ru-RU" sz="2200" i="1"/>
                                  <m:t>1</m:t>
                                </m:r>
                              </m:e>
                              <m:e>
                                <m:r>
                                  <a:rPr lang="ru-RU" sz="2200" i="1"/>
                                  <m:t>2</m:t>
                                </m:r>
                              </m:e>
                            </m:mr>
                            <m:mr>
                              <m:e>
                                <m:r>
                                  <a:rPr lang="ru-RU" sz="2200" i="1"/>
                                  <m:t>2</m:t>
                                </m:r>
                              </m:e>
                              <m:e>
                                <m:r>
                                  <a:rPr lang="ru-RU" sz="2200" i="1"/>
                                  <m:t>2</m:t>
                                </m:r>
                              </m:e>
                              <m:e>
                                <m:r>
                                  <a:rPr lang="ru-RU" sz="2200" i="1"/>
                                  <m:t>8</m:t>
                                </m:r>
                              </m:e>
                            </m:mr>
                          </m:m>
                        </m:e>
                      </m:d>
                    </m:oMath>
                  </m:oMathPara>
                </a14:m>
                <a:endParaRPr lang="ru-RU" sz="2200" dirty="0"/>
              </a:p>
            </p:txBody>
          </p:sp>
        </mc:Choice>
        <mc:Fallback>
          <p:sp>
            <p:nvSpPr>
              <p:cNvPr id="5" name="TextBox 4">
                <a:extLst>
                  <a:ext uri="{FF2B5EF4-FFF2-40B4-BE49-F238E27FC236}">
                    <a16:creationId xmlns:a16="http://schemas.microsoft.com/office/drawing/2014/main" id="{027264BE-ACE3-4DB0-9982-1914900E3411}"/>
                  </a:ext>
                </a:extLst>
              </p:cNvPr>
              <p:cNvSpPr txBox="1">
                <a:spLocks noRot="1" noChangeAspect="1" noMove="1" noResize="1" noEditPoints="1" noAdjustHandles="1" noChangeArrowheads="1" noChangeShapeType="1" noTextEdit="1"/>
              </p:cNvSpPr>
              <p:nvPr/>
            </p:nvSpPr>
            <p:spPr>
              <a:xfrm>
                <a:off x="-52388" y="752476"/>
                <a:ext cx="12296776" cy="1880643"/>
              </a:xfrm>
              <a:prstGeom prst="rect">
                <a:avLst/>
              </a:prstGeom>
              <a:blipFill>
                <a:blip r:embed="rId2"/>
                <a:stretch>
                  <a:fillRect/>
                </a:stretch>
              </a:blipFill>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7A4CC383-D16C-49F1-BAB3-C295B868832E}"/>
                  </a:ext>
                </a:extLst>
              </p:cNvPr>
              <p:cNvSpPr txBox="1"/>
              <p:nvPr/>
            </p:nvSpPr>
            <p:spPr>
              <a:xfrm>
                <a:off x="790572" y="2745683"/>
                <a:ext cx="10610849" cy="66377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ru-RU" sz="2200" i="1" smtClean="0">
                              <a:solidFill>
                                <a:srgbClr val="836967"/>
                              </a:solidFill>
                              <a:latin typeface="Cambria Math" panose="02040503050406030204" pitchFamily="18" charset="0"/>
                            </a:rPr>
                          </m:ctrlPr>
                        </m:dPr>
                        <m:e>
                          <m:sSub>
                            <m:sSubPr>
                              <m:ctrlPr>
                                <a:rPr lang="ru-RU" sz="2200" i="1">
                                  <a:solidFill>
                                    <a:srgbClr val="836967"/>
                                  </a:solidFill>
                                  <a:latin typeface="Cambria Math" panose="02040503050406030204" pitchFamily="18" charset="0"/>
                                </a:rPr>
                              </m:ctrlPr>
                            </m:sSubPr>
                            <m:e>
                              <m:r>
                                <a:rPr lang="ru-RU" sz="2200" i="1">
                                  <a:latin typeface="Cambria Math" panose="02040503050406030204" pitchFamily="18" charset="0"/>
                                </a:rPr>
                                <m:t>𝐴</m:t>
                              </m:r>
                            </m:e>
                            <m:sub>
                              <m:r>
                                <a:rPr lang="ru-RU" sz="2200" i="1">
                                  <a:latin typeface="Cambria Math" panose="02040503050406030204" pitchFamily="18" charset="0"/>
                                </a:rPr>
                                <m:t>𝑟</m:t>
                              </m:r>
                            </m:sub>
                          </m:sSub>
                          <m:r>
                            <a:rPr lang="ru-RU" sz="2200" i="0">
                              <a:latin typeface="Cambria Math" panose="02040503050406030204" pitchFamily="18" charset="0"/>
                            </a:rPr>
                            <m:t> −</m:t>
                          </m:r>
                          <m:r>
                            <a:rPr lang="ru-RU" sz="2200" i="1">
                              <a:latin typeface="Cambria Math" panose="02040503050406030204" pitchFamily="18" charset="0"/>
                            </a:rPr>
                            <m:t>𝜆𝛪</m:t>
                          </m:r>
                        </m:e>
                      </m:d>
                      <m:r>
                        <a:rPr lang="ru-RU" sz="2200" i="0">
                          <a:latin typeface="Cambria Math" panose="02040503050406030204" pitchFamily="18" charset="0"/>
                        </a:rPr>
                        <m:t>=0</m:t>
                      </m:r>
                      <m:r>
                        <a:rPr lang="ru-RU" sz="2200" b="0" i="0" smtClean="0">
                          <a:latin typeface="Cambria Math" panose="02040503050406030204" pitchFamily="18" charset="0"/>
                        </a:rPr>
                        <m:t>   </m:t>
                      </m:r>
                      <m:d>
                        <m:dPr>
                          <m:begChr m:val="|"/>
                          <m:endChr m:val="|"/>
                          <m:ctrlPr>
                            <a:rPr lang="ru-RU" sz="2200" i="1"/>
                          </m:ctrlPr>
                        </m:dPr>
                        <m:e>
                          <m:m>
                            <m:mPr>
                              <m:mcs>
                                <m:mc>
                                  <m:mcPr>
                                    <m:count m:val="2"/>
                                    <m:mcJc m:val="center"/>
                                  </m:mcPr>
                                </m:mc>
                              </m:mcs>
                              <m:ctrlPr>
                                <a:rPr lang="ru-RU" sz="2200" i="1"/>
                              </m:ctrlPr>
                            </m:mPr>
                            <m:mr>
                              <m:e>
                                <m:r>
                                  <a:rPr lang="ru-RU" sz="2200" i="1"/>
                                  <m:t>5−</m:t>
                                </m:r>
                                <m:r>
                                  <a:rPr lang="ru-RU" sz="2200" i="1"/>
                                  <m:t>𝜆</m:t>
                                </m:r>
                              </m:e>
                              <m:e>
                                <m:r>
                                  <a:rPr lang="ru-RU" sz="2200" i="1"/>
                                  <m:t>4</m:t>
                                </m:r>
                              </m:e>
                            </m:mr>
                            <m:mr>
                              <m:e>
                                <m:r>
                                  <a:rPr lang="ru-RU" sz="2200" i="1"/>
                                  <m:t>4</m:t>
                                </m:r>
                              </m:e>
                              <m:e>
                                <m:r>
                                  <a:rPr lang="ru-RU" sz="2200" i="1"/>
                                  <m:t>5−</m:t>
                                </m:r>
                                <m:r>
                                  <a:rPr lang="ru-RU" sz="2200" i="1"/>
                                  <m:t>𝜆</m:t>
                                </m:r>
                              </m:e>
                            </m:mr>
                          </m:m>
                        </m:e>
                      </m:d>
                      <m:r>
                        <a:rPr lang="ru-RU" sz="2200" i="1"/>
                        <m:t>=</m:t>
                      </m:r>
                      <m:sSup>
                        <m:sSupPr>
                          <m:ctrlPr>
                            <a:rPr lang="ru-RU" sz="2200" i="1"/>
                          </m:ctrlPr>
                        </m:sSupPr>
                        <m:e>
                          <m:d>
                            <m:dPr>
                              <m:ctrlPr>
                                <a:rPr lang="ru-RU" sz="2200" i="1"/>
                              </m:ctrlPr>
                            </m:dPr>
                            <m:e>
                              <m:r>
                                <a:rPr lang="ru-RU" sz="2200" i="1"/>
                                <m:t>5−</m:t>
                              </m:r>
                              <m:r>
                                <a:rPr lang="ru-RU" sz="2200" i="1"/>
                                <m:t>𝜆</m:t>
                              </m:r>
                            </m:e>
                          </m:d>
                        </m:e>
                        <m:sup>
                          <m:r>
                            <a:rPr lang="ru-RU" sz="2200" i="1"/>
                            <m:t>2</m:t>
                          </m:r>
                        </m:sup>
                      </m:sSup>
                      <m:r>
                        <a:rPr lang="ru-RU" sz="2200" i="1"/>
                        <m:t>−16=</m:t>
                      </m:r>
                      <m:sSup>
                        <m:sSupPr>
                          <m:ctrlPr>
                            <a:rPr lang="ru-RU" sz="2200" i="1"/>
                          </m:ctrlPr>
                        </m:sSupPr>
                        <m:e>
                          <m:r>
                            <a:rPr lang="ru-RU" sz="2200" i="1"/>
                            <m:t>𝜆</m:t>
                          </m:r>
                        </m:e>
                        <m:sup>
                          <m:r>
                            <a:rPr lang="ru-RU" sz="2200" i="1"/>
                            <m:t>2</m:t>
                          </m:r>
                        </m:sup>
                      </m:sSup>
                      <m:r>
                        <a:rPr lang="ru-RU" sz="2200" i="1"/>
                        <m:t>−10</m:t>
                      </m:r>
                      <m:r>
                        <a:rPr lang="ru-RU" sz="2200" i="1"/>
                        <m:t>𝜆</m:t>
                      </m:r>
                      <m:r>
                        <a:rPr lang="ru-RU" sz="2200" i="1"/>
                        <m:t>+9=</m:t>
                      </m:r>
                      <m:d>
                        <m:dPr>
                          <m:ctrlPr>
                            <a:rPr lang="ru-RU" sz="2200" i="1"/>
                          </m:ctrlPr>
                        </m:dPr>
                        <m:e>
                          <m:r>
                            <a:rPr lang="ru-RU" sz="2200" i="1"/>
                            <m:t>𝜆</m:t>
                          </m:r>
                          <m:r>
                            <a:rPr lang="ru-RU" sz="2200" i="1"/>
                            <m:t>−9</m:t>
                          </m:r>
                        </m:e>
                      </m:d>
                      <m:d>
                        <m:dPr>
                          <m:ctrlPr>
                            <a:rPr lang="ru-RU" sz="2200" i="1"/>
                          </m:ctrlPr>
                        </m:dPr>
                        <m:e>
                          <m:r>
                            <a:rPr lang="ru-RU" sz="2200" i="1"/>
                            <m:t>𝜆</m:t>
                          </m:r>
                          <m:r>
                            <a:rPr lang="ru-RU" sz="2200" i="1"/>
                            <m:t>−1</m:t>
                          </m:r>
                        </m:e>
                      </m:d>
                    </m:oMath>
                  </m:oMathPara>
                </a14:m>
                <a:endParaRPr lang="ru-RU" sz="2200" dirty="0"/>
              </a:p>
            </p:txBody>
          </p:sp>
        </mc:Choice>
        <mc:Fallback>
          <p:sp>
            <p:nvSpPr>
              <p:cNvPr id="7" name="TextBox 6">
                <a:extLst>
                  <a:ext uri="{FF2B5EF4-FFF2-40B4-BE49-F238E27FC236}">
                    <a16:creationId xmlns:a16="http://schemas.microsoft.com/office/drawing/2014/main" id="{7A4CC383-D16C-49F1-BAB3-C295B868832E}"/>
                  </a:ext>
                </a:extLst>
              </p:cNvPr>
              <p:cNvSpPr txBox="1">
                <a:spLocks noRot="1" noChangeAspect="1" noMove="1" noResize="1" noEditPoints="1" noAdjustHandles="1" noChangeArrowheads="1" noChangeShapeType="1" noTextEdit="1"/>
              </p:cNvSpPr>
              <p:nvPr/>
            </p:nvSpPr>
            <p:spPr>
              <a:xfrm>
                <a:off x="790572" y="2745683"/>
                <a:ext cx="10610849" cy="663771"/>
              </a:xfrm>
              <a:prstGeom prst="rect">
                <a:avLst/>
              </a:prstGeom>
              <a:blipFill>
                <a:blip r:embed="rId3"/>
                <a:stretch>
                  <a:fillRect/>
                </a:stretch>
              </a:blipFill>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FEBD4667-315C-49E0-AD1B-6B80D35452C3}"/>
                  </a:ext>
                </a:extLst>
              </p:cNvPr>
              <p:cNvSpPr txBox="1"/>
              <p:nvPr/>
            </p:nvSpPr>
            <p:spPr>
              <a:xfrm>
                <a:off x="3019421" y="3522018"/>
                <a:ext cx="6153150"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ru-RU" sz="2200" i="1" smtClean="0">
                              <a:solidFill>
                                <a:srgbClr val="836967"/>
                              </a:solidFill>
                              <a:latin typeface="Cambria Math" panose="02040503050406030204" pitchFamily="18" charset="0"/>
                            </a:rPr>
                          </m:ctrlPr>
                        </m:sSubPr>
                        <m:e>
                          <m:r>
                            <a:rPr lang="ru-RU" sz="2200" i="1">
                              <a:latin typeface="Cambria Math" panose="02040503050406030204" pitchFamily="18" charset="0"/>
                            </a:rPr>
                            <m:t>𝐴</m:t>
                          </m:r>
                        </m:e>
                        <m:sub>
                          <m:r>
                            <a:rPr lang="ru-RU" sz="2200" i="1">
                              <a:latin typeface="Cambria Math" panose="02040503050406030204" pitchFamily="18" charset="0"/>
                            </a:rPr>
                            <m:t>𝑟</m:t>
                          </m:r>
                        </m:sub>
                      </m:sSub>
                      <m:r>
                        <a:rPr lang="ru-RU" sz="2200" i="1">
                          <a:latin typeface="Cambria Math" panose="02040503050406030204" pitchFamily="18" charset="0"/>
                        </a:rPr>
                        <m:t>𝑥</m:t>
                      </m:r>
                      <m:r>
                        <a:rPr lang="ru-RU" sz="2200" i="0">
                          <a:latin typeface="Cambria Math" panose="02040503050406030204" pitchFamily="18" charset="0"/>
                        </a:rPr>
                        <m:t>=</m:t>
                      </m:r>
                      <m:sSub>
                        <m:sSubPr>
                          <m:ctrlPr>
                            <a:rPr lang="ru-RU" sz="2200" i="1">
                              <a:solidFill>
                                <a:srgbClr val="836967"/>
                              </a:solidFill>
                              <a:latin typeface="Cambria Math" panose="02040503050406030204" pitchFamily="18" charset="0"/>
                            </a:rPr>
                          </m:ctrlPr>
                        </m:sSubPr>
                        <m:e>
                          <m:r>
                            <a:rPr lang="ru-RU" sz="2200" i="1">
                              <a:latin typeface="Cambria Math" panose="02040503050406030204" pitchFamily="18" charset="0"/>
                            </a:rPr>
                            <m:t>𝜆</m:t>
                          </m:r>
                        </m:e>
                        <m:sub>
                          <m:r>
                            <a:rPr lang="ru-RU" sz="2200" i="1">
                              <a:latin typeface="Cambria Math" panose="02040503050406030204" pitchFamily="18" charset="0"/>
                            </a:rPr>
                            <m:t>𝑖</m:t>
                          </m:r>
                        </m:sub>
                      </m:sSub>
                      <m:r>
                        <a:rPr lang="ru-RU" sz="2200" i="1">
                          <a:latin typeface="Cambria Math" panose="02040503050406030204" pitchFamily="18" charset="0"/>
                        </a:rPr>
                        <m:t>𝑥</m:t>
                      </m:r>
                      <m:r>
                        <a:rPr lang="ru-RU" sz="2200" i="0">
                          <a:latin typeface="Cambria Math" panose="02040503050406030204" pitchFamily="18" charset="0"/>
                        </a:rPr>
                        <m:t>→</m:t>
                      </m:r>
                      <m:sSub>
                        <m:sSubPr>
                          <m:ctrlPr>
                            <a:rPr lang="ru-RU" sz="2200" i="1">
                              <a:solidFill>
                                <a:srgbClr val="836967"/>
                              </a:solidFill>
                              <a:latin typeface="Cambria Math" panose="02040503050406030204" pitchFamily="18" charset="0"/>
                            </a:rPr>
                          </m:ctrlPr>
                        </m:sSubPr>
                        <m:e>
                          <m:r>
                            <a:rPr lang="ru-RU" sz="2200" i="1">
                              <a:latin typeface="Cambria Math" panose="02040503050406030204" pitchFamily="18" charset="0"/>
                            </a:rPr>
                            <m:t>𝐴</m:t>
                          </m:r>
                        </m:e>
                        <m:sub>
                          <m:r>
                            <a:rPr lang="ru-RU" sz="2200" i="1">
                              <a:latin typeface="Cambria Math" panose="02040503050406030204" pitchFamily="18" charset="0"/>
                            </a:rPr>
                            <m:t>𝑟</m:t>
                          </m:r>
                        </m:sub>
                      </m:sSub>
                      <m:r>
                        <a:rPr lang="ru-RU" sz="2200" i="1">
                          <a:latin typeface="Cambria Math" panose="02040503050406030204" pitchFamily="18" charset="0"/>
                        </a:rPr>
                        <m:t>𝑥</m:t>
                      </m:r>
                      <m:r>
                        <a:rPr lang="ru-RU" sz="2200" i="0">
                          <a:latin typeface="Cambria Math" panose="02040503050406030204" pitchFamily="18" charset="0"/>
                        </a:rPr>
                        <m:t>−</m:t>
                      </m:r>
                      <m:sSub>
                        <m:sSubPr>
                          <m:ctrlPr>
                            <a:rPr lang="ru-RU" sz="2200" i="1">
                              <a:solidFill>
                                <a:srgbClr val="836967"/>
                              </a:solidFill>
                              <a:latin typeface="Cambria Math" panose="02040503050406030204" pitchFamily="18" charset="0"/>
                            </a:rPr>
                          </m:ctrlPr>
                        </m:sSubPr>
                        <m:e>
                          <m:r>
                            <a:rPr lang="ru-RU" sz="2200" i="1">
                              <a:latin typeface="Cambria Math" panose="02040503050406030204" pitchFamily="18" charset="0"/>
                            </a:rPr>
                            <m:t>𝜆</m:t>
                          </m:r>
                        </m:e>
                        <m:sub>
                          <m:r>
                            <a:rPr lang="ru-RU" sz="2200" i="1">
                              <a:latin typeface="Cambria Math" panose="02040503050406030204" pitchFamily="18" charset="0"/>
                            </a:rPr>
                            <m:t>𝑖</m:t>
                          </m:r>
                        </m:sub>
                      </m:sSub>
                      <m:r>
                        <a:rPr lang="ru-RU" sz="2200" i="1">
                          <a:latin typeface="Cambria Math" panose="02040503050406030204" pitchFamily="18" charset="0"/>
                        </a:rPr>
                        <m:t>𝑥</m:t>
                      </m:r>
                      <m:r>
                        <a:rPr lang="ru-RU" sz="2200" i="0">
                          <a:latin typeface="Cambria Math" panose="02040503050406030204" pitchFamily="18" charset="0"/>
                        </a:rPr>
                        <m:t>=0→</m:t>
                      </m:r>
                      <m:d>
                        <m:dPr>
                          <m:ctrlPr>
                            <a:rPr lang="ru-RU" sz="2200" i="1">
                              <a:solidFill>
                                <a:srgbClr val="836967"/>
                              </a:solidFill>
                              <a:latin typeface="Cambria Math" panose="02040503050406030204" pitchFamily="18" charset="0"/>
                            </a:rPr>
                          </m:ctrlPr>
                        </m:dPr>
                        <m:e>
                          <m:sSub>
                            <m:sSubPr>
                              <m:ctrlPr>
                                <a:rPr lang="ru-RU" sz="2200" i="1">
                                  <a:solidFill>
                                    <a:srgbClr val="836967"/>
                                  </a:solidFill>
                                  <a:latin typeface="Cambria Math" panose="02040503050406030204" pitchFamily="18" charset="0"/>
                                </a:rPr>
                              </m:ctrlPr>
                            </m:sSubPr>
                            <m:e>
                              <m:r>
                                <a:rPr lang="ru-RU" sz="2200" i="1">
                                  <a:latin typeface="Cambria Math" panose="02040503050406030204" pitchFamily="18" charset="0"/>
                                </a:rPr>
                                <m:t>𝐴</m:t>
                              </m:r>
                            </m:e>
                            <m:sub>
                              <m:r>
                                <a:rPr lang="ru-RU" sz="2200" i="1">
                                  <a:latin typeface="Cambria Math" panose="02040503050406030204" pitchFamily="18" charset="0"/>
                                </a:rPr>
                                <m:t>𝑟</m:t>
                              </m:r>
                            </m:sub>
                          </m:sSub>
                          <m:r>
                            <a:rPr lang="ru-RU" sz="2200" i="0">
                              <a:latin typeface="Cambria Math" panose="02040503050406030204" pitchFamily="18" charset="0"/>
                            </a:rPr>
                            <m:t>−</m:t>
                          </m:r>
                          <m:sSub>
                            <m:sSubPr>
                              <m:ctrlPr>
                                <a:rPr lang="ru-RU" sz="2200" i="1">
                                  <a:solidFill>
                                    <a:srgbClr val="836967"/>
                                  </a:solidFill>
                                  <a:latin typeface="Cambria Math" panose="02040503050406030204" pitchFamily="18" charset="0"/>
                                </a:rPr>
                              </m:ctrlPr>
                            </m:sSubPr>
                            <m:e>
                              <m:r>
                                <a:rPr lang="ru-RU" sz="2200" i="1">
                                  <a:latin typeface="Cambria Math" panose="02040503050406030204" pitchFamily="18" charset="0"/>
                                </a:rPr>
                                <m:t>𝜆</m:t>
                              </m:r>
                            </m:e>
                            <m:sub>
                              <m:r>
                                <a:rPr lang="ru-RU" sz="2200" i="1">
                                  <a:latin typeface="Cambria Math" panose="02040503050406030204" pitchFamily="18" charset="0"/>
                                </a:rPr>
                                <m:t>𝑖</m:t>
                              </m:r>
                            </m:sub>
                          </m:sSub>
                        </m:e>
                      </m:d>
                      <m:r>
                        <a:rPr lang="ru-RU" sz="2200" i="1">
                          <a:latin typeface="Cambria Math" panose="02040503050406030204" pitchFamily="18" charset="0"/>
                        </a:rPr>
                        <m:t>𝑥</m:t>
                      </m:r>
                      <m:r>
                        <a:rPr lang="ru-RU" sz="2200" i="0">
                          <a:latin typeface="Cambria Math" panose="02040503050406030204" pitchFamily="18" charset="0"/>
                        </a:rPr>
                        <m:t>=0</m:t>
                      </m:r>
                    </m:oMath>
                  </m:oMathPara>
                </a14:m>
                <a:endParaRPr lang="ru-RU" sz="2200" dirty="0"/>
              </a:p>
            </p:txBody>
          </p:sp>
        </mc:Choice>
        <mc:Fallback>
          <p:sp>
            <p:nvSpPr>
              <p:cNvPr id="9" name="TextBox 8">
                <a:extLst>
                  <a:ext uri="{FF2B5EF4-FFF2-40B4-BE49-F238E27FC236}">
                    <a16:creationId xmlns:a16="http://schemas.microsoft.com/office/drawing/2014/main" id="{FEBD4667-315C-49E0-AD1B-6B80D35452C3}"/>
                  </a:ext>
                </a:extLst>
              </p:cNvPr>
              <p:cNvSpPr txBox="1">
                <a:spLocks noRot="1" noChangeAspect="1" noMove="1" noResize="1" noEditPoints="1" noAdjustHandles="1" noChangeArrowheads="1" noChangeShapeType="1" noTextEdit="1"/>
              </p:cNvSpPr>
              <p:nvPr/>
            </p:nvSpPr>
            <p:spPr>
              <a:xfrm>
                <a:off x="3019421" y="3522018"/>
                <a:ext cx="6153150" cy="430887"/>
              </a:xfrm>
              <a:prstGeom prst="rect">
                <a:avLst/>
              </a:prstGeom>
              <a:blipFill>
                <a:blip r:embed="rId4"/>
                <a:stretch>
                  <a:fillRect b="-2857"/>
                </a:stretch>
              </a:blipFill>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ADE20128-4D80-4289-9DD0-A89A7E3FDCC2}"/>
                  </a:ext>
                </a:extLst>
              </p:cNvPr>
              <p:cNvSpPr txBox="1"/>
              <p:nvPr/>
            </p:nvSpPr>
            <p:spPr>
              <a:xfrm>
                <a:off x="242883" y="4048997"/>
                <a:ext cx="11706225" cy="867673"/>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d>
                        <m:dPr>
                          <m:ctrlPr>
                            <a:rPr lang="ru-RU" sz="2200" i="1" smtClean="0">
                              <a:solidFill>
                                <a:srgbClr val="836967"/>
                              </a:solidFill>
                              <a:latin typeface="Cambria Math" panose="02040503050406030204" pitchFamily="18" charset="0"/>
                            </a:rPr>
                          </m:ctrlPr>
                        </m:dPr>
                        <m:e>
                          <m:m>
                            <m:mPr>
                              <m:plcHide m:val="on"/>
                              <m:mcs>
                                <m:mc>
                                  <m:mcPr>
                                    <m:count m:val="2"/>
                                    <m:mcJc m:val="center"/>
                                  </m:mcPr>
                                </m:mc>
                              </m:mcs>
                              <m:ctrlPr>
                                <a:rPr lang="ru-RU" sz="2200" i="1">
                                  <a:solidFill>
                                    <a:srgbClr val="836967"/>
                                  </a:solidFill>
                                  <a:latin typeface="Cambria Math" panose="02040503050406030204" pitchFamily="18" charset="0"/>
                                </a:rPr>
                              </m:ctrlPr>
                            </m:mPr>
                            <m:mr>
                              <m:e>
                                <m:r>
                                  <a:rPr lang="ru-RU" sz="2200">
                                    <a:latin typeface="Cambria Math" panose="02040503050406030204" pitchFamily="18" charset="0"/>
                                  </a:rPr>
                                  <m:t>5</m:t>
                                </m:r>
                              </m:e>
                              <m:e>
                                <m:r>
                                  <a:rPr lang="ru-RU" sz="2200" i="0">
                                    <a:latin typeface="Cambria Math" panose="02040503050406030204" pitchFamily="18" charset="0"/>
                                  </a:rPr>
                                  <m:t>4</m:t>
                                </m:r>
                              </m:e>
                            </m:mr>
                            <m:mr>
                              <m:e>
                                <m:r>
                                  <a:rPr lang="ru-RU" sz="2200" i="0">
                                    <a:latin typeface="Cambria Math" panose="02040503050406030204" pitchFamily="18" charset="0"/>
                                  </a:rPr>
                                  <m:t>4</m:t>
                                </m:r>
                              </m:e>
                              <m:e>
                                <m:r>
                                  <a:rPr lang="ru-RU" sz="2200" i="0">
                                    <a:latin typeface="Cambria Math" panose="02040503050406030204" pitchFamily="18" charset="0"/>
                                  </a:rPr>
                                  <m:t>5</m:t>
                                </m:r>
                              </m:e>
                            </m:mr>
                          </m:m>
                        </m:e>
                      </m:d>
                      <m:r>
                        <a:rPr lang="ru-RU" sz="2200" i="0">
                          <a:latin typeface="Cambria Math" panose="02040503050406030204" pitchFamily="18" charset="0"/>
                        </a:rPr>
                        <m:t>−</m:t>
                      </m:r>
                      <m:d>
                        <m:dPr>
                          <m:ctrlPr>
                            <a:rPr lang="ru-RU" sz="2200" i="1">
                              <a:solidFill>
                                <a:srgbClr val="836967"/>
                              </a:solidFill>
                              <a:latin typeface="Cambria Math" panose="02040503050406030204" pitchFamily="18" charset="0"/>
                            </a:rPr>
                          </m:ctrlPr>
                        </m:dPr>
                        <m:e>
                          <m:m>
                            <m:mPr>
                              <m:plcHide m:val="on"/>
                              <m:mcs>
                                <m:mc>
                                  <m:mcPr>
                                    <m:count m:val="2"/>
                                    <m:mcJc m:val="center"/>
                                  </m:mcPr>
                                </m:mc>
                              </m:mcs>
                              <m:ctrlPr>
                                <a:rPr lang="ru-RU" sz="2200" i="1">
                                  <a:solidFill>
                                    <a:srgbClr val="836967"/>
                                  </a:solidFill>
                                  <a:latin typeface="Cambria Math" panose="02040503050406030204" pitchFamily="18" charset="0"/>
                                </a:rPr>
                              </m:ctrlPr>
                            </m:mPr>
                            <m:mr>
                              <m:e>
                                <m:r>
                                  <a:rPr lang="ru-RU" sz="2200" i="0">
                                    <a:latin typeface="Cambria Math" panose="02040503050406030204" pitchFamily="18" charset="0"/>
                                  </a:rPr>
                                  <m:t>9</m:t>
                                </m:r>
                              </m:e>
                              <m:e>
                                <m:r>
                                  <a:rPr lang="ru-RU" sz="2200" i="0">
                                    <a:latin typeface="Cambria Math" panose="02040503050406030204" pitchFamily="18" charset="0"/>
                                  </a:rPr>
                                  <m:t>0</m:t>
                                </m:r>
                              </m:e>
                            </m:mr>
                            <m:mr>
                              <m:e>
                                <m:r>
                                  <a:rPr lang="ru-RU" sz="2200" i="0">
                                    <a:latin typeface="Cambria Math" panose="02040503050406030204" pitchFamily="18" charset="0"/>
                                  </a:rPr>
                                  <m:t>0</m:t>
                                </m:r>
                              </m:e>
                              <m:e>
                                <m:r>
                                  <a:rPr lang="ru-RU" sz="2200" i="0">
                                    <a:latin typeface="Cambria Math" panose="02040503050406030204" pitchFamily="18" charset="0"/>
                                  </a:rPr>
                                  <m:t>9</m:t>
                                </m:r>
                              </m:e>
                            </m:mr>
                          </m:m>
                        </m:e>
                      </m:d>
                      <m:d>
                        <m:dPr>
                          <m:ctrlPr>
                            <a:rPr lang="ru-RU" sz="2200" i="1">
                              <a:solidFill>
                                <a:srgbClr val="836967"/>
                              </a:solidFill>
                              <a:latin typeface="Cambria Math" panose="02040503050406030204" pitchFamily="18" charset="0"/>
                            </a:rPr>
                          </m:ctrlPr>
                        </m:dPr>
                        <m:e>
                          <m:m>
                            <m:mPr>
                              <m:plcHide m:val="on"/>
                              <m:mcs>
                                <m:mc>
                                  <m:mcPr>
                                    <m:count m:val="1"/>
                                    <m:mcJc m:val="center"/>
                                  </m:mcPr>
                                </m:mc>
                              </m:mcs>
                              <m:ctrlPr>
                                <a:rPr lang="ru-RU" sz="2200" i="1">
                                  <a:solidFill>
                                    <a:srgbClr val="836967"/>
                                  </a:solidFill>
                                  <a:latin typeface="Cambria Math" panose="02040503050406030204" pitchFamily="18" charset="0"/>
                                </a:rPr>
                              </m:ctrlPr>
                            </m:mPr>
                            <m:mr>
                              <m:e>
                                <m:sSub>
                                  <m:sSubPr>
                                    <m:ctrlPr>
                                      <a:rPr lang="ru-RU" sz="2200" i="1">
                                        <a:solidFill>
                                          <a:srgbClr val="836967"/>
                                        </a:solidFill>
                                        <a:latin typeface="Cambria Math" panose="02040503050406030204" pitchFamily="18" charset="0"/>
                                      </a:rPr>
                                    </m:ctrlPr>
                                  </m:sSubPr>
                                  <m:e>
                                    <m:r>
                                      <a:rPr lang="ru-RU" sz="2200" i="1">
                                        <a:latin typeface="Cambria Math" panose="02040503050406030204" pitchFamily="18" charset="0"/>
                                      </a:rPr>
                                      <m:t>𝑥</m:t>
                                    </m:r>
                                  </m:e>
                                  <m:sub>
                                    <m:r>
                                      <a:rPr lang="ru-RU" sz="2200" i="0">
                                        <a:latin typeface="Cambria Math" panose="02040503050406030204" pitchFamily="18" charset="0"/>
                                      </a:rPr>
                                      <m:t>1</m:t>
                                    </m:r>
                                  </m:sub>
                                </m:sSub>
                              </m:e>
                            </m:mr>
                            <m:mr>
                              <m:e>
                                <m:sSub>
                                  <m:sSubPr>
                                    <m:ctrlPr>
                                      <a:rPr lang="ru-RU" sz="2200" i="1">
                                        <a:solidFill>
                                          <a:srgbClr val="836967"/>
                                        </a:solidFill>
                                        <a:latin typeface="Cambria Math" panose="02040503050406030204" pitchFamily="18" charset="0"/>
                                      </a:rPr>
                                    </m:ctrlPr>
                                  </m:sSubPr>
                                  <m:e>
                                    <m:r>
                                      <a:rPr lang="ru-RU" sz="2200" i="1">
                                        <a:latin typeface="Cambria Math" panose="02040503050406030204" pitchFamily="18" charset="0"/>
                                      </a:rPr>
                                      <m:t>𝑥</m:t>
                                    </m:r>
                                  </m:e>
                                  <m:sub>
                                    <m:r>
                                      <a:rPr lang="ru-RU" sz="2200" i="0">
                                        <a:latin typeface="Cambria Math" panose="02040503050406030204" pitchFamily="18" charset="0"/>
                                      </a:rPr>
                                      <m:t>2</m:t>
                                    </m:r>
                                  </m:sub>
                                </m:sSub>
                              </m:e>
                            </m:mr>
                          </m:m>
                        </m:e>
                      </m:d>
                      <m:r>
                        <a:rPr lang="ru-RU" sz="2200" i="0">
                          <a:latin typeface="Cambria Math" panose="02040503050406030204" pitchFamily="18" charset="0"/>
                        </a:rPr>
                        <m:t>=0→</m:t>
                      </m:r>
                      <m:d>
                        <m:dPr>
                          <m:ctrlPr>
                            <a:rPr lang="ru-RU" sz="2200" i="1">
                              <a:solidFill>
                                <a:srgbClr val="836967"/>
                              </a:solidFill>
                              <a:latin typeface="Cambria Math" panose="02040503050406030204" pitchFamily="18" charset="0"/>
                            </a:rPr>
                          </m:ctrlPr>
                        </m:dPr>
                        <m:e>
                          <m:m>
                            <m:mPr>
                              <m:plcHide m:val="on"/>
                              <m:mcs>
                                <m:mc>
                                  <m:mcPr>
                                    <m:count m:val="2"/>
                                    <m:mcJc m:val="center"/>
                                  </m:mcPr>
                                </m:mc>
                              </m:mcs>
                              <m:ctrlPr>
                                <a:rPr lang="ru-RU" sz="2200" i="1">
                                  <a:solidFill>
                                    <a:srgbClr val="836967"/>
                                  </a:solidFill>
                                  <a:latin typeface="Cambria Math" panose="02040503050406030204" pitchFamily="18" charset="0"/>
                                </a:rPr>
                              </m:ctrlPr>
                            </m:mPr>
                            <m:mr>
                              <m:e>
                                <m:r>
                                  <a:rPr lang="ru-RU" sz="2200" i="0">
                                    <a:latin typeface="Cambria Math" panose="02040503050406030204" pitchFamily="18" charset="0"/>
                                  </a:rPr>
                                  <m:t>−4</m:t>
                                </m:r>
                              </m:e>
                              <m:e>
                                <m:r>
                                  <a:rPr lang="ru-RU" sz="2200" i="0">
                                    <a:latin typeface="Cambria Math" panose="02040503050406030204" pitchFamily="18" charset="0"/>
                                  </a:rPr>
                                  <m:t>4</m:t>
                                </m:r>
                              </m:e>
                            </m:mr>
                            <m:mr>
                              <m:e>
                                <m:r>
                                  <a:rPr lang="ru-RU" sz="2200" i="0">
                                    <a:latin typeface="Cambria Math" panose="02040503050406030204" pitchFamily="18" charset="0"/>
                                  </a:rPr>
                                  <m:t>4</m:t>
                                </m:r>
                              </m:e>
                              <m:e>
                                <m:r>
                                  <a:rPr lang="ru-RU" sz="2200" i="0">
                                    <a:latin typeface="Cambria Math" panose="02040503050406030204" pitchFamily="18" charset="0"/>
                                  </a:rPr>
                                  <m:t>−4</m:t>
                                </m:r>
                              </m:e>
                            </m:mr>
                          </m:m>
                        </m:e>
                      </m:d>
                      <m:d>
                        <m:dPr>
                          <m:ctrlPr>
                            <a:rPr lang="ru-RU" sz="2200" i="1">
                              <a:solidFill>
                                <a:srgbClr val="836967"/>
                              </a:solidFill>
                              <a:latin typeface="Cambria Math" panose="02040503050406030204" pitchFamily="18" charset="0"/>
                            </a:rPr>
                          </m:ctrlPr>
                        </m:dPr>
                        <m:e>
                          <m:m>
                            <m:mPr>
                              <m:plcHide m:val="on"/>
                              <m:mcs>
                                <m:mc>
                                  <m:mcPr>
                                    <m:count m:val="1"/>
                                    <m:mcJc m:val="center"/>
                                  </m:mcPr>
                                </m:mc>
                              </m:mcs>
                              <m:ctrlPr>
                                <a:rPr lang="ru-RU" sz="2200" i="1">
                                  <a:solidFill>
                                    <a:srgbClr val="836967"/>
                                  </a:solidFill>
                                  <a:latin typeface="Cambria Math" panose="02040503050406030204" pitchFamily="18" charset="0"/>
                                </a:rPr>
                              </m:ctrlPr>
                            </m:mPr>
                            <m:mr>
                              <m:e>
                                <m:sSub>
                                  <m:sSubPr>
                                    <m:ctrlPr>
                                      <a:rPr lang="ru-RU" sz="2200" i="1">
                                        <a:solidFill>
                                          <a:srgbClr val="836967"/>
                                        </a:solidFill>
                                        <a:latin typeface="Cambria Math" panose="02040503050406030204" pitchFamily="18" charset="0"/>
                                      </a:rPr>
                                    </m:ctrlPr>
                                  </m:sSubPr>
                                  <m:e>
                                    <m:r>
                                      <a:rPr lang="ru-RU" sz="2200" i="1">
                                        <a:latin typeface="Cambria Math" panose="02040503050406030204" pitchFamily="18" charset="0"/>
                                      </a:rPr>
                                      <m:t>𝑥</m:t>
                                    </m:r>
                                  </m:e>
                                  <m:sub>
                                    <m:r>
                                      <a:rPr lang="ru-RU" sz="2200" i="0">
                                        <a:latin typeface="Cambria Math" panose="02040503050406030204" pitchFamily="18" charset="0"/>
                                      </a:rPr>
                                      <m:t>1</m:t>
                                    </m:r>
                                  </m:sub>
                                </m:sSub>
                              </m:e>
                            </m:mr>
                            <m:mr>
                              <m:e>
                                <m:sSub>
                                  <m:sSubPr>
                                    <m:ctrlPr>
                                      <a:rPr lang="ru-RU" sz="2200" i="1">
                                        <a:solidFill>
                                          <a:srgbClr val="836967"/>
                                        </a:solidFill>
                                        <a:latin typeface="Cambria Math" panose="02040503050406030204" pitchFamily="18" charset="0"/>
                                      </a:rPr>
                                    </m:ctrlPr>
                                  </m:sSubPr>
                                  <m:e>
                                    <m:r>
                                      <a:rPr lang="ru-RU" sz="2200" i="1">
                                        <a:latin typeface="Cambria Math" panose="02040503050406030204" pitchFamily="18" charset="0"/>
                                      </a:rPr>
                                      <m:t>𝑥</m:t>
                                    </m:r>
                                  </m:e>
                                  <m:sub>
                                    <m:r>
                                      <a:rPr lang="ru-RU" sz="2200" i="0">
                                        <a:latin typeface="Cambria Math" panose="02040503050406030204" pitchFamily="18" charset="0"/>
                                      </a:rPr>
                                      <m:t>2</m:t>
                                    </m:r>
                                  </m:sub>
                                </m:sSub>
                              </m:e>
                            </m:mr>
                          </m:m>
                        </m:e>
                      </m:d>
                      <m:r>
                        <a:rPr lang="ru-RU" sz="2200" i="0">
                          <a:latin typeface="Cambria Math" panose="02040503050406030204" pitchFamily="18" charset="0"/>
                        </a:rPr>
                        <m:t>=0</m:t>
                      </m:r>
                      <m:r>
                        <a:rPr lang="ru-RU" sz="2200" b="0" i="0" smtClean="0">
                          <a:latin typeface="Cambria Math" panose="02040503050406030204" pitchFamily="18" charset="0"/>
                        </a:rPr>
                        <m:t>     </m:t>
                      </m:r>
                      <m:sSub>
                        <m:sSubPr>
                          <m:ctrlPr>
                            <a:rPr lang="ru-RU" sz="2200" i="1"/>
                          </m:ctrlPr>
                        </m:sSubPr>
                        <m:e>
                          <m:r>
                            <a:rPr lang="ru-RU" sz="2200" i="1"/>
                            <m:t>𝑉</m:t>
                          </m:r>
                        </m:e>
                        <m:sub>
                          <m:r>
                            <a:rPr lang="ru-RU" sz="2200" i="1"/>
                            <m:t>𝜆</m:t>
                          </m:r>
                          <m:r>
                            <a:rPr lang="ru-RU" sz="2200" i="1"/>
                            <m:t>=9</m:t>
                          </m:r>
                        </m:sub>
                      </m:sSub>
                      <m:r>
                        <a:rPr lang="ru-RU" sz="2200" i="1"/>
                        <m:t>=</m:t>
                      </m:r>
                      <m:d>
                        <m:dPr>
                          <m:ctrlPr>
                            <a:rPr lang="ru-RU" sz="2200" i="1"/>
                          </m:ctrlPr>
                        </m:dPr>
                        <m:e>
                          <m:m>
                            <m:mPr>
                              <m:mcs>
                                <m:mc>
                                  <m:mcPr>
                                    <m:count m:val="1"/>
                                    <m:mcJc m:val="center"/>
                                  </m:mcPr>
                                </m:mc>
                              </m:mcs>
                              <m:ctrlPr>
                                <a:rPr lang="ru-RU" sz="2200" i="1"/>
                              </m:ctrlPr>
                            </m:mPr>
                            <m:mr>
                              <m:e>
                                <m:f>
                                  <m:fPr>
                                    <m:type m:val="lin"/>
                                    <m:ctrlPr>
                                      <a:rPr lang="ru-RU" sz="2200" i="1"/>
                                    </m:ctrlPr>
                                  </m:fPr>
                                  <m:num>
                                    <m:r>
                                      <a:rPr lang="ru-RU" sz="2200" i="1"/>
                                      <m:t>1</m:t>
                                    </m:r>
                                  </m:num>
                                  <m:den>
                                    <m:rad>
                                      <m:radPr>
                                        <m:degHide m:val="on"/>
                                        <m:ctrlPr>
                                          <a:rPr lang="ru-RU" sz="2200" i="1"/>
                                        </m:ctrlPr>
                                      </m:radPr>
                                      <m:deg/>
                                      <m:e>
                                        <m:r>
                                          <a:rPr lang="ru-RU" sz="2200" i="1"/>
                                          <m:t>2</m:t>
                                        </m:r>
                                      </m:e>
                                    </m:rad>
                                  </m:den>
                                </m:f>
                              </m:e>
                            </m:mr>
                            <m:mr>
                              <m:e>
                                <m:f>
                                  <m:fPr>
                                    <m:type m:val="lin"/>
                                    <m:ctrlPr>
                                      <a:rPr lang="ru-RU" sz="2200" i="1"/>
                                    </m:ctrlPr>
                                  </m:fPr>
                                  <m:num>
                                    <m:r>
                                      <a:rPr lang="ru-RU" sz="2200" i="1"/>
                                      <m:t>1</m:t>
                                    </m:r>
                                  </m:num>
                                  <m:den>
                                    <m:rad>
                                      <m:radPr>
                                        <m:degHide m:val="on"/>
                                        <m:ctrlPr>
                                          <a:rPr lang="ru-RU" sz="2200" i="1"/>
                                        </m:ctrlPr>
                                      </m:radPr>
                                      <m:deg/>
                                      <m:e>
                                        <m:r>
                                          <a:rPr lang="ru-RU" sz="2200" i="1"/>
                                          <m:t>2</m:t>
                                        </m:r>
                                      </m:e>
                                    </m:rad>
                                  </m:den>
                                </m:f>
                              </m:e>
                            </m:mr>
                          </m:m>
                        </m:e>
                      </m:d>
                    </m:oMath>
                  </m:oMathPara>
                </a14:m>
                <a:endParaRPr lang="ru-RU" sz="2200" dirty="0"/>
              </a:p>
            </p:txBody>
          </p:sp>
        </mc:Choice>
        <mc:Fallback>
          <p:sp>
            <p:nvSpPr>
              <p:cNvPr id="11" name="TextBox 10">
                <a:extLst>
                  <a:ext uri="{FF2B5EF4-FFF2-40B4-BE49-F238E27FC236}">
                    <a16:creationId xmlns:a16="http://schemas.microsoft.com/office/drawing/2014/main" id="{ADE20128-4D80-4289-9DD0-A89A7E3FDCC2}"/>
                  </a:ext>
                </a:extLst>
              </p:cNvPr>
              <p:cNvSpPr txBox="1">
                <a:spLocks noRot="1" noChangeAspect="1" noMove="1" noResize="1" noEditPoints="1" noAdjustHandles="1" noChangeArrowheads="1" noChangeShapeType="1" noTextEdit="1"/>
              </p:cNvSpPr>
              <p:nvPr/>
            </p:nvSpPr>
            <p:spPr>
              <a:xfrm>
                <a:off x="242883" y="4048997"/>
                <a:ext cx="11706225" cy="867673"/>
              </a:xfrm>
              <a:prstGeom prst="rect">
                <a:avLst/>
              </a:prstGeom>
              <a:blipFill>
                <a:blip r:embed="rId5"/>
                <a:stretch>
                  <a:fillRect/>
                </a:stretch>
              </a:blipFill>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283CF99A-D5A8-45E1-A58F-76372FEA096B}"/>
                  </a:ext>
                </a:extLst>
              </p:cNvPr>
              <p:cNvSpPr txBox="1"/>
              <p:nvPr/>
            </p:nvSpPr>
            <p:spPr>
              <a:xfrm>
                <a:off x="557207" y="5012762"/>
                <a:ext cx="11077575" cy="2034083"/>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lang="ru-RU" sz="2200" i="1" smtClean="0"/>
                        <m:t>𝑈</m:t>
                      </m:r>
                      <m:r>
                        <a:rPr lang="ru-RU" sz="2200" i="1" smtClean="0"/>
                        <m:t>=</m:t>
                      </m:r>
                      <m:d>
                        <m:dPr>
                          <m:ctrlPr>
                            <a:rPr lang="ru-RU" sz="2200" i="1"/>
                          </m:ctrlPr>
                        </m:dPr>
                        <m:e>
                          <m:m>
                            <m:mPr>
                              <m:mcs>
                                <m:mc>
                                  <m:mcPr>
                                    <m:count m:val="3"/>
                                    <m:mcJc m:val="center"/>
                                  </m:mcPr>
                                </m:mc>
                              </m:mcs>
                              <m:ctrlPr>
                                <a:rPr lang="ru-RU" sz="2200" i="1"/>
                              </m:ctrlPr>
                            </m:mPr>
                            <m:mr>
                              <m:e>
                                <m:f>
                                  <m:fPr>
                                    <m:type m:val="lin"/>
                                    <m:ctrlPr>
                                      <a:rPr lang="ru-RU" sz="2200" i="1"/>
                                    </m:ctrlPr>
                                  </m:fPr>
                                  <m:num>
                                    <m:r>
                                      <a:rPr lang="ru-RU" sz="2200" i="1"/>
                                      <m:t>1</m:t>
                                    </m:r>
                                  </m:num>
                                  <m:den>
                                    <m:rad>
                                      <m:radPr>
                                        <m:degHide m:val="on"/>
                                        <m:ctrlPr>
                                          <a:rPr lang="ru-RU" sz="2200" i="1"/>
                                        </m:ctrlPr>
                                      </m:radPr>
                                      <m:deg/>
                                      <m:e>
                                        <m:r>
                                          <a:rPr lang="ru-RU" sz="2200" i="1"/>
                                          <m:t>18</m:t>
                                        </m:r>
                                      </m:e>
                                    </m:rad>
                                  </m:den>
                                </m:f>
                              </m:e>
                              <m:e>
                                <m:f>
                                  <m:fPr>
                                    <m:type m:val="lin"/>
                                    <m:ctrlPr>
                                      <a:rPr lang="ru-RU" sz="2200" i="1"/>
                                    </m:ctrlPr>
                                  </m:fPr>
                                  <m:num>
                                    <m:r>
                                      <a:rPr lang="ru-RU" sz="2200" i="1"/>
                                      <m:t>1</m:t>
                                    </m:r>
                                  </m:num>
                                  <m:den>
                                    <m:rad>
                                      <m:radPr>
                                        <m:degHide m:val="on"/>
                                        <m:ctrlPr>
                                          <a:rPr lang="ru-RU" sz="2200" i="1"/>
                                        </m:ctrlPr>
                                      </m:radPr>
                                      <m:deg/>
                                      <m:e>
                                        <m:r>
                                          <a:rPr lang="ru-RU" sz="2200" i="1"/>
                                          <m:t>2</m:t>
                                        </m:r>
                                      </m:e>
                                    </m:rad>
                                  </m:den>
                                </m:f>
                              </m:e>
                              <m:e>
                                <m:f>
                                  <m:fPr>
                                    <m:type m:val="lin"/>
                                    <m:ctrlPr>
                                      <a:rPr lang="ru-RU" sz="2200" i="1"/>
                                    </m:ctrlPr>
                                  </m:fPr>
                                  <m:num>
                                    <m:r>
                                      <a:rPr lang="ru-RU" sz="2200" i="1"/>
                                      <m:t>2</m:t>
                                    </m:r>
                                  </m:num>
                                  <m:den>
                                    <m:r>
                                      <a:rPr lang="ru-RU" sz="2200" i="1"/>
                                      <m:t>3</m:t>
                                    </m:r>
                                  </m:den>
                                </m:f>
                              </m:e>
                            </m:mr>
                            <m:mr>
                              <m:e>
                                <m:f>
                                  <m:fPr>
                                    <m:type m:val="lin"/>
                                    <m:ctrlPr>
                                      <a:rPr lang="ru-RU" sz="2200" i="1"/>
                                    </m:ctrlPr>
                                  </m:fPr>
                                  <m:num>
                                    <m:r>
                                      <a:rPr lang="ru-RU" sz="2200" i="1"/>
                                      <m:t>1</m:t>
                                    </m:r>
                                  </m:num>
                                  <m:den>
                                    <m:rad>
                                      <m:radPr>
                                        <m:degHide m:val="on"/>
                                        <m:ctrlPr>
                                          <a:rPr lang="ru-RU" sz="2200" i="1"/>
                                        </m:ctrlPr>
                                      </m:radPr>
                                      <m:deg/>
                                      <m:e>
                                        <m:r>
                                          <a:rPr lang="ru-RU" sz="2200" i="1"/>
                                          <m:t>18</m:t>
                                        </m:r>
                                      </m:e>
                                    </m:rad>
                                  </m:den>
                                </m:f>
                              </m:e>
                              <m:e>
                                <m:r>
                                  <a:rPr lang="ru-RU" sz="2200" i="1"/>
                                  <m:t>−</m:t>
                                </m:r>
                                <m:f>
                                  <m:fPr>
                                    <m:type m:val="lin"/>
                                    <m:ctrlPr>
                                      <a:rPr lang="ru-RU" sz="2200" i="1"/>
                                    </m:ctrlPr>
                                  </m:fPr>
                                  <m:num>
                                    <m:r>
                                      <a:rPr lang="ru-RU" sz="2200" i="1"/>
                                      <m:t>1</m:t>
                                    </m:r>
                                  </m:num>
                                  <m:den>
                                    <m:rad>
                                      <m:radPr>
                                        <m:degHide m:val="on"/>
                                        <m:ctrlPr>
                                          <a:rPr lang="ru-RU" sz="2200" i="1"/>
                                        </m:ctrlPr>
                                      </m:radPr>
                                      <m:deg/>
                                      <m:e>
                                        <m:r>
                                          <a:rPr lang="ru-RU" sz="2200" i="1"/>
                                          <m:t>2</m:t>
                                        </m:r>
                                      </m:e>
                                    </m:rad>
                                  </m:den>
                                </m:f>
                              </m:e>
                              <m:e>
                                <m:f>
                                  <m:fPr>
                                    <m:type m:val="lin"/>
                                    <m:ctrlPr>
                                      <a:rPr lang="ru-RU" sz="2200" i="1"/>
                                    </m:ctrlPr>
                                  </m:fPr>
                                  <m:num>
                                    <m:r>
                                      <a:rPr lang="ru-RU" sz="2200" i="1"/>
                                      <m:t>2</m:t>
                                    </m:r>
                                  </m:num>
                                  <m:den>
                                    <m:r>
                                      <a:rPr lang="ru-RU" sz="2200" i="1"/>
                                      <m:t>3</m:t>
                                    </m:r>
                                  </m:den>
                                </m:f>
                              </m:e>
                            </m:mr>
                            <m:mr>
                              <m:e>
                                <m:f>
                                  <m:fPr>
                                    <m:type m:val="lin"/>
                                    <m:ctrlPr>
                                      <a:rPr lang="ru-RU" sz="2200" i="1"/>
                                    </m:ctrlPr>
                                  </m:fPr>
                                  <m:num>
                                    <m:r>
                                      <a:rPr lang="ru-RU" sz="2200" i="1"/>
                                      <m:t>4</m:t>
                                    </m:r>
                                  </m:num>
                                  <m:den>
                                    <m:rad>
                                      <m:radPr>
                                        <m:degHide m:val="on"/>
                                        <m:ctrlPr>
                                          <a:rPr lang="ru-RU" sz="2200" i="1"/>
                                        </m:ctrlPr>
                                      </m:radPr>
                                      <m:deg/>
                                      <m:e>
                                        <m:r>
                                          <a:rPr lang="ru-RU" sz="2200" i="1"/>
                                          <m:t>18</m:t>
                                        </m:r>
                                      </m:e>
                                    </m:rad>
                                  </m:den>
                                </m:f>
                              </m:e>
                              <m:e>
                                <m:r>
                                  <a:rPr lang="ru-RU" sz="2200" i="1"/>
                                  <m:t>0</m:t>
                                </m:r>
                              </m:e>
                              <m:e>
                                <m:r>
                                  <a:rPr lang="ru-RU" sz="2200" i="1"/>
                                  <m:t>−</m:t>
                                </m:r>
                                <m:f>
                                  <m:fPr>
                                    <m:type m:val="lin"/>
                                    <m:ctrlPr>
                                      <a:rPr lang="ru-RU" sz="2200" i="1"/>
                                    </m:ctrlPr>
                                  </m:fPr>
                                  <m:num>
                                    <m:r>
                                      <a:rPr lang="ru-RU" sz="2200" i="1"/>
                                      <m:t>1</m:t>
                                    </m:r>
                                  </m:num>
                                  <m:den>
                                    <m:r>
                                      <a:rPr lang="ru-RU" sz="2200" i="1"/>
                                      <m:t>3</m:t>
                                    </m:r>
                                  </m:den>
                                </m:f>
                              </m:e>
                            </m:mr>
                          </m:m>
                        </m:e>
                      </m:d>
                      <m:r>
                        <a:rPr lang="ru-RU" sz="2200" b="0" i="1" smtClean="0">
                          <a:latin typeface="Cambria Math" panose="02040503050406030204" pitchFamily="18" charset="0"/>
                        </a:rPr>
                        <m:t>  </m:t>
                      </m:r>
                      <m:r>
                        <a:rPr lang="ru-RU" sz="2200" i="1"/>
                        <m:t>𝛴</m:t>
                      </m:r>
                      <m:r>
                        <a:rPr lang="en-US" sz="2200" i="1"/>
                        <m:t>=</m:t>
                      </m:r>
                      <m:d>
                        <m:dPr>
                          <m:ctrlPr>
                            <a:rPr lang="ru-RU" sz="2200" i="1"/>
                          </m:ctrlPr>
                        </m:dPr>
                        <m:e>
                          <m:m>
                            <m:mPr>
                              <m:mcs>
                                <m:mc>
                                  <m:mcPr>
                                    <m:count m:val="2"/>
                                    <m:mcJc m:val="center"/>
                                  </m:mcPr>
                                </m:mc>
                              </m:mcs>
                              <m:ctrlPr>
                                <a:rPr lang="ru-RU" sz="2200" i="1"/>
                              </m:ctrlPr>
                            </m:mPr>
                            <m:mr>
                              <m:e>
                                <m:r>
                                  <a:rPr lang="en-US" sz="2200" i="1"/>
                                  <m:t>3</m:t>
                                </m:r>
                              </m:e>
                              <m:e>
                                <m:r>
                                  <a:rPr lang="en-US" sz="2200" i="1"/>
                                  <m:t>0</m:t>
                                </m:r>
                              </m:e>
                            </m:mr>
                            <m:mr>
                              <m:e>
                                <m:r>
                                  <a:rPr lang="en-US" sz="2200" i="1"/>
                                  <m:t>0</m:t>
                                </m:r>
                              </m:e>
                              <m:e>
                                <m:r>
                                  <a:rPr lang="en-US" sz="2200" i="1"/>
                                  <m:t>1</m:t>
                                </m:r>
                              </m:e>
                            </m:mr>
                            <m:mr>
                              <m:e>
                                <m:r>
                                  <a:rPr lang="en-US" sz="2200" i="1"/>
                                  <m:t>0</m:t>
                                </m:r>
                              </m:e>
                              <m:e>
                                <m:r>
                                  <a:rPr lang="en-US" sz="2200" i="1"/>
                                  <m:t>0</m:t>
                                </m:r>
                              </m:e>
                            </m:mr>
                          </m:m>
                        </m:e>
                      </m:d>
                      <m:r>
                        <a:rPr lang="ru-RU" sz="2200" b="0" i="1" smtClean="0">
                          <a:latin typeface="Cambria Math" panose="02040503050406030204" pitchFamily="18" charset="0"/>
                        </a:rPr>
                        <m:t>  </m:t>
                      </m:r>
                      <m:r>
                        <a:rPr lang="ru-RU" sz="2200" i="1">
                          <a:latin typeface="Cambria Math" panose="02040503050406030204" pitchFamily="18" charset="0"/>
                        </a:rPr>
                        <m:t>𝑉</m:t>
                      </m:r>
                      <m:r>
                        <a:rPr lang="ru-RU" sz="2200">
                          <a:latin typeface="Cambria Math" panose="02040503050406030204" pitchFamily="18" charset="0"/>
                        </a:rPr>
                        <m:t>=</m:t>
                      </m:r>
                      <m:d>
                        <m:dPr>
                          <m:ctrlPr>
                            <a:rPr lang="ru-RU" sz="2200" i="1">
                              <a:solidFill>
                                <a:srgbClr val="836967"/>
                              </a:solidFill>
                              <a:latin typeface="Cambria Math" panose="02040503050406030204" pitchFamily="18" charset="0"/>
                            </a:rPr>
                          </m:ctrlPr>
                        </m:dPr>
                        <m:e>
                          <m:m>
                            <m:mPr>
                              <m:plcHide m:val="on"/>
                              <m:mcs>
                                <m:mc>
                                  <m:mcPr>
                                    <m:count m:val="2"/>
                                    <m:mcJc m:val="center"/>
                                  </m:mcPr>
                                </m:mc>
                              </m:mcs>
                              <m:ctrlPr>
                                <a:rPr lang="ru-RU" sz="2200" i="1">
                                  <a:solidFill>
                                    <a:srgbClr val="836967"/>
                                  </a:solidFill>
                                  <a:latin typeface="Cambria Math" panose="02040503050406030204" pitchFamily="18" charset="0"/>
                                </a:rPr>
                              </m:ctrlPr>
                            </m:mPr>
                            <m:mr>
                              <m:e>
                                <m:f>
                                  <m:fPr>
                                    <m:type m:val="lin"/>
                                    <m:ctrlPr>
                                      <a:rPr lang="ru-RU" sz="2200" i="1">
                                        <a:latin typeface="Cambria Math" panose="02040503050406030204" pitchFamily="18" charset="0"/>
                                      </a:rPr>
                                    </m:ctrlPr>
                                  </m:fPr>
                                  <m:num>
                                    <m:r>
                                      <a:rPr lang="ru-RU" sz="2200">
                                        <a:latin typeface="Cambria Math" panose="02040503050406030204" pitchFamily="18" charset="0"/>
                                      </a:rPr>
                                      <m:t>1</m:t>
                                    </m:r>
                                  </m:num>
                                  <m:den>
                                    <m:rad>
                                      <m:radPr>
                                        <m:degHide m:val="on"/>
                                        <m:ctrlPr>
                                          <a:rPr lang="ru-RU" sz="2200" i="1">
                                            <a:solidFill>
                                              <a:srgbClr val="836967"/>
                                            </a:solidFill>
                                            <a:latin typeface="Cambria Math" panose="02040503050406030204" pitchFamily="18" charset="0"/>
                                          </a:rPr>
                                        </m:ctrlPr>
                                      </m:radPr>
                                      <m:deg/>
                                      <m:e>
                                        <m:r>
                                          <a:rPr lang="ru-RU" sz="2200">
                                            <a:latin typeface="Cambria Math" panose="02040503050406030204" pitchFamily="18" charset="0"/>
                                          </a:rPr>
                                          <m:t>2</m:t>
                                        </m:r>
                                      </m:e>
                                    </m:rad>
                                  </m:den>
                                </m:f>
                              </m:e>
                              <m:e>
                                <m:f>
                                  <m:fPr>
                                    <m:type m:val="lin"/>
                                    <m:ctrlPr>
                                      <a:rPr lang="ru-RU" sz="2200" i="1">
                                        <a:latin typeface="Cambria Math" panose="02040503050406030204" pitchFamily="18" charset="0"/>
                                      </a:rPr>
                                    </m:ctrlPr>
                                  </m:fPr>
                                  <m:num>
                                    <m:r>
                                      <a:rPr lang="ru-RU" sz="2200">
                                        <a:latin typeface="Cambria Math" panose="02040503050406030204" pitchFamily="18" charset="0"/>
                                      </a:rPr>
                                      <m:t>1</m:t>
                                    </m:r>
                                  </m:num>
                                  <m:den>
                                    <m:rad>
                                      <m:radPr>
                                        <m:degHide m:val="on"/>
                                        <m:ctrlPr>
                                          <a:rPr lang="ru-RU" sz="2200" i="1">
                                            <a:solidFill>
                                              <a:srgbClr val="836967"/>
                                            </a:solidFill>
                                            <a:latin typeface="Cambria Math" panose="02040503050406030204" pitchFamily="18" charset="0"/>
                                          </a:rPr>
                                        </m:ctrlPr>
                                      </m:radPr>
                                      <m:deg/>
                                      <m:e>
                                        <m:r>
                                          <a:rPr lang="ru-RU" sz="2200">
                                            <a:latin typeface="Cambria Math" panose="02040503050406030204" pitchFamily="18" charset="0"/>
                                          </a:rPr>
                                          <m:t>2</m:t>
                                        </m:r>
                                      </m:e>
                                    </m:rad>
                                  </m:den>
                                </m:f>
                              </m:e>
                            </m:mr>
                            <m:mr>
                              <m:e>
                                <m:f>
                                  <m:fPr>
                                    <m:type m:val="lin"/>
                                    <m:ctrlPr>
                                      <a:rPr lang="ru-RU" sz="2200" i="1">
                                        <a:latin typeface="Cambria Math" panose="02040503050406030204" pitchFamily="18" charset="0"/>
                                      </a:rPr>
                                    </m:ctrlPr>
                                  </m:fPr>
                                  <m:num>
                                    <m:r>
                                      <a:rPr lang="ru-RU" sz="2200">
                                        <a:latin typeface="Cambria Math" panose="02040503050406030204" pitchFamily="18" charset="0"/>
                                      </a:rPr>
                                      <m:t>1</m:t>
                                    </m:r>
                                  </m:num>
                                  <m:den>
                                    <m:rad>
                                      <m:radPr>
                                        <m:degHide m:val="on"/>
                                        <m:ctrlPr>
                                          <a:rPr lang="ru-RU" sz="2200" i="1">
                                            <a:solidFill>
                                              <a:srgbClr val="836967"/>
                                            </a:solidFill>
                                            <a:latin typeface="Cambria Math" panose="02040503050406030204" pitchFamily="18" charset="0"/>
                                          </a:rPr>
                                        </m:ctrlPr>
                                      </m:radPr>
                                      <m:deg/>
                                      <m:e>
                                        <m:r>
                                          <a:rPr lang="ru-RU" sz="2200">
                                            <a:latin typeface="Cambria Math" panose="02040503050406030204" pitchFamily="18" charset="0"/>
                                          </a:rPr>
                                          <m:t>2</m:t>
                                        </m:r>
                                      </m:e>
                                    </m:rad>
                                  </m:den>
                                </m:f>
                              </m:e>
                              <m:e>
                                <m:r>
                                  <a:rPr lang="ru-RU" sz="2200">
                                    <a:latin typeface="Cambria Math" panose="02040503050406030204" pitchFamily="18" charset="0"/>
                                  </a:rPr>
                                  <m:t>−</m:t>
                                </m:r>
                                <m:f>
                                  <m:fPr>
                                    <m:type m:val="lin"/>
                                    <m:ctrlPr>
                                      <a:rPr lang="ru-RU" sz="2200" i="1">
                                        <a:latin typeface="Cambria Math" panose="02040503050406030204" pitchFamily="18" charset="0"/>
                                      </a:rPr>
                                    </m:ctrlPr>
                                  </m:fPr>
                                  <m:num>
                                    <m:r>
                                      <a:rPr lang="ru-RU" sz="2200">
                                        <a:latin typeface="Cambria Math" panose="02040503050406030204" pitchFamily="18" charset="0"/>
                                      </a:rPr>
                                      <m:t>1</m:t>
                                    </m:r>
                                  </m:num>
                                  <m:den>
                                    <m:rad>
                                      <m:radPr>
                                        <m:degHide m:val="on"/>
                                        <m:ctrlPr>
                                          <a:rPr lang="ru-RU" sz="2200" i="1">
                                            <a:solidFill>
                                              <a:srgbClr val="836967"/>
                                            </a:solidFill>
                                            <a:latin typeface="Cambria Math" panose="02040503050406030204" pitchFamily="18" charset="0"/>
                                          </a:rPr>
                                        </m:ctrlPr>
                                      </m:radPr>
                                      <m:deg/>
                                      <m:e>
                                        <m:r>
                                          <a:rPr lang="ru-RU" sz="2200">
                                            <a:latin typeface="Cambria Math" panose="02040503050406030204" pitchFamily="18" charset="0"/>
                                          </a:rPr>
                                          <m:t>2</m:t>
                                        </m:r>
                                      </m:e>
                                    </m:rad>
                                  </m:den>
                                </m:f>
                              </m:e>
                            </m:mr>
                          </m:m>
                        </m:e>
                      </m:d>
                    </m:oMath>
                  </m:oMathPara>
                </a14:m>
                <a:endParaRPr lang="ru-RU" sz="2200" dirty="0"/>
              </a:p>
              <a:p>
                <a:endParaRPr lang="ru-RU" sz="2200" dirty="0"/>
              </a:p>
              <a:p>
                <a:pPr/>
                <a:endParaRPr lang="ru-RU" sz="2200" dirty="0"/>
              </a:p>
            </p:txBody>
          </p:sp>
        </mc:Choice>
        <mc:Fallback>
          <p:sp>
            <p:nvSpPr>
              <p:cNvPr id="13" name="TextBox 12">
                <a:extLst>
                  <a:ext uri="{FF2B5EF4-FFF2-40B4-BE49-F238E27FC236}">
                    <a16:creationId xmlns:a16="http://schemas.microsoft.com/office/drawing/2014/main" id="{283CF99A-D5A8-45E1-A58F-76372FEA096B}"/>
                  </a:ext>
                </a:extLst>
              </p:cNvPr>
              <p:cNvSpPr txBox="1">
                <a:spLocks noRot="1" noChangeAspect="1" noMove="1" noResize="1" noEditPoints="1" noAdjustHandles="1" noChangeArrowheads="1" noChangeShapeType="1" noTextEdit="1"/>
              </p:cNvSpPr>
              <p:nvPr/>
            </p:nvSpPr>
            <p:spPr>
              <a:xfrm>
                <a:off x="557207" y="5012762"/>
                <a:ext cx="11077575" cy="2034083"/>
              </a:xfrm>
              <a:prstGeom prst="rect">
                <a:avLst/>
              </a:prstGeom>
              <a:blipFill>
                <a:blip r:embed="rId6"/>
                <a:stretch>
                  <a:fillRect/>
                </a:stretch>
              </a:blipFill>
            </p:spPr>
            <p:txBody>
              <a:bodyPr/>
              <a:lstStyle/>
              <a:p>
                <a:r>
                  <a:rPr lang="ru-RU">
                    <a:noFill/>
                  </a:rPr>
                  <a:t> </a:t>
                </a:r>
              </a:p>
            </p:txBody>
          </p:sp>
        </mc:Fallback>
      </mc:AlternateContent>
    </p:spTree>
    <p:extLst>
      <p:ext uri="{BB962C8B-B14F-4D97-AF65-F5344CB8AC3E}">
        <p14:creationId xmlns:p14="http://schemas.microsoft.com/office/powerpoint/2010/main" val="15668606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842D8E8-3198-45AC-9B77-A1F19F3BA9C3}"/>
              </a:ext>
            </a:extLst>
          </p:cNvPr>
          <p:cNvSpPr txBox="1">
            <a:spLocks/>
          </p:cNvSpPr>
          <p:nvPr/>
        </p:nvSpPr>
        <p:spPr>
          <a:xfrm>
            <a:off x="285750" y="307976"/>
            <a:ext cx="3238500" cy="4445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ru-RU" sz="3200" b="1" dirty="0">
                <a:latin typeface="Times New Roman" panose="02020603050405020304" pitchFamily="18" charset="0"/>
                <a:cs typeface="Times New Roman" panose="02020603050405020304" pitchFamily="18" charset="0"/>
              </a:rPr>
              <a:t>Прямой метод</a:t>
            </a:r>
          </a:p>
        </p:txBody>
      </p:sp>
      <p:sp>
        <p:nvSpPr>
          <p:cNvPr id="4" name="TextBox 3">
            <a:extLst>
              <a:ext uri="{FF2B5EF4-FFF2-40B4-BE49-F238E27FC236}">
                <a16:creationId xmlns:a16="http://schemas.microsoft.com/office/drawing/2014/main" id="{C4D31AC0-6584-402D-A1A1-8C0770FCAEB1}"/>
              </a:ext>
            </a:extLst>
          </p:cNvPr>
          <p:cNvSpPr txBox="1"/>
          <p:nvPr/>
        </p:nvSpPr>
        <p:spPr>
          <a:xfrm>
            <a:off x="609600" y="851238"/>
            <a:ext cx="11182350" cy="3409651"/>
          </a:xfrm>
          <a:prstGeom prst="rect">
            <a:avLst/>
          </a:prstGeom>
          <a:noFill/>
        </p:spPr>
        <p:txBody>
          <a:bodyPr wrap="square">
            <a:spAutoFit/>
          </a:bodyPr>
          <a:lstStyle/>
          <a:p>
            <a:pPr indent="450215" algn="just">
              <a:lnSpc>
                <a:spcPct val="120000"/>
              </a:lnSpc>
              <a:spcAft>
                <a:spcPts val="800"/>
              </a:spcAft>
            </a:pPr>
            <a:r>
              <a:rPr lang="ru-RU" sz="2200" dirty="0">
                <a:effectLst/>
                <a:latin typeface="Times New Roman" panose="02020603050405020304" pitchFamily="18" charset="0"/>
                <a:ea typeface="Calibri" panose="020F0502020204030204" pitchFamily="34" charset="0"/>
              </a:rPr>
              <a:t>	В стандартной форме, как можно было заметить, при вычислениях не было ни начального приближения, не его оценки. Поэтому, стоит отметить, что при реализации алгоритма с помощью ЭВМ необходимы критерии остановки из-за особенностей хранения значений в языках программирования. В основе всегда лежат два критерия остановки: приближение и количество итераций. </a:t>
            </a:r>
            <a:r>
              <a:rPr lang="ru-RU" sz="2200" dirty="0">
                <a:effectLst/>
                <a:latin typeface="Times New Roman" panose="02020603050405020304" pitchFamily="18" charset="0"/>
                <a:ea typeface="Calibri" panose="020F0502020204030204" pitchFamily="34" charset="0"/>
                <a:cs typeface="Times New Roman" panose="02020603050405020304" pitchFamily="18" charset="0"/>
              </a:rPr>
              <a:t>Для данного метода необходимы следующие алгоритмы для реализации и разложение:</a:t>
            </a:r>
          </a:p>
          <a:p>
            <a:pPr marL="900000" lvl="0" indent="360000" algn="just">
              <a:lnSpc>
                <a:spcPct val="120000"/>
              </a:lnSpc>
              <a:buFont typeface="Arial" panose="020B0604020202020204" pitchFamily="34" charset="0"/>
              <a:buChar char="•"/>
              <a:tabLst>
                <a:tab pos="630555" algn="l"/>
              </a:tabLst>
            </a:pPr>
            <a:r>
              <a:rPr lang="ru-RU" sz="2200" dirty="0">
                <a:latin typeface="Times New Roman" panose="02020603050405020304" pitchFamily="18" charset="0"/>
                <a:cs typeface="Times New Roman" panose="02020603050405020304" pitchFamily="18" charset="0"/>
              </a:rPr>
              <a:t>Ортогонализация Грамма-Шмидта</a:t>
            </a:r>
            <a:r>
              <a:rPr lang="en-US" sz="2200" dirty="0">
                <a:latin typeface="Times New Roman" panose="02020603050405020304" pitchFamily="18" charset="0"/>
                <a:cs typeface="Times New Roman" panose="02020603050405020304" pitchFamily="18" charset="0"/>
              </a:rPr>
              <a:t>.</a:t>
            </a:r>
            <a:endParaRPr lang="ru-RU" sz="2200" dirty="0">
              <a:latin typeface="Times New Roman" panose="02020603050405020304" pitchFamily="18" charset="0"/>
              <a:cs typeface="Times New Roman" panose="02020603050405020304" pitchFamily="18" charset="0"/>
            </a:endParaRPr>
          </a:p>
          <a:p>
            <a:pPr marL="900000" lvl="0" indent="360000" algn="just">
              <a:lnSpc>
                <a:spcPct val="120000"/>
              </a:lnSpc>
              <a:buFont typeface="Arial" panose="020B0604020202020204" pitchFamily="34" charset="0"/>
              <a:buChar char="•"/>
              <a:tabLst>
                <a:tab pos="630555" algn="l"/>
              </a:tabLst>
            </a:pPr>
            <a:r>
              <a:rPr lang="ru-RU" sz="2200" dirty="0">
                <a:latin typeface="Times New Roman" panose="02020603050405020304" pitchFamily="18" charset="0"/>
                <a:cs typeface="Times New Roman" panose="02020603050405020304" pitchFamily="18" charset="0"/>
              </a:rPr>
              <a:t>QR-разложение.</a:t>
            </a:r>
          </a:p>
        </p:txBody>
      </p:sp>
      <p:sp>
        <p:nvSpPr>
          <p:cNvPr id="5" name="Блок-схема: узел 4">
            <a:extLst>
              <a:ext uri="{FF2B5EF4-FFF2-40B4-BE49-F238E27FC236}">
                <a16:creationId xmlns:a16="http://schemas.microsoft.com/office/drawing/2014/main" id="{A09DE754-ABFB-4A17-9451-763172369F7D}"/>
              </a:ext>
            </a:extLst>
          </p:cNvPr>
          <p:cNvSpPr/>
          <p:nvPr/>
        </p:nvSpPr>
        <p:spPr>
          <a:xfrm>
            <a:off x="11393850" y="6067424"/>
            <a:ext cx="720000" cy="720000"/>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solidFill>
                  <a:schemeClr val="tx1"/>
                </a:solidFill>
                <a:latin typeface="Times New Roman" panose="02020603050405020304" pitchFamily="18" charset="0"/>
                <a:cs typeface="Times New Roman" panose="02020603050405020304" pitchFamily="18" charset="0"/>
              </a:rPr>
              <a:t>6</a:t>
            </a:r>
          </a:p>
        </p:txBody>
      </p:sp>
    </p:spTree>
    <p:extLst>
      <p:ext uri="{BB962C8B-B14F-4D97-AF65-F5344CB8AC3E}">
        <p14:creationId xmlns:p14="http://schemas.microsoft.com/office/powerpoint/2010/main" val="10776922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B6BEED1-83FE-4C0F-A389-C9FCF8C2F17C}"/>
              </a:ext>
            </a:extLst>
          </p:cNvPr>
          <p:cNvSpPr txBox="1">
            <a:spLocks/>
          </p:cNvSpPr>
          <p:nvPr/>
        </p:nvSpPr>
        <p:spPr>
          <a:xfrm>
            <a:off x="285750" y="307976"/>
            <a:ext cx="3238500" cy="4445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ru-RU" sz="3200" b="1" dirty="0">
                <a:latin typeface="Times New Roman" panose="02020603050405020304" pitchFamily="18" charset="0"/>
                <a:cs typeface="Times New Roman" panose="02020603050405020304" pitchFamily="18" charset="0"/>
              </a:rPr>
              <a:t>Прямой метод</a:t>
            </a:r>
          </a:p>
        </p:txBody>
      </p:sp>
      <p:sp>
        <p:nvSpPr>
          <p:cNvPr id="3" name="Заголовок 1">
            <a:extLst>
              <a:ext uri="{FF2B5EF4-FFF2-40B4-BE49-F238E27FC236}">
                <a16:creationId xmlns:a16="http://schemas.microsoft.com/office/drawing/2014/main" id="{6A984E44-FD27-4415-BEE6-5963A8C487A8}"/>
              </a:ext>
            </a:extLst>
          </p:cNvPr>
          <p:cNvSpPr txBox="1">
            <a:spLocks/>
          </p:cNvSpPr>
          <p:nvPr/>
        </p:nvSpPr>
        <p:spPr>
          <a:xfrm>
            <a:off x="876300" y="831851"/>
            <a:ext cx="3238500" cy="4445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ru-RU" sz="2400" b="1" dirty="0">
                <a:latin typeface="Times New Roman" panose="02020603050405020304" pitchFamily="18" charset="0"/>
                <a:cs typeface="Times New Roman" panose="02020603050405020304" pitchFamily="18" charset="0"/>
              </a:rPr>
              <a:t>Ортогонализация</a:t>
            </a: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DB04D170-B21D-4224-9DE5-A3C56DB802BE}"/>
                  </a:ext>
                </a:extLst>
              </p:cNvPr>
              <p:cNvSpPr txBox="1"/>
              <p:nvPr/>
            </p:nvSpPr>
            <p:spPr>
              <a:xfrm>
                <a:off x="1400174" y="1355726"/>
                <a:ext cx="9877425" cy="4379276"/>
              </a:xfrm>
              <a:prstGeom prst="rect">
                <a:avLst/>
              </a:prstGeom>
              <a:noFill/>
            </p:spPr>
            <p:txBody>
              <a:bodyPr wrap="square" rtlCol="0">
                <a:spAutoFit/>
              </a:bodyPr>
              <a:lstStyle/>
              <a:p>
                <a:pPr lvl="0" algn="just">
                  <a:lnSpc>
                    <a:spcPct val="150000"/>
                  </a:lnSpc>
                  <a:spcAft>
                    <a:spcPts val="800"/>
                  </a:spcAft>
                  <a:tabLst>
                    <a:tab pos="810260" algn="l"/>
                  </a:tabLst>
                </a:pPr>
                <a:r>
                  <a:rPr lang="ru-RU" sz="2200" dirty="0">
                    <a:effectLst/>
                    <a:latin typeface="Times New Roman" panose="02020603050405020304" pitchFamily="18" charset="0"/>
                    <a:ea typeface="Calibri" panose="020F0502020204030204" pitchFamily="34" charset="0"/>
                    <a:cs typeface="Times New Roman" panose="02020603050405020304" pitchFamily="18" charset="0"/>
                  </a:rPr>
                  <a:t>1.    </a:t>
                </a:r>
                <a14:m>
                  <m:oMath xmlns:m="http://schemas.openxmlformats.org/officeDocument/2006/math">
                    <m:r>
                      <a:rPr lang="ru-RU" sz="2200" i="1" smtClean="0">
                        <a:effectLst/>
                        <a:latin typeface="Cambria Math" panose="02040503050406030204" pitchFamily="18" charset="0"/>
                        <a:ea typeface="Calibri" panose="020F0502020204030204" pitchFamily="34" charset="0"/>
                        <a:cs typeface="Times New Roman" panose="02020603050405020304" pitchFamily="18" charset="0"/>
                      </a:rPr>
                      <m:t>𝐿</m:t>
                    </m:r>
                    <m:r>
                      <a:rPr lang="ru-RU" sz="2200" i="1" smtClean="0">
                        <a:effectLst/>
                        <a:latin typeface="Cambria Math" panose="02040503050406030204" pitchFamily="18" charset="0"/>
                        <a:ea typeface="Calibri" panose="020F0502020204030204" pitchFamily="34" charset="0"/>
                        <a:cs typeface="Times New Roman" panose="02020603050405020304" pitchFamily="18" charset="0"/>
                      </a:rPr>
                      <m:t>=</m:t>
                    </m:r>
                    <m:r>
                      <a:rPr lang="ru-RU" sz="2200" i="1" smtClean="0">
                        <a:effectLst/>
                        <a:latin typeface="Cambria Math" panose="02040503050406030204" pitchFamily="18" charset="0"/>
                        <a:ea typeface="Calibri" panose="020F0502020204030204" pitchFamily="34" charset="0"/>
                        <a:cs typeface="Times New Roman" panose="02020603050405020304" pitchFamily="18" charset="0"/>
                      </a:rPr>
                      <m:t>𝐿𝐵</m:t>
                    </m:r>
                    <m:d>
                      <m:dPr>
                        <m:ctrlPr>
                          <a:rPr lang="ru-RU" sz="2200" i="1">
                            <a:effectLst/>
                            <a:latin typeface="Cambria Math" panose="02040503050406030204" pitchFamily="18" charset="0"/>
                            <a:ea typeface="Calibri" panose="020F0502020204030204" pitchFamily="34" charset="0"/>
                            <a:cs typeface="Times New Roman" panose="02020603050405020304" pitchFamily="18" charset="0"/>
                          </a:rPr>
                        </m:ctrlPr>
                      </m:dPr>
                      <m:e>
                        <m:sSub>
                          <m:sSubPr>
                            <m:ctrlPr>
                              <a:rPr lang="ru-RU" sz="2200" i="1">
                                <a:effectLst/>
                                <a:latin typeface="Cambria Math" panose="02040503050406030204" pitchFamily="18" charset="0"/>
                                <a:ea typeface="Calibri" panose="020F0502020204030204" pitchFamily="34" charset="0"/>
                                <a:cs typeface="Times New Roman" panose="02020603050405020304" pitchFamily="18" charset="0"/>
                              </a:rPr>
                            </m:ctrlPr>
                          </m:sSubPr>
                          <m:e>
                            <m:r>
                              <a:rPr lang="ru-RU" sz="2200" i="1">
                                <a:effectLst/>
                                <a:latin typeface="Cambria Math" panose="02040503050406030204" pitchFamily="18" charset="0"/>
                                <a:ea typeface="Calibri" panose="020F0502020204030204" pitchFamily="34" charset="0"/>
                                <a:cs typeface="Times New Roman" panose="02020603050405020304" pitchFamily="18" charset="0"/>
                              </a:rPr>
                              <m:t>𝑎</m:t>
                            </m:r>
                          </m:e>
                          <m:sub>
                            <m:r>
                              <a:rPr lang="ru-RU" sz="2200" i="1">
                                <a:effectLst/>
                                <a:latin typeface="Cambria Math" panose="02040503050406030204" pitchFamily="18" charset="0"/>
                                <a:ea typeface="Calibri" panose="020F0502020204030204" pitchFamily="34" charset="0"/>
                                <a:cs typeface="Times New Roman" panose="02020603050405020304" pitchFamily="18" charset="0"/>
                              </a:rPr>
                              <m:t>1</m:t>
                            </m:r>
                          </m:sub>
                        </m:sSub>
                        <m:r>
                          <a:rPr lang="ru-RU" sz="22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ru-RU" sz="2200" i="1">
                                <a:effectLst/>
                                <a:latin typeface="Cambria Math" panose="02040503050406030204" pitchFamily="18" charset="0"/>
                                <a:ea typeface="Calibri" panose="020F0502020204030204" pitchFamily="34" charset="0"/>
                                <a:cs typeface="Times New Roman" panose="02020603050405020304" pitchFamily="18" charset="0"/>
                              </a:rPr>
                            </m:ctrlPr>
                          </m:sSubPr>
                          <m:e>
                            <m:r>
                              <a:rPr lang="ru-RU" sz="2200" i="1">
                                <a:effectLst/>
                                <a:latin typeface="Cambria Math" panose="02040503050406030204" pitchFamily="18" charset="0"/>
                                <a:ea typeface="Calibri" panose="020F0502020204030204" pitchFamily="34" charset="0"/>
                                <a:cs typeface="Times New Roman" panose="02020603050405020304" pitchFamily="18" charset="0"/>
                              </a:rPr>
                              <m:t>𝑎</m:t>
                            </m:r>
                          </m:e>
                          <m:sub>
                            <m:r>
                              <a:rPr lang="ru-RU" sz="2200" i="1">
                                <a:effectLst/>
                                <a:latin typeface="Cambria Math" panose="02040503050406030204" pitchFamily="18" charset="0"/>
                                <a:ea typeface="Calibri" panose="020F0502020204030204" pitchFamily="34" charset="0"/>
                                <a:cs typeface="Times New Roman" panose="02020603050405020304" pitchFamily="18" charset="0"/>
                              </a:rPr>
                              <m:t>𝑛</m:t>
                            </m:r>
                          </m:sub>
                        </m:sSub>
                      </m:e>
                    </m:d>
                    <m:r>
                      <a:rPr lang="ru-RU" sz="2200" i="1">
                        <a:effectLst/>
                        <a:latin typeface="Cambria Math" panose="02040503050406030204" pitchFamily="18" charset="0"/>
                        <a:ea typeface="Calibri" panose="020F0502020204030204" pitchFamily="34" charset="0"/>
                        <a:cs typeface="Times New Roman" panose="02020603050405020304" pitchFamily="18" charset="0"/>
                      </a:rPr>
                      <m:t>→</m:t>
                    </m:r>
                    <m:r>
                      <a:rPr lang="ru-RU" sz="2200" i="1">
                        <a:effectLst/>
                        <a:latin typeface="Cambria Math" panose="02040503050406030204" pitchFamily="18" charset="0"/>
                        <a:ea typeface="Calibri" panose="020F0502020204030204" pitchFamily="34" charset="0"/>
                        <a:cs typeface="Times New Roman" panose="02020603050405020304" pitchFamily="18" charset="0"/>
                      </a:rPr>
                      <m:t>𝐿</m:t>
                    </m:r>
                    <m:r>
                      <a:rPr lang="ru-RU" sz="2200" i="1">
                        <a:effectLst/>
                        <a:latin typeface="Cambria Math" panose="02040503050406030204" pitchFamily="18" charset="0"/>
                        <a:ea typeface="Calibri" panose="020F0502020204030204" pitchFamily="34" charset="0"/>
                        <a:cs typeface="Times New Roman" panose="02020603050405020304" pitchFamily="18" charset="0"/>
                      </a:rPr>
                      <m:t>=</m:t>
                    </m:r>
                    <m:r>
                      <a:rPr lang="ru-RU" sz="2200" i="1">
                        <a:effectLst/>
                        <a:latin typeface="Cambria Math" panose="02040503050406030204" pitchFamily="18" charset="0"/>
                        <a:ea typeface="Calibri" panose="020F0502020204030204" pitchFamily="34" charset="0"/>
                        <a:cs typeface="Times New Roman" panose="02020603050405020304" pitchFamily="18" charset="0"/>
                      </a:rPr>
                      <m:t>𝐿𝐵</m:t>
                    </m:r>
                    <m:d>
                      <m:dPr>
                        <m:ctrlPr>
                          <a:rPr lang="ru-RU" sz="2200" i="1">
                            <a:effectLst/>
                            <a:latin typeface="Cambria Math" panose="02040503050406030204" pitchFamily="18" charset="0"/>
                            <a:ea typeface="Calibri" panose="020F0502020204030204" pitchFamily="34" charset="0"/>
                            <a:cs typeface="Times New Roman" panose="02020603050405020304" pitchFamily="18" charset="0"/>
                          </a:rPr>
                        </m:ctrlPr>
                      </m:dPr>
                      <m:e>
                        <m:sSub>
                          <m:sSubPr>
                            <m:ctrlPr>
                              <a:rPr lang="ru-RU" sz="2200" i="1">
                                <a:effectLst/>
                                <a:latin typeface="Cambria Math" panose="02040503050406030204" pitchFamily="18" charset="0"/>
                                <a:ea typeface="Calibri" panose="020F0502020204030204" pitchFamily="34" charset="0"/>
                                <a:cs typeface="Times New Roman" panose="02020603050405020304" pitchFamily="18" charset="0"/>
                              </a:rPr>
                            </m:ctrlPr>
                          </m:sSubPr>
                          <m:e>
                            <m:r>
                              <a:rPr lang="ru-RU" sz="2200" i="1">
                                <a:effectLst/>
                                <a:latin typeface="Cambria Math" panose="02040503050406030204" pitchFamily="18" charset="0"/>
                                <a:ea typeface="Calibri" panose="020F0502020204030204" pitchFamily="34" charset="0"/>
                                <a:cs typeface="Times New Roman" panose="02020603050405020304" pitchFamily="18" charset="0"/>
                              </a:rPr>
                              <m:t>𝑏</m:t>
                            </m:r>
                          </m:e>
                          <m:sub>
                            <m:r>
                              <a:rPr lang="ru-RU" sz="2200" i="1">
                                <a:effectLst/>
                                <a:latin typeface="Cambria Math" panose="02040503050406030204" pitchFamily="18" charset="0"/>
                                <a:ea typeface="Calibri" panose="020F0502020204030204" pitchFamily="34" charset="0"/>
                                <a:cs typeface="Times New Roman" panose="02020603050405020304" pitchFamily="18" charset="0"/>
                              </a:rPr>
                              <m:t>1</m:t>
                            </m:r>
                          </m:sub>
                        </m:sSub>
                        <m:r>
                          <a:rPr lang="ru-RU" sz="22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ru-RU" sz="2200" i="1">
                                <a:effectLst/>
                                <a:latin typeface="Cambria Math" panose="02040503050406030204" pitchFamily="18" charset="0"/>
                                <a:ea typeface="Calibri" panose="020F0502020204030204" pitchFamily="34" charset="0"/>
                                <a:cs typeface="Times New Roman" panose="02020603050405020304" pitchFamily="18" charset="0"/>
                              </a:rPr>
                            </m:ctrlPr>
                          </m:sSubPr>
                          <m:e>
                            <m:r>
                              <a:rPr lang="ru-RU" sz="2200" i="1">
                                <a:effectLst/>
                                <a:latin typeface="Cambria Math" panose="02040503050406030204" pitchFamily="18" charset="0"/>
                                <a:ea typeface="Calibri" panose="020F0502020204030204" pitchFamily="34" charset="0"/>
                                <a:cs typeface="Times New Roman" panose="02020603050405020304" pitchFamily="18" charset="0"/>
                              </a:rPr>
                              <m:t>𝑏</m:t>
                            </m:r>
                          </m:e>
                          <m:sub>
                            <m:r>
                              <a:rPr lang="ru-RU" sz="2200" i="1">
                                <a:effectLst/>
                                <a:latin typeface="Cambria Math" panose="02040503050406030204" pitchFamily="18" charset="0"/>
                                <a:ea typeface="Calibri" panose="020F0502020204030204" pitchFamily="34" charset="0"/>
                                <a:cs typeface="Times New Roman" panose="02020603050405020304" pitchFamily="18" charset="0"/>
                              </a:rPr>
                              <m:t>𝑛</m:t>
                            </m:r>
                          </m:sub>
                        </m:sSub>
                      </m:e>
                    </m:d>
                    <m:r>
                      <a:rPr lang="ru-RU" sz="22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ru-RU" sz="2200" i="1">
                            <a:effectLst/>
                            <a:latin typeface="Cambria Math" panose="02040503050406030204" pitchFamily="18" charset="0"/>
                            <a:ea typeface="Calibri" panose="020F0502020204030204" pitchFamily="34" charset="0"/>
                            <a:cs typeface="Times New Roman" panose="02020603050405020304" pitchFamily="18" charset="0"/>
                          </a:rPr>
                        </m:ctrlPr>
                      </m:sSubPr>
                      <m:e>
                        <m:r>
                          <a:rPr lang="ru-RU" sz="2200" i="1">
                            <a:effectLst/>
                            <a:latin typeface="Cambria Math" panose="02040503050406030204" pitchFamily="18" charset="0"/>
                            <a:ea typeface="Calibri" panose="020F0502020204030204" pitchFamily="34" charset="0"/>
                            <a:cs typeface="Times New Roman" panose="02020603050405020304" pitchFamily="18" charset="0"/>
                          </a:rPr>
                          <m:t>𝑏</m:t>
                        </m:r>
                      </m:e>
                      <m:sub>
                        <m:r>
                          <a:rPr lang="ru-RU" sz="2200" i="1">
                            <a:effectLst/>
                            <a:latin typeface="Cambria Math" panose="02040503050406030204" pitchFamily="18" charset="0"/>
                            <a:ea typeface="Calibri" panose="020F0502020204030204" pitchFamily="34" charset="0"/>
                            <a:cs typeface="Times New Roman" panose="02020603050405020304" pitchFamily="18" charset="0"/>
                          </a:rPr>
                          <m:t>𝑖</m:t>
                        </m:r>
                      </m:sub>
                    </m:sSub>
                    <m:r>
                      <a:rPr lang="ru-RU" sz="22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ru-RU" sz="2200" i="1">
                            <a:effectLst/>
                            <a:latin typeface="Cambria Math" panose="02040503050406030204" pitchFamily="18" charset="0"/>
                            <a:ea typeface="Calibri" panose="020F0502020204030204" pitchFamily="34" charset="0"/>
                            <a:cs typeface="Times New Roman" panose="02020603050405020304" pitchFamily="18" charset="0"/>
                          </a:rPr>
                        </m:ctrlPr>
                      </m:sSubPr>
                      <m:e>
                        <m:r>
                          <a:rPr lang="ru-RU" sz="2200" i="1">
                            <a:effectLst/>
                            <a:latin typeface="Cambria Math" panose="02040503050406030204" pitchFamily="18" charset="0"/>
                            <a:ea typeface="Calibri" panose="020F0502020204030204" pitchFamily="34" charset="0"/>
                            <a:cs typeface="Times New Roman" panose="02020603050405020304" pitchFamily="18" charset="0"/>
                          </a:rPr>
                          <m:t>𝑏</m:t>
                        </m:r>
                      </m:e>
                      <m:sub>
                        <m:r>
                          <a:rPr lang="ru-RU" sz="2200" i="1">
                            <a:effectLst/>
                            <a:latin typeface="Cambria Math" panose="02040503050406030204" pitchFamily="18" charset="0"/>
                            <a:ea typeface="Calibri" panose="020F0502020204030204" pitchFamily="34" charset="0"/>
                            <a:cs typeface="Times New Roman" panose="02020603050405020304" pitchFamily="18" charset="0"/>
                          </a:rPr>
                          <m:t>𝑗</m:t>
                        </m:r>
                        <m:r>
                          <a:rPr lang="ru-RU" sz="2200" i="1">
                            <a:effectLst/>
                            <a:latin typeface="Cambria Math" panose="02040503050406030204" pitchFamily="18" charset="0"/>
                            <a:ea typeface="Calibri" panose="020F0502020204030204" pitchFamily="34" charset="0"/>
                            <a:cs typeface="Times New Roman" panose="02020603050405020304" pitchFamily="18" charset="0"/>
                          </a:rPr>
                          <m:t> </m:t>
                        </m:r>
                      </m:sub>
                    </m:sSub>
                    <m:r>
                      <a:rPr lang="ru-RU" sz="2200" i="1">
                        <a:effectLst/>
                        <a:latin typeface="Cambria Math" panose="02040503050406030204" pitchFamily="18" charset="0"/>
                        <a:ea typeface="Calibri" panose="020F0502020204030204" pitchFamily="34" charset="0"/>
                        <a:cs typeface="Times New Roman" panose="02020603050405020304" pitchFamily="18" charset="0"/>
                      </a:rPr>
                      <m:t>∀ </m:t>
                    </m:r>
                    <m:r>
                      <a:rPr lang="ru-RU" sz="2200" i="1">
                        <a:effectLst/>
                        <a:latin typeface="Cambria Math" panose="02040503050406030204" pitchFamily="18" charset="0"/>
                        <a:ea typeface="Calibri" panose="020F0502020204030204" pitchFamily="34" charset="0"/>
                        <a:cs typeface="Times New Roman" panose="02020603050405020304" pitchFamily="18" charset="0"/>
                      </a:rPr>
                      <m:t>𝑖</m:t>
                    </m:r>
                    <m:r>
                      <a:rPr lang="ru-RU" sz="2200" i="1">
                        <a:effectLst/>
                        <a:latin typeface="Cambria Math" panose="02040503050406030204" pitchFamily="18" charset="0"/>
                        <a:ea typeface="Calibri" panose="020F0502020204030204" pitchFamily="34" charset="0"/>
                        <a:cs typeface="Times New Roman" panose="02020603050405020304" pitchFamily="18" charset="0"/>
                      </a:rPr>
                      <m:t>≠</m:t>
                    </m:r>
                    <m:r>
                      <a:rPr lang="ru-RU" sz="2200" i="1">
                        <a:effectLst/>
                        <a:latin typeface="Cambria Math" panose="02040503050406030204" pitchFamily="18" charset="0"/>
                        <a:ea typeface="Calibri" panose="020F0502020204030204" pitchFamily="34" charset="0"/>
                        <a:cs typeface="Times New Roman" panose="02020603050405020304" pitchFamily="18" charset="0"/>
                      </a:rPr>
                      <m:t>𝑗</m:t>
                    </m:r>
                  </m:oMath>
                </a14:m>
                <a:endParaRPr lang="ru-RU" sz="2200" dirty="0">
                  <a:effectLst/>
                  <a:latin typeface="Times New Roman" panose="02020603050405020304" pitchFamily="18" charset="0"/>
                  <a:ea typeface="Calibri" panose="020F0502020204030204" pitchFamily="34" charset="0"/>
                  <a:cs typeface="Times New Roman" panose="02020603050405020304" pitchFamily="18" charset="0"/>
                </a:endParaRPr>
              </a:p>
              <a:p>
                <a:pPr lvl="0" algn="just">
                  <a:lnSpc>
                    <a:spcPct val="150000"/>
                  </a:lnSpc>
                  <a:spcAft>
                    <a:spcPts val="800"/>
                  </a:spcAft>
                  <a:tabLst>
                    <a:tab pos="810260" algn="l"/>
                  </a:tabLst>
                </a:pPr>
                <a:r>
                  <a:rPr lang="ru-RU" sz="2200" dirty="0">
                    <a:effectLst/>
                    <a:latin typeface="Times New Roman" panose="02020603050405020304" pitchFamily="18" charset="0"/>
                    <a:ea typeface="Calibri" panose="020F0502020204030204" pitchFamily="34" charset="0"/>
                    <a:cs typeface="Times New Roman" panose="02020603050405020304" pitchFamily="18" charset="0"/>
                  </a:rPr>
                  <a:t>2.    </a:t>
                </a:r>
                <a14:m>
                  <m:oMath xmlns:m="http://schemas.openxmlformats.org/officeDocument/2006/math">
                    <m:sSub>
                      <m:sSubPr>
                        <m:ctrlPr>
                          <a:rPr lang="ru-RU" sz="2200" i="1">
                            <a:effectLst/>
                            <a:latin typeface="Cambria Math" panose="02040503050406030204" pitchFamily="18" charset="0"/>
                            <a:ea typeface="Calibri" panose="020F0502020204030204" pitchFamily="34" charset="0"/>
                            <a:cs typeface="Times New Roman" panose="02020603050405020304" pitchFamily="18" charset="0"/>
                          </a:rPr>
                        </m:ctrlPr>
                      </m:sSubPr>
                      <m:e>
                        <m:r>
                          <a:rPr lang="ru-RU" sz="2200" i="1">
                            <a:effectLst/>
                            <a:latin typeface="Cambria Math" panose="02040503050406030204" pitchFamily="18" charset="0"/>
                            <a:ea typeface="Calibri" panose="020F0502020204030204" pitchFamily="34" charset="0"/>
                            <a:cs typeface="Times New Roman" panose="02020603050405020304" pitchFamily="18" charset="0"/>
                          </a:rPr>
                          <m:t>𝑏</m:t>
                        </m:r>
                      </m:e>
                      <m:sub>
                        <m:r>
                          <a:rPr lang="ru-RU" sz="2200" i="1">
                            <a:effectLst/>
                            <a:latin typeface="Cambria Math" panose="02040503050406030204" pitchFamily="18" charset="0"/>
                            <a:ea typeface="Calibri" panose="020F0502020204030204" pitchFamily="34" charset="0"/>
                            <a:cs typeface="Times New Roman" panose="02020603050405020304" pitchFamily="18" charset="0"/>
                          </a:rPr>
                          <m:t>1</m:t>
                        </m:r>
                      </m:sub>
                    </m:sSub>
                    <m:r>
                      <a:rPr lang="ru-RU" sz="22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ru-RU" sz="2200" i="1">
                            <a:effectLst/>
                            <a:latin typeface="Cambria Math" panose="02040503050406030204" pitchFamily="18" charset="0"/>
                            <a:ea typeface="Calibri" panose="020F0502020204030204" pitchFamily="34" charset="0"/>
                            <a:cs typeface="Times New Roman" panose="02020603050405020304" pitchFamily="18" charset="0"/>
                          </a:rPr>
                        </m:ctrlPr>
                      </m:sSubPr>
                      <m:e>
                        <m:r>
                          <a:rPr lang="ru-RU" sz="2200" i="1">
                            <a:effectLst/>
                            <a:latin typeface="Cambria Math" panose="02040503050406030204" pitchFamily="18" charset="0"/>
                            <a:ea typeface="Calibri" panose="020F0502020204030204" pitchFamily="34" charset="0"/>
                            <a:cs typeface="Times New Roman" panose="02020603050405020304" pitchFamily="18" charset="0"/>
                          </a:rPr>
                          <m:t>𝑎</m:t>
                        </m:r>
                      </m:e>
                      <m:sub>
                        <m:r>
                          <a:rPr lang="ru-RU" sz="2200" i="1">
                            <a:effectLst/>
                            <a:latin typeface="Cambria Math" panose="02040503050406030204" pitchFamily="18" charset="0"/>
                            <a:ea typeface="Calibri" panose="020F0502020204030204" pitchFamily="34" charset="0"/>
                            <a:cs typeface="Times New Roman" panose="02020603050405020304" pitchFamily="18" charset="0"/>
                          </a:rPr>
                          <m:t>1</m:t>
                        </m:r>
                      </m:sub>
                    </m:sSub>
                  </m:oMath>
                </a14:m>
                <a:endParaRPr lang="ru-RU" sz="2200" i="1" dirty="0">
                  <a:effectLst/>
                  <a:latin typeface="Times New Roman" panose="02020603050405020304" pitchFamily="18" charset="0"/>
                  <a:ea typeface="Calibri" panose="020F0502020204030204" pitchFamily="34" charset="0"/>
                  <a:cs typeface="Times New Roman" panose="02020603050405020304" pitchFamily="18" charset="0"/>
                </a:endParaRPr>
              </a:p>
              <a:p>
                <a:pPr lvl="0" algn="just">
                  <a:lnSpc>
                    <a:spcPct val="150000"/>
                  </a:lnSpc>
                  <a:spcAft>
                    <a:spcPts val="800"/>
                  </a:spcAft>
                  <a:tabLst>
                    <a:tab pos="810260" algn="l"/>
                  </a:tabLst>
                </a:pPr>
                <a:r>
                  <a:rPr lang="ru-RU" sz="2200" dirty="0">
                    <a:effectLst/>
                    <a:latin typeface="Times New Roman" panose="02020603050405020304" pitchFamily="18" charset="0"/>
                    <a:ea typeface="Calibri" panose="020F0502020204030204" pitchFamily="34" charset="0"/>
                    <a:cs typeface="Times New Roman" panose="02020603050405020304" pitchFamily="18" charset="0"/>
                  </a:rPr>
                  <a:t>       </a:t>
                </a:r>
                <a14:m>
                  <m:oMath xmlns:m="http://schemas.openxmlformats.org/officeDocument/2006/math">
                    <m:sSub>
                      <m:sSubPr>
                        <m:ctrlPr>
                          <a:rPr lang="ru-RU" sz="2200" i="1">
                            <a:effectLst/>
                            <a:latin typeface="Cambria Math" panose="02040503050406030204" pitchFamily="18" charset="0"/>
                            <a:ea typeface="Calibri" panose="020F0502020204030204" pitchFamily="34" charset="0"/>
                            <a:cs typeface="Times New Roman" panose="02020603050405020304" pitchFamily="18" charset="0"/>
                          </a:rPr>
                        </m:ctrlPr>
                      </m:sSubPr>
                      <m:e>
                        <m:r>
                          <a:rPr lang="ru-RU" sz="2200" i="1">
                            <a:effectLst/>
                            <a:latin typeface="Cambria Math" panose="02040503050406030204" pitchFamily="18" charset="0"/>
                            <a:ea typeface="Calibri" panose="020F0502020204030204" pitchFamily="34" charset="0"/>
                            <a:cs typeface="Times New Roman" panose="02020603050405020304" pitchFamily="18" charset="0"/>
                          </a:rPr>
                          <m:t>𝑏</m:t>
                        </m:r>
                      </m:e>
                      <m:sub>
                        <m:r>
                          <a:rPr lang="ru-RU" sz="2200" i="1">
                            <a:effectLst/>
                            <a:latin typeface="Cambria Math" panose="02040503050406030204" pitchFamily="18" charset="0"/>
                            <a:ea typeface="Calibri" panose="020F0502020204030204" pitchFamily="34" charset="0"/>
                            <a:cs typeface="Times New Roman" panose="02020603050405020304" pitchFamily="18" charset="0"/>
                          </a:rPr>
                          <m:t>2</m:t>
                        </m:r>
                      </m:sub>
                    </m:sSub>
                    <m:r>
                      <a:rPr lang="ru-RU" sz="22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ru-RU" sz="2200" i="1">
                            <a:effectLst/>
                            <a:latin typeface="Cambria Math" panose="02040503050406030204" pitchFamily="18" charset="0"/>
                            <a:ea typeface="Calibri" panose="020F0502020204030204" pitchFamily="34" charset="0"/>
                            <a:cs typeface="Times New Roman" panose="02020603050405020304" pitchFamily="18" charset="0"/>
                          </a:rPr>
                        </m:ctrlPr>
                      </m:sSubPr>
                      <m:e>
                        <m:r>
                          <a:rPr lang="ru-RU" sz="2200" i="1">
                            <a:effectLst/>
                            <a:latin typeface="Cambria Math" panose="02040503050406030204" pitchFamily="18" charset="0"/>
                            <a:ea typeface="Calibri" panose="020F0502020204030204" pitchFamily="34" charset="0"/>
                            <a:cs typeface="Times New Roman" panose="02020603050405020304" pitchFamily="18" charset="0"/>
                          </a:rPr>
                          <m:t>𝑎</m:t>
                        </m:r>
                      </m:e>
                      <m:sub>
                        <m:r>
                          <a:rPr lang="ru-RU" sz="2200" i="1">
                            <a:effectLst/>
                            <a:latin typeface="Cambria Math" panose="02040503050406030204" pitchFamily="18" charset="0"/>
                            <a:ea typeface="Calibri" panose="020F0502020204030204" pitchFamily="34" charset="0"/>
                            <a:cs typeface="Times New Roman" panose="02020603050405020304" pitchFamily="18" charset="0"/>
                          </a:rPr>
                          <m:t>2</m:t>
                        </m:r>
                      </m:sub>
                    </m:sSub>
                    <m:r>
                      <a:rPr lang="ru-RU" sz="2200" i="1">
                        <a:effectLst/>
                        <a:latin typeface="Cambria Math" panose="02040503050406030204" pitchFamily="18" charset="0"/>
                        <a:ea typeface="Calibri" panose="020F0502020204030204" pitchFamily="34" charset="0"/>
                        <a:cs typeface="Times New Roman" panose="02020603050405020304" pitchFamily="18" charset="0"/>
                      </a:rPr>
                      <m:t>−</m:t>
                    </m:r>
                    <m:r>
                      <a:rPr lang="ru-RU" sz="2200" i="1">
                        <a:effectLst/>
                        <a:latin typeface="Cambria Math" panose="02040503050406030204" pitchFamily="18" charset="0"/>
                        <a:ea typeface="Calibri" panose="020F0502020204030204" pitchFamily="34" charset="0"/>
                        <a:cs typeface="Times New Roman" panose="02020603050405020304" pitchFamily="18" charset="0"/>
                      </a:rPr>
                      <m:t>𝑃</m:t>
                    </m:r>
                    <m:sSub>
                      <m:sSubPr>
                        <m:ctrlPr>
                          <a:rPr lang="ru-RU" sz="2200" i="1">
                            <a:effectLst/>
                            <a:latin typeface="Cambria Math" panose="02040503050406030204" pitchFamily="18" charset="0"/>
                            <a:ea typeface="Calibri" panose="020F0502020204030204" pitchFamily="34" charset="0"/>
                            <a:cs typeface="Times New Roman" panose="02020603050405020304" pitchFamily="18" charset="0"/>
                          </a:rPr>
                        </m:ctrlPr>
                      </m:sSubPr>
                      <m:e>
                        <m:r>
                          <a:rPr lang="ru-RU" sz="2200" i="1">
                            <a:effectLst/>
                            <a:latin typeface="Cambria Math" panose="02040503050406030204" pitchFamily="18" charset="0"/>
                            <a:ea typeface="Calibri" panose="020F0502020204030204" pitchFamily="34" charset="0"/>
                            <a:cs typeface="Times New Roman" panose="02020603050405020304" pitchFamily="18" charset="0"/>
                          </a:rPr>
                          <m:t>𝑟</m:t>
                        </m:r>
                      </m:e>
                      <m:sub>
                        <m:sSub>
                          <m:sSubPr>
                            <m:ctrlPr>
                              <a:rPr lang="ru-RU" sz="2200" i="1">
                                <a:effectLst/>
                                <a:latin typeface="Cambria Math" panose="02040503050406030204" pitchFamily="18" charset="0"/>
                                <a:ea typeface="Calibri" panose="020F0502020204030204" pitchFamily="34" charset="0"/>
                                <a:cs typeface="Times New Roman" panose="02020603050405020304" pitchFamily="18" charset="0"/>
                              </a:rPr>
                            </m:ctrlPr>
                          </m:sSubPr>
                          <m:e>
                            <m:r>
                              <a:rPr lang="ru-RU" sz="2200" i="1">
                                <a:effectLst/>
                                <a:latin typeface="Cambria Math" panose="02040503050406030204" pitchFamily="18" charset="0"/>
                                <a:ea typeface="Calibri" panose="020F0502020204030204" pitchFamily="34" charset="0"/>
                                <a:cs typeface="Times New Roman" panose="02020603050405020304" pitchFamily="18" charset="0"/>
                              </a:rPr>
                              <m:t>𝑏</m:t>
                            </m:r>
                          </m:e>
                          <m:sub>
                            <m:r>
                              <a:rPr lang="ru-RU" sz="2200" i="1">
                                <a:effectLst/>
                                <a:latin typeface="Cambria Math" panose="02040503050406030204" pitchFamily="18" charset="0"/>
                                <a:ea typeface="Calibri" panose="020F0502020204030204" pitchFamily="34" charset="0"/>
                                <a:cs typeface="Times New Roman" panose="02020603050405020304" pitchFamily="18" charset="0"/>
                              </a:rPr>
                              <m:t>1</m:t>
                            </m:r>
                          </m:sub>
                        </m:sSub>
                      </m:sub>
                    </m:sSub>
                    <m:sSub>
                      <m:sSubPr>
                        <m:ctrlPr>
                          <a:rPr lang="ru-RU" sz="2200" i="1">
                            <a:effectLst/>
                            <a:latin typeface="Cambria Math" panose="02040503050406030204" pitchFamily="18" charset="0"/>
                            <a:ea typeface="Calibri" panose="020F0502020204030204" pitchFamily="34" charset="0"/>
                            <a:cs typeface="Times New Roman" panose="02020603050405020304" pitchFamily="18" charset="0"/>
                          </a:rPr>
                        </m:ctrlPr>
                      </m:sSubPr>
                      <m:e>
                        <m:r>
                          <a:rPr lang="ru-RU" sz="2200" i="1">
                            <a:effectLst/>
                            <a:latin typeface="Cambria Math" panose="02040503050406030204" pitchFamily="18" charset="0"/>
                            <a:ea typeface="Calibri" panose="020F0502020204030204" pitchFamily="34" charset="0"/>
                            <a:cs typeface="Times New Roman" panose="02020603050405020304" pitchFamily="18" charset="0"/>
                          </a:rPr>
                          <m:t>𝑎</m:t>
                        </m:r>
                      </m:e>
                      <m:sub>
                        <m:r>
                          <a:rPr lang="ru-RU" sz="2200" i="1">
                            <a:effectLst/>
                            <a:latin typeface="Cambria Math" panose="02040503050406030204" pitchFamily="18" charset="0"/>
                            <a:ea typeface="Calibri" panose="020F0502020204030204" pitchFamily="34" charset="0"/>
                            <a:cs typeface="Times New Roman" panose="02020603050405020304" pitchFamily="18" charset="0"/>
                          </a:rPr>
                          <m:t>2</m:t>
                        </m:r>
                      </m:sub>
                    </m:sSub>
                  </m:oMath>
                </a14:m>
                <a:endParaRPr lang="ru-RU" sz="22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r>
                  <a:rPr lang="ru-RU" sz="2200" i="1" dirty="0">
                    <a:effectLst/>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r>
                      <a:rPr lang="ru-RU" sz="2200" b="0" i="1" smtClean="0">
                        <a:effectLst/>
                        <a:latin typeface="Cambria Math" panose="02040503050406030204" pitchFamily="18" charset="0"/>
                        <a:ea typeface="Calibri" panose="020F0502020204030204" pitchFamily="34" charset="0"/>
                        <a:cs typeface="Times New Roman" panose="02020603050405020304" pitchFamily="18" charset="0"/>
                      </a:rPr>
                      <m:t>      </m:t>
                    </m:r>
                    <m:sSub>
                      <m:sSubPr>
                        <m:ctrlPr>
                          <a:rPr lang="ru-RU" sz="2200" i="1">
                            <a:effectLst/>
                            <a:latin typeface="Cambria Math" panose="02040503050406030204" pitchFamily="18" charset="0"/>
                            <a:ea typeface="Calibri" panose="020F0502020204030204" pitchFamily="34" charset="0"/>
                            <a:cs typeface="Times New Roman" panose="02020603050405020304" pitchFamily="18" charset="0"/>
                          </a:rPr>
                        </m:ctrlPr>
                      </m:sSubPr>
                      <m:e>
                        <m:r>
                          <a:rPr lang="ru-RU" sz="2200" i="1">
                            <a:effectLst/>
                            <a:latin typeface="Cambria Math" panose="02040503050406030204" pitchFamily="18" charset="0"/>
                            <a:ea typeface="Calibri" panose="020F0502020204030204" pitchFamily="34" charset="0"/>
                            <a:cs typeface="Times New Roman" panose="02020603050405020304" pitchFamily="18" charset="0"/>
                          </a:rPr>
                          <m:t>𝑏</m:t>
                        </m:r>
                      </m:e>
                      <m:sub>
                        <m:r>
                          <a:rPr lang="ru-RU" sz="2200" i="1">
                            <a:effectLst/>
                            <a:latin typeface="Cambria Math" panose="02040503050406030204" pitchFamily="18" charset="0"/>
                            <a:ea typeface="Calibri" panose="020F0502020204030204" pitchFamily="34" charset="0"/>
                            <a:cs typeface="Times New Roman" panose="02020603050405020304" pitchFamily="18" charset="0"/>
                          </a:rPr>
                          <m:t>3</m:t>
                        </m:r>
                      </m:sub>
                    </m:sSub>
                    <m:r>
                      <a:rPr lang="ru-RU" sz="22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ru-RU" sz="2200" i="1">
                            <a:effectLst/>
                            <a:latin typeface="Cambria Math" panose="02040503050406030204" pitchFamily="18" charset="0"/>
                            <a:ea typeface="Calibri" panose="020F0502020204030204" pitchFamily="34" charset="0"/>
                            <a:cs typeface="Times New Roman" panose="02020603050405020304" pitchFamily="18" charset="0"/>
                          </a:rPr>
                        </m:ctrlPr>
                      </m:sSubPr>
                      <m:e>
                        <m:r>
                          <a:rPr lang="ru-RU" sz="2200" i="1">
                            <a:effectLst/>
                            <a:latin typeface="Cambria Math" panose="02040503050406030204" pitchFamily="18" charset="0"/>
                            <a:ea typeface="Calibri" panose="020F0502020204030204" pitchFamily="34" charset="0"/>
                            <a:cs typeface="Times New Roman" panose="02020603050405020304" pitchFamily="18" charset="0"/>
                          </a:rPr>
                          <m:t>𝑎</m:t>
                        </m:r>
                      </m:e>
                      <m:sub>
                        <m:r>
                          <a:rPr lang="ru-RU" sz="2200" i="1">
                            <a:effectLst/>
                            <a:latin typeface="Cambria Math" panose="02040503050406030204" pitchFamily="18" charset="0"/>
                            <a:ea typeface="Calibri" panose="020F0502020204030204" pitchFamily="34" charset="0"/>
                            <a:cs typeface="Times New Roman" panose="02020603050405020304" pitchFamily="18" charset="0"/>
                          </a:rPr>
                          <m:t>3</m:t>
                        </m:r>
                      </m:sub>
                    </m:sSub>
                    <m:r>
                      <a:rPr lang="ru-RU" sz="2200" i="1">
                        <a:effectLst/>
                        <a:latin typeface="Cambria Math" panose="02040503050406030204" pitchFamily="18" charset="0"/>
                        <a:ea typeface="Calibri" panose="020F0502020204030204" pitchFamily="34" charset="0"/>
                        <a:cs typeface="Times New Roman" panose="02020603050405020304" pitchFamily="18" charset="0"/>
                      </a:rPr>
                      <m:t>−</m:t>
                    </m:r>
                    <m:r>
                      <a:rPr lang="ru-RU" sz="2200" i="1">
                        <a:effectLst/>
                        <a:latin typeface="Cambria Math" panose="02040503050406030204" pitchFamily="18" charset="0"/>
                        <a:ea typeface="Calibri" panose="020F0502020204030204" pitchFamily="34" charset="0"/>
                        <a:cs typeface="Times New Roman" panose="02020603050405020304" pitchFamily="18" charset="0"/>
                      </a:rPr>
                      <m:t>𝑃</m:t>
                    </m:r>
                    <m:sSub>
                      <m:sSubPr>
                        <m:ctrlPr>
                          <a:rPr lang="ru-RU" sz="2200" i="1">
                            <a:effectLst/>
                            <a:latin typeface="Cambria Math" panose="02040503050406030204" pitchFamily="18" charset="0"/>
                            <a:ea typeface="Calibri" panose="020F0502020204030204" pitchFamily="34" charset="0"/>
                            <a:cs typeface="Times New Roman" panose="02020603050405020304" pitchFamily="18" charset="0"/>
                          </a:rPr>
                        </m:ctrlPr>
                      </m:sSubPr>
                      <m:e>
                        <m:r>
                          <a:rPr lang="ru-RU" sz="2200" i="1">
                            <a:effectLst/>
                            <a:latin typeface="Cambria Math" panose="02040503050406030204" pitchFamily="18" charset="0"/>
                            <a:ea typeface="Calibri" panose="020F0502020204030204" pitchFamily="34" charset="0"/>
                            <a:cs typeface="Times New Roman" panose="02020603050405020304" pitchFamily="18" charset="0"/>
                          </a:rPr>
                          <m:t>𝑟</m:t>
                        </m:r>
                      </m:e>
                      <m:sub>
                        <m:sSub>
                          <m:sSubPr>
                            <m:ctrlPr>
                              <a:rPr lang="ru-RU" sz="2200" i="1">
                                <a:effectLst/>
                                <a:latin typeface="Cambria Math" panose="02040503050406030204" pitchFamily="18" charset="0"/>
                                <a:ea typeface="Calibri" panose="020F0502020204030204" pitchFamily="34" charset="0"/>
                                <a:cs typeface="Times New Roman" panose="02020603050405020304" pitchFamily="18" charset="0"/>
                              </a:rPr>
                            </m:ctrlPr>
                          </m:sSubPr>
                          <m:e>
                            <m:r>
                              <a:rPr lang="ru-RU" sz="2200" i="1">
                                <a:effectLst/>
                                <a:latin typeface="Cambria Math" panose="02040503050406030204" pitchFamily="18" charset="0"/>
                                <a:ea typeface="Calibri" panose="020F0502020204030204" pitchFamily="34" charset="0"/>
                                <a:cs typeface="Times New Roman" panose="02020603050405020304" pitchFamily="18" charset="0"/>
                              </a:rPr>
                              <m:t>𝑏</m:t>
                            </m:r>
                          </m:e>
                          <m:sub>
                            <m:r>
                              <a:rPr lang="ru-RU" sz="2200" i="1">
                                <a:effectLst/>
                                <a:latin typeface="Cambria Math" panose="02040503050406030204" pitchFamily="18" charset="0"/>
                                <a:ea typeface="Calibri" panose="020F0502020204030204" pitchFamily="34" charset="0"/>
                                <a:cs typeface="Times New Roman" panose="02020603050405020304" pitchFamily="18" charset="0"/>
                              </a:rPr>
                              <m:t>1</m:t>
                            </m:r>
                          </m:sub>
                        </m:sSub>
                      </m:sub>
                    </m:sSub>
                    <m:sSub>
                      <m:sSubPr>
                        <m:ctrlPr>
                          <a:rPr lang="ru-RU" sz="2200" i="1">
                            <a:effectLst/>
                            <a:latin typeface="Cambria Math" panose="02040503050406030204" pitchFamily="18" charset="0"/>
                            <a:ea typeface="Calibri" panose="020F0502020204030204" pitchFamily="34" charset="0"/>
                            <a:cs typeface="Times New Roman" panose="02020603050405020304" pitchFamily="18" charset="0"/>
                          </a:rPr>
                        </m:ctrlPr>
                      </m:sSubPr>
                      <m:e>
                        <m:r>
                          <a:rPr lang="ru-RU" sz="2200" i="1">
                            <a:effectLst/>
                            <a:latin typeface="Cambria Math" panose="02040503050406030204" pitchFamily="18" charset="0"/>
                            <a:ea typeface="Calibri" panose="020F0502020204030204" pitchFamily="34" charset="0"/>
                            <a:cs typeface="Times New Roman" panose="02020603050405020304" pitchFamily="18" charset="0"/>
                          </a:rPr>
                          <m:t>𝑎</m:t>
                        </m:r>
                      </m:e>
                      <m:sub>
                        <m:r>
                          <a:rPr lang="ru-RU" sz="2200" i="1">
                            <a:effectLst/>
                            <a:latin typeface="Cambria Math" panose="02040503050406030204" pitchFamily="18" charset="0"/>
                            <a:ea typeface="Calibri" panose="020F0502020204030204" pitchFamily="34" charset="0"/>
                            <a:cs typeface="Times New Roman" panose="02020603050405020304" pitchFamily="18" charset="0"/>
                          </a:rPr>
                          <m:t>3</m:t>
                        </m:r>
                      </m:sub>
                    </m:sSub>
                    <m:r>
                      <a:rPr lang="ru-RU" sz="2200" i="1">
                        <a:effectLst/>
                        <a:latin typeface="Cambria Math" panose="02040503050406030204" pitchFamily="18" charset="0"/>
                        <a:ea typeface="Calibri" panose="020F0502020204030204" pitchFamily="34" charset="0"/>
                        <a:cs typeface="Times New Roman" panose="02020603050405020304" pitchFamily="18" charset="0"/>
                      </a:rPr>
                      <m:t>−</m:t>
                    </m:r>
                    <m:r>
                      <a:rPr lang="ru-RU" sz="2200" i="1">
                        <a:effectLst/>
                        <a:latin typeface="Cambria Math" panose="02040503050406030204" pitchFamily="18" charset="0"/>
                        <a:ea typeface="Calibri" panose="020F0502020204030204" pitchFamily="34" charset="0"/>
                        <a:cs typeface="Times New Roman" panose="02020603050405020304" pitchFamily="18" charset="0"/>
                      </a:rPr>
                      <m:t>𝑃</m:t>
                    </m:r>
                    <m:sSub>
                      <m:sSubPr>
                        <m:ctrlPr>
                          <a:rPr lang="ru-RU" sz="2200" i="1">
                            <a:effectLst/>
                            <a:latin typeface="Cambria Math" panose="02040503050406030204" pitchFamily="18" charset="0"/>
                            <a:ea typeface="Calibri" panose="020F0502020204030204" pitchFamily="34" charset="0"/>
                            <a:cs typeface="Times New Roman" panose="02020603050405020304" pitchFamily="18" charset="0"/>
                          </a:rPr>
                        </m:ctrlPr>
                      </m:sSubPr>
                      <m:e>
                        <m:r>
                          <a:rPr lang="ru-RU" sz="2200" i="1">
                            <a:effectLst/>
                            <a:latin typeface="Cambria Math" panose="02040503050406030204" pitchFamily="18" charset="0"/>
                            <a:ea typeface="Calibri" panose="020F0502020204030204" pitchFamily="34" charset="0"/>
                            <a:cs typeface="Times New Roman" panose="02020603050405020304" pitchFamily="18" charset="0"/>
                          </a:rPr>
                          <m:t>𝑟</m:t>
                        </m:r>
                      </m:e>
                      <m:sub>
                        <m:sSub>
                          <m:sSubPr>
                            <m:ctrlPr>
                              <a:rPr lang="ru-RU" sz="2200" i="1">
                                <a:effectLst/>
                                <a:latin typeface="Cambria Math" panose="02040503050406030204" pitchFamily="18" charset="0"/>
                                <a:ea typeface="Calibri" panose="020F0502020204030204" pitchFamily="34" charset="0"/>
                                <a:cs typeface="Times New Roman" panose="02020603050405020304" pitchFamily="18" charset="0"/>
                              </a:rPr>
                            </m:ctrlPr>
                          </m:sSubPr>
                          <m:e>
                            <m:r>
                              <a:rPr lang="ru-RU" sz="2200" i="1">
                                <a:effectLst/>
                                <a:latin typeface="Cambria Math" panose="02040503050406030204" pitchFamily="18" charset="0"/>
                                <a:ea typeface="Calibri" panose="020F0502020204030204" pitchFamily="34" charset="0"/>
                                <a:cs typeface="Times New Roman" panose="02020603050405020304" pitchFamily="18" charset="0"/>
                              </a:rPr>
                              <m:t>𝑏</m:t>
                            </m:r>
                          </m:e>
                          <m:sub>
                            <m:r>
                              <a:rPr lang="ru-RU" sz="2200" i="1">
                                <a:effectLst/>
                                <a:latin typeface="Cambria Math" panose="02040503050406030204" pitchFamily="18" charset="0"/>
                                <a:ea typeface="Calibri" panose="020F0502020204030204" pitchFamily="34" charset="0"/>
                                <a:cs typeface="Times New Roman" panose="02020603050405020304" pitchFamily="18" charset="0"/>
                              </a:rPr>
                              <m:t>2</m:t>
                            </m:r>
                          </m:sub>
                        </m:sSub>
                      </m:sub>
                    </m:sSub>
                    <m:sSub>
                      <m:sSubPr>
                        <m:ctrlPr>
                          <a:rPr lang="ru-RU" sz="2200" i="1">
                            <a:effectLst/>
                            <a:latin typeface="Cambria Math" panose="02040503050406030204" pitchFamily="18" charset="0"/>
                            <a:ea typeface="Calibri" panose="020F0502020204030204" pitchFamily="34" charset="0"/>
                            <a:cs typeface="Times New Roman" panose="02020603050405020304" pitchFamily="18" charset="0"/>
                          </a:rPr>
                        </m:ctrlPr>
                      </m:sSubPr>
                      <m:e>
                        <m:r>
                          <a:rPr lang="ru-RU" sz="2200" i="1">
                            <a:effectLst/>
                            <a:latin typeface="Cambria Math" panose="02040503050406030204" pitchFamily="18" charset="0"/>
                            <a:ea typeface="Calibri" panose="020F0502020204030204" pitchFamily="34" charset="0"/>
                            <a:cs typeface="Times New Roman" panose="02020603050405020304" pitchFamily="18" charset="0"/>
                          </a:rPr>
                          <m:t>𝑎</m:t>
                        </m:r>
                      </m:e>
                      <m:sub>
                        <m:r>
                          <a:rPr lang="ru-RU" sz="2200" i="1">
                            <a:effectLst/>
                            <a:latin typeface="Cambria Math" panose="02040503050406030204" pitchFamily="18" charset="0"/>
                            <a:ea typeface="Calibri" panose="020F0502020204030204" pitchFamily="34" charset="0"/>
                            <a:cs typeface="Times New Roman" panose="02020603050405020304" pitchFamily="18" charset="0"/>
                          </a:rPr>
                          <m:t>3</m:t>
                        </m:r>
                      </m:sub>
                    </m:sSub>
                  </m:oMath>
                </a14:m>
                <a:endParaRPr lang="ru-RU" sz="2200" i="1"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r>
                  <a:rPr lang="ru-RU" sz="2200" dirty="0">
                    <a:effectLst/>
                    <a:latin typeface="Times New Roman" panose="02020603050405020304" pitchFamily="18" charset="0"/>
                    <a:ea typeface="Calibri" panose="020F0502020204030204" pitchFamily="34" charset="0"/>
                    <a:cs typeface="Times New Roman" panose="02020603050405020304" pitchFamily="18" charset="0"/>
                  </a:rPr>
                  <a:t>       </a:t>
                </a:r>
                <a14:m>
                  <m:oMath xmlns:m="http://schemas.openxmlformats.org/officeDocument/2006/math">
                    <m:r>
                      <a:rPr lang="ru-RU" sz="2200" i="1">
                        <a:effectLst/>
                        <a:latin typeface="Cambria Math" panose="02040503050406030204" pitchFamily="18" charset="0"/>
                        <a:ea typeface="Calibri" panose="020F0502020204030204" pitchFamily="34" charset="0"/>
                        <a:cs typeface="Times New Roman" panose="02020603050405020304" pitchFamily="18" charset="0"/>
                      </a:rPr>
                      <m:t>⋯</m:t>
                    </m:r>
                  </m:oMath>
                </a14:m>
                <a:endParaRPr lang="ru-RU" sz="2200" i="1"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r>
                  <a:rPr lang="ru-RU" sz="2200" dirty="0">
                    <a:effectLst/>
                    <a:latin typeface="Times New Roman" panose="02020603050405020304" pitchFamily="18" charset="0"/>
                    <a:ea typeface="Calibri" panose="020F0502020204030204" pitchFamily="34" charset="0"/>
                    <a:cs typeface="Times New Roman" panose="02020603050405020304" pitchFamily="18" charset="0"/>
                  </a:rPr>
                  <a:t>       </a:t>
                </a:r>
                <a14:m>
                  <m:oMath xmlns:m="http://schemas.openxmlformats.org/officeDocument/2006/math">
                    <m:sSub>
                      <m:sSubPr>
                        <m:ctrlPr>
                          <a:rPr lang="ru-RU" sz="2200" i="1">
                            <a:effectLst/>
                            <a:latin typeface="Cambria Math" panose="02040503050406030204" pitchFamily="18" charset="0"/>
                            <a:ea typeface="Calibri" panose="020F0502020204030204" pitchFamily="34" charset="0"/>
                            <a:cs typeface="Times New Roman" panose="02020603050405020304" pitchFamily="18" charset="0"/>
                          </a:rPr>
                        </m:ctrlPr>
                      </m:sSubPr>
                      <m:e>
                        <m:r>
                          <a:rPr lang="ru-RU" sz="2200" i="1">
                            <a:effectLst/>
                            <a:latin typeface="Cambria Math" panose="02040503050406030204" pitchFamily="18" charset="0"/>
                            <a:ea typeface="Calibri" panose="020F0502020204030204" pitchFamily="34" charset="0"/>
                            <a:cs typeface="Times New Roman" panose="02020603050405020304" pitchFamily="18" charset="0"/>
                          </a:rPr>
                          <m:t>𝑏</m:t>
                        </m:r>
                      </m:e>
                      <m:sub>
                        <m:r>
                          <a:rPr lang="ru-RU" sz="2200" i="1">
                            <a:effectLst/>
                            <a:latin typeface="Cambria Math" panose="02040503050406030204" pitchFamily="18" charset="0"/>
                            <a:ea typeface="Calibri" panose="020F0502020204030204" pitchFamily="34" charset="0"/>
                            <a:cs typeface="Times New Roman" panose="02020603050405020304" pitchFamily="18" charset="0"/>
                          </a:rPr>
                          <m:t>𝑛</m:t>
                        </m:r>
                      </m:sub>
                    </m:sSub>
                    <m:r>
                      <a:rPr lang="ru-RU" sz="22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ru-RU" sz="2200" i="1">
                            <a:effectLst/>
                            <a:latin typeface="Cambria Math" panose="02040503050406030204" pitchFamily="18" charset="0"/>
                            <a:ea typeface="Calibri" panose="020F0502020204030204" pitchFamily="34" charset="0"/>
                            <a:cs typeface="Times New Roman" panose="02020603050405020304" pitchFamily="18" charset="0"/>
                          </a:rPr>
                        </m:ctrlPr>
                      </m:sSubPr>
                      <m:e>
                        <m:r>
                          <a:rPr lang="ru-RU" sz="2200" i="1">
                            <a:effectLst/>
                            <a:latin typeface="Cambria Math" panose="02040503050406030204" pitchFamily="18" charset="0"/>
                            <a:ea typeface="Calibri" panose="020F0502020204030204" pitchFamily="34" charset="0"/>
                            <a:cs typeface="Times New Roman" panose="02020603050405020304" pitchFamily="18" charset="0"/>
                          </a:rPr>
                          <m:t>𝑎</m:t>
                        </m:r>
                      </m:e>
                      <m:sub>
                        <m:r>
                          <a:rPr lang="ru-RU" sz="2200" i="1">
                            <a:effectLst/>
                            <a:latin typeface="Cambria Math" panose="02040503050406030204" pitchFamily="18" charset="0"/>
                            <a:ea typeface="Calibri" panose="020F0502020204030204" pitchFamily="34" charset="0"/>
                            <a:cs typeface="Times New Roman" panose="02020603050405020304" pitchFamily="18" charset="0"/>
                          </a:rPr>
                          <m:t>𝑛</m:t>
                        </m:r>
                      </m:sub>
                    </m:sSub>
                    <m:r>
                      <a:rPr lang="ru-RU" sz="2200" i="1">
                        <a:effectLst/>
                        <a:latin typeface="Cambria Math" panose="02040503050406030204" pitchFamily="18" charset="0"/>
                        <a:ea typeface="Calibri" panose="020F0502020204030204" pitchFamily="34" charset="0"/>
                        <a:cs typeface="Times New Roman" panose="02020603050405020304" pitchFamily="18" charset="0"/>
                      </a:rPr>
                      <m:t>−</m:t>
                    </m:r>
                    <m:nary>
                      <m:naryPr>
                        <m:chr m:val="∑"/>
                        <m:limLoc m:val="undOvr"/>
                        <m:ctrlPr>
                          <a:rPr lang="ru-RU" sz="2200" i="1">
                            <a:effectLst/>
                            <a:latin typeface="Cambria Math" panose="02040503050406030204" pitchFamily="18" charset="0"/>
                            <a:ea typeface="Calibri" panose="020F0502020204030204" pitchFamily="34" charset="0"/>
                            <a:cs typeface="Times New Roman" panose="02020603050405020304" pitchFamily="18" charset="0"/>
                          </a:rPr>
                        </m:ctrlPr>
                      </m:naryPr>
                      <m:sub>
                        <m:r>
                          <a:rPr lang="ru-RU" sz="2200" i="1">
                            <a:effectLst/>
                            <a:latin typeface="Cambria Math" panose="02040503050406030204" pitchFamily="18" charset="0"/>
                            <a:ea typeface="Calibri" panose="020F0502020204030204" pitchFamily="34" charset="0"/>
                            <a:cs typeface="Times New Roman" panose="02020603050405020304" pitchFamily="18" charset="0"/>
                          </a:rPr>
                          <m:t>𝑖</m:t>
                        </m:r>
                        <m:r>
                          <a:rPr lang="ru-RU" sz="2200" i="1">
                            <a:effectLst/>
                            <a:latin typeface="Cambria Math" panose="02040503050406030204" pitchFamily="18" charset="0"/>
                            <a:ea typeface="Calibri" panose="020F0502020204030204" pitchFamily="34" charset="0"/>
                            <a:cs typeface="Times New Roman" panose="02020603050405020304" pitchFamily="18" charset="0"/>
                          </a:rPr>
                          <m:t>=1</m:t>
                        </m:r>
                      </m:sub>
                      <m:sup>
                        <m:r>
                          <a:rPr lang="ru-RU" sz="2200" i="1">
                            <a:effectLst/>
                            <a:latin typeface="Cambria Math" panose="02040503050406030204" pitchFamily="18" charset="0"/>
                            <a:ea typeface="Calibri" panose="020F0502020204030204" pitchFamily="34" charset="0"/>
                            <a:cs typeface="Times New Roman" panose="02020603050405020304" pitchFamily="18" charset="0"/>
                          </a:rPr>
                          <m:t>𝑛</m:t>
                        </m:r>
                      </m:sup>
                      <m:e>
                        <m:r>
                          <a:rPr lang="ru-RU" sz="2200" i="1">
                            <a:effectLst/>
                            <a:latin typeface="Cambria Math" panose="02040503050406030204" pitchFamily="18" charset="0"/>
                            <a:ea typeface="Calibri" panose="020F0502020204030204" pitchFamily="34" charset="0"/>
                            <a:cs typeface="Times New Roman" panose="02020603050405020304" pitchFamily="18" charset="0"/>
                          </a:rPr>
                          <m:t>𝑃</m:t>
                        </m:r>
                        <m:sSub>
                          <m:sSubPr>
                            <m:ctrlPr>
                              <a:rPr lang="ru-RU" sz="2200" i="1">
                                <a:effectLst/>
                                <a:latin typeface="Cambria Math" panose="02040503050406030204" pitchFamily="18" charset="0"/>
                                <a:ea typeface="Calibri" panose="020F0502020204030204" pitchFamily="34" charset="0"/>
                                <a:cs typeface="Times New Roman" panose="02020603050405020304" pitchFamily="18" charset="0"/>
                              </a:rPr>
                            </m:ctrlPr>
                          </m:sSubPr>
                          <m:e>
                            <m:r>
                              <a:rPr lang="ru-RU" sz="2200" i="1">
                                <a:effectLst/>
                                <a:latin typeface="Cambria Math" panose="02040503050406030204" pitchFamily="18" charset="0"/>
                                <a:ea typeface="Calibri" panose="020F0502020204030204" pitchFamily="34" charset="0"/>
                                <a:cs typeface="Times New Roman" panose="02020603050405020304" pitchFamily="18" charset="0"/>
                              </a:rPr>
                              <m:t>𝑟</m:t>
                            </m:r>
                          </m:e>
                          <m:sub>
                            <m:sSub>
                              <m:sSubPr>
                                <m:ctrlPr>
                                  <a:rPr lang="ru-RU" sz="2200" i="1">
                                    <a:effectLst/>
                                    <a:latin typeface="Cambria Math" panose="02040503050406030204" pitchFamily="18" charset="0"/>
                                    <a:ea typeface="Calibri" panose="020F0502020204030204" pitchFamily="34" charset="0"/>
                                    <a:cs typeface="Times New Roman" panose="02020603050405020304" pitchFamily="18" charset="0"/>
                                  </a:rPr>
                                </m:ctrlPr>
                              </m:sSubPr>
                              <m:e>
                                <m:r>
                                  <a:rPr lang="ru-RU" sz="2200" i="1">
                                    <a:effectLst/>
                                    <a:latin typeface="Cambria Math" panose="02040503050406030204" pitchFamily="18" charset="0"/>
                                    <a:ea typeface="Calibri" panose="020F0502020204030204" pitchFamily="34" charset="0"/>
                                    <a:cs typeface="Times New Roman" panose="02020603050405020304" pitchFamily="18" charset="0"/>
                                  </a:rPr>
                                  <m:t>𝑏</m:t>
                                </m:r>
                              </m:e>
                              <m:sub>
                                <m:r>
                                  <a:rPr lang="ru-RU" sz="2200" i="1">
                                    <a:effectLst/>
                                    <a:latin typeface="Cambria Math" panose="02040503050406030204" pitchFamily="18" charset="0"/>
                                    <a:ea typeface="Calibri" panose="020F0502020204030204" pitchFamily="34" charset="0"/>
                                    <a:cs typeface="Times New Roman" panose="02020603050405020304" pitchFamily="18" charset="0"/>
                                  </a:rPr>
                                  <m:t>𝑖</m:t>
                                </m:r>
                              </m:sub>
                            </m:sSub>
                          </m:sub>
                        </m:sSub>
                        <m:sSub>
                          <m:sSubPr>
                            <m:ctrlPr>
                              <a:rPr lang="ru-RU" sz="2200" i="1">
                                <a:effectLst/>
                                <a:latin typeface="Cambria Math" panose="02040503050406030204" pitchFamily="18" charset="0"/>
                                <a:ea typeface="Calibri" panose="020F0502020204030204" pitchFamily="34" charset="0"/>
                                <a:cs typeface="Times New Roman" panose="02020603050405020304" pitchFamily="18" charset="0"/>
                              </a:rPr>
                            </m:ctrlPr>
                          </m:sSubPr>
                          <m:e>
                            <m:r>
                              <a:rPr lang="ru-RU" sz="2200" i="1">
                                <a:effectLst/>
                                <a:latin typeface="Cambria Math" panose="02040503050406030204" pitchFamily="18" charset="0"/>
                                <a:ea typeface="Calibri" panose="020F0502020204030204" pitchFamily="34" charset="0"/>
                                <a:cs typeface="Times New Roman" panose="02020603050405020304" pitchFamily="18" charset="0"/>
                              </a:rPr>
                              <m:t>𝑎</m:t>
                            </m:r>
                          </m:e>
                          <m:sub>
                            <m:r>
                              <a:rPr lang="ru-RU" sz="2200" i="1">
                                <a:effectLst/>
                                <a:latin typeface="Cambria Math" panose="02040503050406030204" pitchFamily="18" charset="0"/>
                                <a:ea typeface="Calibri" panose="020F0502020204030204" pitchFamily="34" charset="0"/>
                                <a:cs typeface="Times New Roman" panose="02020603050405020304" pitchFamily="18" charset="0"/>
                              </a:rPr>
                              <m:t>𝑛</m:t>
                            </m:r>
                          </m:sub>
                        </m:sSub>
                      </m:e>
                    </m:nary>
                  </m:oMath>
                </a14:m>
                <a:endParaRPr lang="ru-RU" sz="2200" dirty="0">
                  <a:effectLst/>
                  <a:latin typeface="Times New Roman" panose="02020603050405020304" pitchFamily="18" charset="0"/>
                  <a:ea typeface="Calibri" panose="020F0502020204030204" pitchFamily="34" charset="0"/>
                  <a:cs typeface="Times New Roman" panose="02020603050405020304" pitchFamily="18" charset="0"/>
                </a:endParaRPr>
              </a:p>
              <a:p>
                <a:pPr lvl="0" algn="just">
                  <a:lnSpc>
                    <a:spcPct val="150000"/>
                  </a:lnSpc>
                  <a:spcAft>
                    <a:spcPts val="800"/>
                  </a:spcAft>
                </a:pPr>
                <a:r>
                  <a:rPr lang="ru-RU" sz="2200" dirty="0">
                    <a:effectLst/>
                    <a:latin typeface="Times New Roman" panose="02020603050405020304" pitchFamily="18" charset="0"/>
                    <a:ea typeface="Times New Roman" panose="02020603050405020304" pitchFamily="18" charset="0"/>
                    <a:cs typeface="Times New Roman" panose="02020603050405020304" pitchFamily="18" charset="0"/>
                  </a:rPr>
                  <a:t>3.    Нормируем полученные вектора.</a:t>
                </a:r>
                <a:endParaRPr lang="ru-RU" sz="2200" dirty="0">
                  <a:effectLst/>
                  <a:latin typeface="Times New Roman" panose="02020603050405020304" pitchFamily="18" charset="0"/>
                  <a:ea typeface="Calibri" panose="020F0502020204030204" pitchFamily="34" charset="0"/>
                  <a:cs typeface="Times New Roman" panose="02020603050405020304" pitchFamily="18" charset="0"/>
                </a:endParaRPr>
              </a:p>
            </p:txBody>
          </p:sp>
        </mc:Choice>
        <mc:Fallback>
          <p:sp>
            <p:nvSpPr>
              <p:cNvPr id="4" name="TextBox 3">
                <a:extLst>
                  <a:ext uri="{FF2B5EF4-FFF2-40B4-BE49-F238E27FC236}">
                    <a16:creationId xmlns:a16="http://schemas.microsoft.com/office/drawing/2014/main" id="{DB04D170-B21D-4224-9DE5-A3C56DB802BE}"/>
                  </a:ext>
                </a:extLst>
              </p:cNvPr>
              <p:cNvSpPr txBox="1">
                <a:spLocks noRot="1" noChangeAspect="1" noMove="1" noResize="1" noEditPoints="1" noAdjustHandles="1" noChangeArrowheads="1" noChangeShapeType="1" noTextEdit="1"/>
              </p:cNvSpPr>
              <p:nvPr/>
            </p:nvSpPr>
            <p:spPr>
              <a:xfrm>
                <a:off x="1400174" y="1355726"/>
                <a:ext cx="9877425" cy="4379276"/>
              </a:xfrm>
              <a:prstGeom prst="rect">
                <a:avLst/>
              </a:prstGeom>
              <a:blipFill>
                <a:blip r:embed="rId2"/>
                <a:stretch>
                  <a:fillRect l="-802" b="-3616"/>
                </a:stretch>
              </a:blipFill>
            </p:spPr>
            <p:txBody>
              <a:bodyPr/>
              <a:lstStyle/>
              <a:p>
                <a:r>
                  <a:rPr lang="ru-RU">
                    <a:noFill/>
                  </a:rPr>
                  <a:t> </a:t>
                </a:r>
              </a:p>
            </p:txBody>
          </p:sp>
        </mc:Fallback>
      </mc:AlternateContent>
      <p:sp>
        <p:nvSpPr>
          <p:cNvPr id="5" name="Блок-схема: узел 4">
            <a:extLst>
              <a:ext uri="{FF2B5EF4-FFF2-40B4-BE49-F238E27FC236}">
                <a16:creationId xmlns:a16="http://schemas.microsoft.com/office/drawing/2014/main" id="{BB10F109-4EEB-46F9-A64B-10A7BD7BD134}"/>
              </a:ext>
            </a:extLst>
          </p:cNvPr>
          <p:cNvSpPr/>
          <p:nvPr/>
        </p:nvSpPr>
        <p:spPr>
          <a:xfrm>
            <a:off x="11393850" y="6067424"/>
            <a:ext cx="720000" cy="720000"/>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solidFill>
                  <a:schemeClr val="tx1"/>
                </a:solidFill>
                <a:latin typeface="Times New Roman" panose="02020603050405020304" pitchFamily="18" charset="0"/>
                <a:cs typeface="Times New Roman" panose="02020603050405020304" pitchFamily="18" charset="0"/>
              </a:rPr>
              <a:t>7</a:t>
            </a:r>
          </a:p>
        </p:txBody>
      </p:sp>
    </p:spTree>
    <p:extLst>
      <p:ext uri="{BB962C8B-B14F-4D97-AF65-F5344CB8AC3E}">
        <p14:creationId xmlns:p14="http://schemas.microsoft.com/office/powerpoint/2010/main" val="19850882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B6BEED1-83FE-4C0F-A389-C9FCF8C2F17C}"/>
              </a:ext>
            </a:extLst>
          </p:cNvPr>
          <p:cNvSpPr txBox="1">
            <a:spLocks/>
          </p:cNvSpPr>
          <p:nvPr/>
        </p:nvSpPr>
        <p:spPr>
          <a:xfrm>
            <a:off x="285750" y="307976"/>
            <a:ext cx="3238500" cy="4445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ru-RU" sz="3200" b="1" dirty="0">
                <a:latin typeface="Times New Roman" panose="02020603050405020304" pitchFamily="18" charset="0"/>
                <a:cs typeface="Times New Roman" panose="02020603050405020304" pitchFamily="18" charset="0"/>
              </a:rPr>
              <a:t>Прямой метод</a:t>
            </a:r>
          </a:p>
        </p:txBody>
      </p:sp>
      <p:sp>
        <p:nvSpPr>
          <p:cNvPr id="3" name="Заголовок 1">
            <a:extLst>
              <a:ext uri="{FF2B5EF4-FFF2-40B4-BE49-F238E27FC236}">
                <a16:creationId xmlns:a16="http://schemas.microsoft.com/office/drawing/2014/main" id="{6A984E44-FD27-4415-BEE6-5963A8C487A8}"/>
              </a:ext>
            </a:extLst>
          </p:cNvPr>
          <p:cNvSpPr txBox="1">
            <a:spLocks/>
          </p:cNvSpPr>
          <p:nvPr/>
        </p:nvSpPr>
        <p:spPr>
          <a:xfrm>
            <a:off x="876300" y="831851"/>
            <a:ext cx="3238500" cy="4445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en-US" sz="2400" b="1" dirty="0">
                <a:latin typeface="Times New Roman" panose="02020603050405020304" pitchFamily="18" charset="0"/>
                <a:cs typeface="Times New Roman" panose="02020603050405020304" pitchFamily="18" charset="0"/>
              </a:rPr>
              <a:t>QR-</a:t>
            </a:r>
            <a:r>
              <a:rPr lang="ru-RU" sz="2400" b="1" dirty="0">
                <a:latin typeface="Times New Roman" panose="02020603050405020304" pitchFamily="18" charset="0"/>
                <a:cs typeface="Times New Roman" panose="02020603050405020304" pitchFamily="18" charset="0"/>
              </a:rPr>
              <a:t>разложение</a:t>
            </a: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9DA35A91-0FDC-4258-A460-A20B4CB174E4}"/>
                  </a:ext>
                </a:extLst>
              </p:cNvPr>
              <p:cNvSpPr txBox="1"/>
              <p:nvPr/>
            </p:nvSpPr>
            <p:spPr>
              <a:xfrm>
                <a:off x="1247775" y="1355726"/>
                <a:ext cx="8991600" cy="2621230"/>
              </a:xfrm>
              <a:prstGeom prst="rect">
                <a:avLst/>
              </a:prstGeom>
              <a:noFill/>
            </p:spPr>
            <p:txBody>
              <a:bodyPr wrap="square">
                <a:spAutoFit/>
              </a:bodyPr>
              <a:lstStyle/>
              <a:p>
                <a:pPr marL="342900" lvl="0" indent="-342900" algn="just">
                  <a:lnSpc>
                    <a:spcPct val="150000"/>
                  </a:lnSpc>
                  <a:spcAft>
                    <a:spcPts val="800"/>
                  </a:spcAft>
                  <a:buFont typeface="+mj-lt"/>
                  <a:buAutoNum type="arabicPeriod"/>
                </a:pPr>
                <a:r>
                  <a:rPr lang="ru-RU" sz="2200" dirty="0">
                    <a:effectLst/>
                    <a:latin typeface="Times New Roman" panose="02020603050405020304" pitchFamily="18" charset="0"/>
                    <a:ea typeface="Calibri" panose="020F0502020204030204" pitchFamily="34" charset="0"/>
                    <a:cs typeface="Times New Roman" panose="02020603050405020304" pitchFamily="18" charset="0"/>
                  </a:rPr>
                  <a:t> </a:t>
                </a:r>
                <a14:m>
                  <m:oMath xmlns:m="http://schemas.openxmlformats.org/officeDocument/2006/math">
                    <m:sSub>
                      <m:sSubPr>
                        <m:ctrlPr>
                          <a:rPr lang="ru-RU" sz="220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ru-RU" sz="2200" i="1">
                            <a:effectLst/>
                            <a:latin typeface="Cambria Math" panose="02040503050406030204" pitchFamily="18" charset="0"/>
                            <a:ea typeface="Calibri" panose="020F0502020204030204" pitchFamily="34" charset="0"/>
                            <a:cs typeface="Times New Roman" panose="02020603050405020304" pitchFamily="18" charset="0"/>
                          </a:rPr>
                          <m:t>𝐴</m:t>
                        </m:r>
                      </m:e>
                      <m:sub>
                        <m:r>
                          <a:rPr lang="ru-RU" sz="2200" i="1">
                            <a:effectLst/>
                            <a:latin typeface="Cambria Math" panose="02040503050406030204" pitchFamily="18" charset="0"/>
                            <a:ea typeface="Calibri" panose="020F0502020204030204" pitchFamily="34" charset="0"/>
                            <a:cs typeface="Times New Roman" panose="02020603050405020304" pitchFamily="18" charset="0"/>
                          </a:rPr>
                          <m:t>0</m:t>
                        </m:r>
                      </m:sub>
                    </m:sSub>
                    <m:r>
                      <a:rPr lang="ru-RU" sz="2200" i="1">
                        <a:effectLst/>
                        <a:latin typeface="Cambria Math" panose="02040503050406030204" pitchFamily="18" charset="0"/>
                        <a:ea typeface="Calibri" panose="020F0502020204030204" pitchFamily="34" charset="0"/>
                        <a:cs typeface="Times New Roman" panose="02020603050405020304" pitchFamily="18" charset="0"/>
                      </a:rPr>
                      <m:t>=</m:t>
                    </m:r>
                    <m:r>
                      <a:rPr lang="ru-RU" sz="2200" i="1">
                        <a:effectLst/>
                        <a:latin typeface="Cambria Math" panose="02040503050406030204" pitchFamily="18" charset="0"/>
                        <a:ea typeface="Calibri" panose="020F0502020204030204" pitchFamily="34" charset="0"/>
                        <a:cs typeface="Times New Roman" panose="02020603050405020304" pitchFamily="18" charset="0"/>
                      </a:rPr>
                      <m:t>𝐴</m:t>
                    </m:r>
                  </m:oMath>
                </a14:m>
                <a:r>
                  <a:rPr lang="ru-RU" sz="2200" dirty="0">
                    <a:effectLst/>
                    <a:latin typeface="Times New Roman" panose="02020603050405020304" pitchFamily="18" charset="0"/>
                    <a:ea typeface="Times New Roman" panose="02020603050405020304" pitchFamily="18" charset="0"/>
                    <a:cs typeface="Times New Roman" panose="02020603050405020304" pitchFamily="18" charset="0"/>
                  </a:rPr>
                  <a:t> – начальные собственные значения.</a:t>
                </a:r>
                <a:endParaRPr lang="ru-RU" sz="22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mj-lt"/>
                  <a:buAutoNum type="arabicPeriod"/>
                </a:pPr>
                <a:r>
                  <a:rPr lang="ru-RU" sz="2200" dirty="0">
                    <a:effectLst/>
                    <a:latin typeface="Times New Roman" panose="02020603050405020304" pitchFamily="18" charset="0"/>
                    <a:ea typeface="Calibri" panose="020F0502020204030204" pitchFamily="34" charset="0"/>
                    <a:cs typeface="Times New Roman" panose="02020603050405020304" pitchFamily="18" charset="0"/>
                  </a:rPr>
                  <a:t>Ортогонализация матрицы </a:t>
                </a:r>
                <a14:m>
                  <m:oMath xmlns:m="http://schemas.openxmlformats.org/officeDocument/2006/math">
                    <m:sSub>
                      <m:sSubPr>
                        <m:ctrlPr>
                          <a:rPr lang="ru-RU" sz="2200" i="1">
                            <a:effectLst/>
                            <a:latin typeface="Cambria Math" panose="02040503050406030204" pitchFamily="18" charset="0"/>
                            <a:ea typeface="Calibri" panose="020F0502020204030204" pitchFamily="34" charset="0"/>
                            <a:cs typeface="Times New Roman" panose="02020603050405020304" pitchFamily="18" charset="0"/>
                          </a:rPr>
                        </m:ctrlPr>
                      </m:sSubPr>
                      <m:e>
                        <m:r>
                          <a:rPr lang="ru-RU" sz="2200" i="1">
                            <a:effectLst/>
                            <a:latin typeface="Cambria Math" panose="02040503050406030204" pitchFamily="18" charset="0"/>
                            <a:ea typeface="Calibri" panose="020F0502020204030204" pitchFamily="34" charset="0"/>
                            <a:cs typeface="Times New Roman" panose="02020603050405020304" pitchFamily="18" charset="0"/>
                          </a:rPr>
                          <m:t>𝐴</m:t>
                        </m:r>
                      </m:e>
                      <m:sub>
                        <m:r>
                          <a:rPr lang="en-US" sz="2200" i="1">
                            <a:effectLst/>
                            <a:latin typeface="Cambria Math" panose="02040503050406030204" pitchFamily="18" charset="0"/>
                            <a:ea typeface="Calibri" panose="020F0502020204030204" pitchFamily="34" charset="0"/>
                            <a:cs typeface="Times New Roman" panose="02020603050405020304" pitchFamily="18" charset="0"/>
                          </a:rPr>
                          <m:t>𝑘</m:t>
                        </m:r>
                      </m:sub>
                    </m:sSub>
                    <m:r>
                      <a:rPr lang="ru-RU" sz="22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ru-RU" sz="2200" i="1">
                            <a:effectLst/>
                            <a:latin typeface="Cambria Math" panose="02040503050406030204" pitchFamily="18" charset="0"/>
                            <a:ea typeface="Calibri" panose="020F0502020204030204" pitchFamily="34" charset="0"/>
                            <a:cs typeface="Times New Roman" panose="02020603050405020304" pitchFamily="18" charset="0"/>
                          </a:rPr>
                        </m:ctrlPr>
                      </m:sSubPr>
                      <m:e>
                        <m:r>
                          <a:rPr lang="ru-RU" sz="2200" i="1">
                            <a:effectLst/>
                            <a:latin typeface="Cambria Math" panose="02040503050406030204" pitchFamily="18" charset="0"/>
                            <a:ea typeface="Calibri" panose="020F0502020204030204" pitchFamily="34" charset="0"/>
                            <a:cs typeface="Times New Roman" panose="02020603050405020304" pitchFamily="18" charset="0"/>
                          </a:rPr>
                          <m:t>𝑄</m:t>
                        </m:r>
                      </m:e>
                      <m:sub>
                        <m:r>
                          <a:rPr lang="en-US" sz="2200" i="1">
                            <a:effectLst/>
                            <a:latin typeface="Cambria Math" panose="02040503050406030204" pitchFamily="18" charset="0"/>
                            <a:ea typeface="Calibri" panose="020F0502020204030204" pitchFamily="34" charset="0"/>
                            <a:cs typeface="Times New Roman" panose="02020603050405020304" pitchFamily="18" charset="0"/>
                          </a:rPr>
                          <m:t>𝑘</m:t>
                        </m:r>
                      </m:sub>
                    </m:sSub>
                  </m:oMath>
                </a14:m>
                <a:r>
                  <a:rPr lang="ru-RU" sz="22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ru-RU" sz="22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mj-lt"/>
                  <a:buAutoNum type="arabicPeriod"/>
                </a:pPr>
                <a:r>
                  <a:rPr lang="ru-RU" sz="2200" dirty="0">
                    <a:effectLst/>
                    <a:latin typeface="Times New Roman" panose="02020603050405020304" pitchFamily="18" charset="0"/>
                    <a:ea typeface="Calibri" panose="020F0502020204030204" pitchFamily="34" charset="0"/>
                    <a:cs typeface="Times New Roman" panose="02020603050405020304" pitchFamily="18" charset="0"/>
                  </a:rPr>
                  <a:t>Получение верхней треугольной матрицы </a:t>
                </a:r>
                <a14:m>
                  <m:oMath xmlns:m="http://schemas.openxmlformats.org/officeDocument/2006/math">
                    <m:sSub>
                      <m:sSubPr>
                        <m:ctrlPr>
                          <a:rPr lang="ru-RU" sz="2200" i="1">
                            <a:effectLst/>
                            <a:latin typeface="Cambria Math" panose="02040503050406030204" pitchFamily="18" charset="0"/>
                            <a:ea typeface="Calibri" panose="020F0502020204030204" pitchFamily="34" charset="0"/>
                            <a:cs typeface="Times New Roman" panose="02020603050405020304" pitchFamily="18" charset="0"/>
                          </a:rPr>
                        </m:ctrlPr>
                      </m:sSubPr>
                      <m:e>
                        <m:r>
                          <a:rPr lang="ru-RU" sz="2200" i="1">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2200" i="1">
                            <a:effectLst/>
                            <a:latin typeface="Cambria Math" panose="02040503050406030204" pitchFamily="18" charset="0"/>
                            <a:ea typeface="Calibri" panose="020F0502020204030204" pitchFamily="34" charset="0"/>
                            <a:cs typeface="Times New Roman" panose="02020603050405020304" pitchFamily="18" charset="0"/>
                          </a:rPr>
                          <m:t>𝑘</m:t>
                        </m:r>
                      </m:sub>
                    </m:sSub>
                    <m:r>
                      <a:rPr lang="ru-RU" sz="2200" i="1">
                        <a:effectLst/>
                        <a:latin typeface="Cambria Math" panose="02040503050406030204" pitchFamily="18" charset="0"/>
                        <a:ea typeface="Calibri" panose="020F0502020204030204" pitchFamily="34" charset="0"/>
                        <a:cs typeface="Times New Roman" panose="02020603050405020304" pitchFamily="18" charset="0"/>
                      </a:rPr>
                      <m:t>=</m:t>
                    </m:r>
                    <m:sSubSup>
                      <m:sSubSupPr>
                        <m:ctrlPr>
                          <a:rPr lang="ru-RU" sz="22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ru-RU" sz="2200" i="1">
                            <a:effectLst/>
                            <a:latin typeface="Cambria Math" panose="02040503050406030204" pitchFamily="18" charset="0"/>
                            <a:ea typeface="Calibri" panose="020F0502020204030204" pitchFamily="34" charset="0"/>
                            <a:cs typeface="Times New Roman" panose="02020603050405020304" pitchFamily="18" charset="0"/>
                          </a:rPr>
                          <m:t>𝑄</m:t>
                        </m:r>
                      </m:e>
                      <m:sub>
                        <m:r>
                          <a:rPr lang="ru-RU" sz="2200" i="1">
                            <a:effectLst/>
                            <a:latin typeface="Cambria Math" panose="02040503050406030204" pitchFamily="18" charset="0"/>
                            <a:ea typeface="Calibri" panose="020F0502020204030204" pitchFamily="34" charset="0"/>
                            <a:cs typeface="Times New Roman" panose="02020603050405020304" pitchFamily="18" charset="0"/>
                          </a:rPr>
                          <m:t>𝑘</m:t>
                        </m:r>
                      </m:sub>
                      <m:sup>
                        <m:r>
                          <a:rPr lang="ru-RU" sz="2200" i="1">
                            <a:effectLst/>
                            <a:latin typeface="Cambria Math" panose="02040503050406030204" pitchFamily="18" charset="0"/>
                            <a:ea typeface="Calibri" panose="020F0502020204030204" pitchFamily="34" charset="0"/>
                            <a:cs typeface="Times New Roman" panose="02020603050405020304" pitchFamily="18" charset="0"/>
                          </a:rPr>
                          <m:t>𝑇</m:t>
                        </m:r>
                      </m:sup>
                    </m:sSubSup>
                    <m:sSub>
                      <m:sSubPr>
                        <m:ctrlPr>
                          <a:rPr lang="ru-RU" sz="2200" i="1">
                            <a:effectLst/>
                            <a:latin typeface="Cambria Math" panose="02040503050406030204" pitchFamily="18" charset="0"/>
                            <a:ea typeface="Calibri" panose="020F0502020204030204" pitchFamily="34" charset="0"/>
                            <a:cs typeface="Times New Roman" panose="02020603050405020304" pitchFamily="18" charset="0"/>
                          </a:rPr>
                        </m:ctrlPr>
                      </m:sSubPr>
                      <m:e>
                        <m:r>
                          <a:rPr lang="ru-RU" sz="2200" i="1">
                            <a:effectLst/>
                            <a:latin typeface="Cambria Math" panose="02040503050406030204" pitchFamily="18" charset="0"/>
                            <a:ea typeface="Calibri" panose="020F0502020204030204" pitchFamily="34" charset="0"/>
                            <a:cs typeface="Times New Roman" panose="02020603050405020304" pitchFamily="18" charset="0"/>
                          </a:rPr>
                          <m:t>𝐴</m:t>
                        </m:r>
                      </m:e>
                      <m:sub>
                        <m:r>
                          <a:rPr lang="en-US" sz="2200" i="1">
                            <a:effectLst/>
                            <a:latin typeface="Cambria Math" panose="02040503050406030204" pitchFamily="18" charset="0"/>
                            <a:ea typeface="Calibri" panose="020F0502020204030204" pitchFamily="34" charset="0"/>
                            <a:cs typeface="Times New Roman" panose="02020603050405020304" pitchFamily="18" charset="0"/>
                          </a:rPr>
                          <m:t>𝑘</m:t>
                        </m:r>
                      </m:sub>
                    </m:sSub>
                  </m:oMath>
                </a14:m>
                <a:r>
                  <a:rPr lang="ru-RU" sz="22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ru-RU" sz="2200" dirty="0">
                  <a:effectLst/>
                  <a:latin typeface="Times New Roman" panose="02020603050405020304" pitchFamily="18" charset="0"/>
                  <a:ea typeface="Calibri" panose="020F0502020204030204" pitchFamily="34" charset="0"/>
                  <a:cs typeface="Times New Roman" panose="02020603050405020304" pitchFamily="18" charset="0"/>
                </a:endParaRPr>
              </a:p>
              <a:p>
                <a:pPr marL="457200" indent="-457200">
                  <a:buFont typeface="+mj-lt"/>
                  <a:buAutoNum type="arabicPeriod"/>
                </a:pPr>
                <a:r>
                  <a:rPr lang="ru-RU" sz="2200" dirty="0">
                    <a:effectLst/>
                    <a:latin typeface="Times New Roman" panose="02020603050405020304" pitchFamily="18" charset="0"/>
                    <a:cs typeface="Times New Roman" panose="02020603050405020304" pitchFamily="18" charset="0"/>
                  </a:rPr>
                  <a:t> </a:t>
                </a:r>
                <a14:m>
                  <m:oMath xmlns:m="http://schemas.openxmlformats.org/officeDocument/2006/math">
                    <m:sSub>
                      <m:sSubPr>
                        <m:ctrlPr>
                          <a:rPr lang="ru-RU" sz="2200" i="1">
                            <a:effectLst/>
                            <a:latin typeface="Cambria Math" panose="02040503050406030204" pitchFamily="18" charset="0"/>
                            <a:cs typeface="Times New Roman" panose="02020603050405020304" pitchFamily="18" charset="0"/>
                          </a:rPr>
                        </m:ctrlPr>
                      </m:sSubPr>
                      <m:e>
                        <m:r>
                          <a:rPr lang="ru-RU" sz="2200" i="1">
                            <a:effectLst/>
                            <a:latin typeface="Cambria Math" panose="02040503050406030204" pitchFamily="18" charset="0"/>
                            <a:ea typeface="Calibri" panose="020F0502020204030204" pitchFamily="34" charset="0"/>
                            <a:cs typeface="Times New Roman" panose="02020603050405020304" pitchFamily="18" charset="0"/>
                          </a:rPr>
                          <m:t>𝐴</m:t>
                        </m:r>
                      </m:e>
                      <m:sub>
                        <m:r>
                          <a:rPr lang="en-US" sz="2200" i="1">
                            <a:effectLst/>
                            <a:latin typeface="Cambria Math" panose="02040503050406030204" pitchFamily="18" charset="0"/>
                            <a:ea typeface="Calibri" panose="020F0502020204030204" pitchFamily="34" charset="0"/>
                            <a:cs typeface="Times New Roman" panose="02020603050405020304" pitchFamily="18" charset="0"/>
                          </a:rPr>
                          <m:t>𝑘</m:t>
                        </m:r>
                        <m:r>
                          <a:rPr lang="ru-RU" sz="2200" i="1">
                            <a:effectLst/>
                            <a:latin typeface="Cambria Math" panose="02040503050406030204" pitchFamily="18" charset="0"/>
                            <a:ea typeface="Calibri" panose="020F0502020204030204" pitchFamily="34" charset="0"/>
                            <a:cs typeface="Times New Roman" panose="02020603050405020304" pitchFamily="18" charset="0"/>
                          </a:rPr>
                          <m:t>+1</m:t>
                        </m:r>
                      </m:sub>
                    </m:sSub>
                    <m:r>
                      <a:rPr lang="ru-RU" sz="22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ru-RU" sz="2200" i="1">
                            <a:effectLst/>
                            <a:latin typeface="Cambria Math" panose="02040503050406030204" pitchFamily="18" charset="0"/>
                            <a:cs typeface="Times New Roman" panose="02020603050405020304" pitchFamily="18" charset="0"/>
                          </a:rPr>
                        </m:ctrlPr>
                      </m:sSubPr>
                      <m:e>
                        <m:r>
                          <a:rPr lang="ru-RU" sz="2200" i="1">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2200" i="1">
                            <a:effectLst/>
                            <a:latin typeface="Cambria Math" panose="02040503050406030204" pitchFamily="18" charset="0"/>
                            <a:ea typeface="Calibri" panose="020F0502020204030204" pitchFamily="34" charset="0"/>
                            <a:cs typeface="Times New Roman" panose="02020603050405020304" pitchFamily="18" charset="0"/>
                          </a:rPr>
                          <m:t>𝑘</m:t>
                        </m:r>
                      </m:sub>
                    </m:sSub>
                    <m:sSub>
                      <m:sSubPr>
                        <m:ctrlPr>
                          <a:rPr lang="ru-RU" sz="2200" i="1">
                            <a:effectLst/>
                            <a:latin typeface="Cambria Math" panose="02040503050406030204" pitchFamily="18" charset="0"/>
                            <a:cs typeface="Times New Roman" panose="02020603050405020304" pitchFamily="18" charset="0"/>
                          </a:rPr>
                        </m:ctrlPr>
                      </m:sSubPr>
                      <m:e>
                        <m:r>
                          <a:rPr lang="ru-RU" sz="2200" i="1">
                            <a:effectLst/>
                            <a:latin typeface="Cambria Math" panose="02040503050406030204" pitchFamily="18" charset="0"/>
                            <a:ea typeface="Calibri" panose="020F0502020204030204" pitchFamily="34" charset="0"/>
                            <a:cs typeface="Times New Roman" panose="02020603050405020304" pitchFamily="18" charset="0"/>
                          </a:rPr>
                          <m:t>𝑄</m:t>
                        </m:r>
                      </m:e>
                      <m:sub>
                        <m:r>
                          <a:rPr lang="en-US" sz="2200" i="1">
                            <a:effectLst/>
                            <a:latin typeface="Cambria Math" panose="02040503050406030204" pitchFamily="18" charset="0"/>
                            <a:ea typeface="Calibri" panose="020F0502020204030204" pitchFamily="34" charset="0"/>
                            <a:cs typeface="Times New Roman" panose="02020603050405020304" pitchFamily="18" charset="0"/>
                          </a:rPr>
                          <m:t>𝑘</m:t>
                        </m:r>
                      </m:sub>
                    </m:sSub>
                  </m:oMath>
                </a14:m>
                <a:r>
                  <a:rPr lang="ru-RU" sz="2200" dirty="0">
                    <a:effectLst/>
                    <a:latin typeface="Times New Roman" panose="02020603050405020304" pitchFamily="18" charset="0"/>
                    <a:ea typeface="Times New Roman" panose="02020603050405020304" pitchFamily="18" charset="0"/>
                    <a:cs typeface="Times New Roman" panose="02020603050405020304" pitchFamily="18" charset="0"/>
                  </a:rPr>
                  <a:t>, если </a:t>
                </a:r>
                <a14:m>
                  <m:oMath xmlns:m="http://schemas.openxmlformats.org/officeDocument/2006/math">
                    <m:d>
                      <m:dPr>
                        <m:begChr m:val="‖"/>
                        <m:endChr m:val="‖"/>
                        <m:ctrlPr>
                          <a:rPr lang="ru-RU" sz="2200" i="1">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ru-RU" sz="2200" i="1">
                                <a:effectLst/>
                                <a:latin typeface="Cambria Math" panose="02040503050406030204" pitchFamily="18" charset="0"/>
                                <a:cs typeface="Times New Roman" panose="02020603050405020304" pitchFamily="18" charset="0"/>
                              </a:rPr>
                            </m:ctrlPr>
                          </m:sSubPr>
                          <m:e>
                            <m:r>
                              <a:rPr lang="ru-RU" sz="2200" i="1">
                                <a:effectLst/>
                                <a:latin typeface="Cambria Math" panose="02040503050406030204" pitchFamily="18" charset="0"/>
                                <a:ea typeface="Calibri" panose="020F0502020204030204" pitchFamily="34" charset="0"/>
                                <a:cs typeface="Times New Roman" panose="02020603050405020304" pitchFamily="18" charset="0"/>
                              </a:rPr>
                              <m:t>𝐴</m:t>
                            </m:r>
                          </m:e>
                          <m:sub>
                            <m:r>
                              <a:rPr lang="en-US" sz="2200" i="1">
                                <a:effectLst/>
                                <a:latin typeface="Cambria Math" panose="02040503050406030204" pitchFamily="18" charset="0"/>
                                <a:ea typeface="Calibri" panose="020F0502020204030204" pitchFamily="34" charset="0"/>
                                <a:cs typeface="Times New Roman" panose="02020603050405020304" pitchFamily="18" charset="0"/>
                              </a:rPr>
                              <m:t>𝑘</m:t>
                            </m:r>
                            <m:r>
                              <a:rPr lang="ru-RU" sz="2200" i="1">
                                <a:effectLst/>
                                <a:latin typeface="Cambria Math" panose="02040503050406030204" pitchFamily="18" charset="0"/>
                                <a:ea typeface="Calibri" panose="020F0502020204030204" pitchFamily="34" charset="0"/>
                                <a:cs typeface="Times New Roman" panose="02020603050405020304" pitchFamily="18" charset="0"/>
                              </a:rPr>
                              <m:t>+1</m:t>
                            </m:r>
                          </m:sub>
                        </m:sSub>
                        <m:r>
                          <a:rPr lang="ru-RU" sz="22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ru-RU" sz="2200" i="1">
                                <a:effectLst/>
                                <a:latin typeface="Cambria Math" panose="02040503050406030204" pitchFamily="18" charset="0"/>
                                <a:cs typeface="Times New Roman" panose="02020603050405020304" pitchFamily="18" charset="0"/>
                              </a:rPr>
                            </m:ctrlPr>
                          </m:sSubPr>
                          <m:e>
                            <m:r>
                              <a:rPr lang="ru-RU" sz="2200" i="1">
                                <a:effectLst/>
                                <a:latin typeface="Cambria Math" panose="02040503050406030204" pitchFamily="18" charset="0"/>
                                <a:ea typeface="Calibri" panose="020F0502020204030204" pitchFamily="34" charset="0"/>
                                <a:cs typeface="Times New Roman" panose="02020603050405020304" pitchFamily="18" charset="0"/>
                              </a:rPr>
                              <m:t>𝐴</m:t>
                            </m:r>
                          </m:e>
                          <m:sub>
                            <m:r>
                              <a:rPr lang="en-US" sz="2200" i="1">
                                <a:effectLst/>
                                <a:latin typeface="Cambria Math" panose="02040503050406030204" pitchFamily="18" charset="0"/>
                                <a:ea typeface="Calibri" panose="020F0502020204030204" pitchFamily="34" charset="0"/>
                                <a:cs typeface="Times New Roman" panose="02020603050405020304" pitchFamily="18" charset="0"/>
                              </a:rPr>
                              <m:t>𝑘</m:t>
                            </m:r>
                          </m:sub>
                        </m:sSub>
                      </m:e>
                    </m:d>
                    <m:r>
                      <a:rPr lang="ru-RU" sz="2200" i="1">
                        <a:effectLst/>
                        <a:latin typeface="Cambria Math" panose="02040503050406030204" pitchFamily="18" charset="0"/>
                        <a:ea typeface="Times New Roman" panose="02020603050405020304" pitchFamily="18" charset="0"/>
                        <a:cs typeface="Times New Roman" panose="02020603050405020304" pitchFamily="18" charset="0"/>
                      </a:rPr>
                      <m:t> &lt;</m:t>
                    </m:r>
                    <m:r>
                      <a:rPr lang="ru-RU" sz="2200" i="1">
                        <a:effectLst/>
                        <a:latin typeface="Cambria Math" panose="02040503050406030204" pitchFamily="18" charset="0"/>
                        <a:ea typeface="Times New Roman" panose="02020603050405020304" pitchFamily="18" charset="0"/>
                        <a:cs typeface="Times New Roman" panose="02020603050405020304" pitchFamily="18" charset="0"/>
                      </a:rPr>
                      <m:t>𝜀</m:t>
                    </m:r>
                  </m:oMath>
                </a14:m>
                <a:r>
                  <a:rPr lang="ru-RU" sz="2200" dirty="0">
                    <a:effectLst/>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r>
                      <a:rPr lang="ru-RU" sz="2200" i="1">
                        <a:effectLst/>
                        <a:latin typeface="Cambria Math" panose="02040503050406030204" pitchFamily="18" charset="0"/>
                        <a:ea typeface="Calibri" panose="020F0502020204030204" pitchFamily="34" charset="0"/>
                        <a:cs typeface="Times New Roman" panose="02020603050405020304" pitchFamily="18" charset="0"/>
                      </a:rPr>
                      <m:t>→</m:t>
                    </m:r>
                    <m:r>
                      <a:rPr lang="en-US" sz="2200" i="1">
                        <a:effectLst/>
                        <a:latin typeface="Cambria Math" panose="02040503050406030204" pitchFamily="18" charset="0"/>
                        <a:ea typeface="Calibri" panose="020F0502020204030204" pitchFamily="34" charset="0"/>
                        <a:cs typeface="Times New Roman" panose="02020603050405020304" pitchFamily="18" charset="0"/>
                      </a:rPr>
                      <m:t>𝑑𝑖𝑎𝑔</m:t>
                    </m:r>
                    <m:d>
                      <m:dPr>
                        <m:ctrlPr>
                          <a:rPr lang="ru-RU" sz="2200" i="1">
                            <a:effectLst/>
                            <a:latin typeface="Cambria Math" panose="02040503050406030204" pitchFamily="18" charset="0"/>
                            <a:cs typeface="Times New Roman" panose="02020603050405020304" pitchFamily="18" charset="0"/>
                          </a:rPr>
                        </m:ctrlPr>
                      </m:dPr>
                      <m:e>
                        <m:r>
                          <a:rPr lang="ru-RU" sz="2200" i="1">
                            <a:effectLst/>
                            <a:latin typeface="Cambria Math" panose="02040503050406030204" pitchFamily="18" charset="0"/>
                            <a:ea typeface="Calibri" panose="020F0502020204030204" pitchFamily="34" charset="0"/>
                            <a:cs typeface="Times New Roman" panose="02020603050405020304" pitchFamily="18" charset="0"/>
                          </a:rPr>
                          <m:t>𝐴</m:t>
                        </m:r>
                      </m:e>
                    </m:d>
                  </m:oMath>
                </a14:m>
                <a:r>
                  <a:rPr lang="ru-RU" sz="2200" dirty="0">
                    <a:effectLst/>
                    <a:latin typeface="Times New Roman" panose="02020603050405020304" pitchFamily="18" charset="0"/>
                    <a:ea typeface="Times New Roman" panose="02020603050405020304" pitchFamily="18" charset="0"/>
                    <a:cs typeface="Times New Roman" panose="02020603050405020304" pitchFamily="18" charset="0"/>
                  </a:rPr>
                  <a:t>, иначе возвращаемся на действие (2).</a:t>
                </a:r>
                <a:endParaRPr lang="ru-RU" sz="2200" dirty="0">
                  <a:latin typeface="Times New Roman" panose="02020603050405020304" pitchFamily="18" charset="0"/>
                  <a:cs typeface="Times New Roman" panose="02020603050405020304" pitchFamily="18" charset="0"/>
                </a:endParaRPr>
              </a:p>
            </p:txBody>
          </p:sp>
        </mc:Choice>
        <mc:Fallback>
          <p:sp>
            <p:nvSpPr>
              <p:cNvPr id="6" name="TextBox 5">
                <a:extLst>
                  <a:ext uri="{FF2B5EF4-FFF2-40B4-BE49-F238E27FC236}">
                    <a16:creationId xmlns:a16="http://schemas.microsoft.com/office/drawing/2014/main" id="{9DA35A91-0FDC-4258-A460-A20B4CB174E4}"/>
                  </a:ext>
                </a:extLst>
              </p:cNvPr>
              <p:cNvSpPr txBox="1">
                <a:spLocks noRot="1" noChangeAspect="1" noMove="1" noResize="1" noEditPoints="1" noAdjustHandles="1" noChangeArrowheads="1" noChangeShapeType="1" noTextEdit="1"/>
              </p:cNvSpPr>
              <p:nvPr/>
            </p:nvSpPr>
            <p:spPr>
              <a:xfrm>
                <a:off x="1247775" y="1355726"/>
                <a:ext cx="8991600" cy="2621230"/>
              </a:xfrm>
              <a:prstGeom prst="rect">
                <a:avLst/>
              </a:prstGeom>
              <a:blipFill>
                <a:blip r:embed="rId2"/>
                <a:stretch>
                  <a:fillRect l="-746" b="-3953"/>
                </a:stretch>
              </a:blipFill>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3E320F85-0576-4890-AB49-CE3CDF6825FE}"/>
                  </a:ext>
                </a:extLst>
              </p:cNvPr>
              <p:cNvSpPr txBox="1"/>
              <p:nvPr/>
            </p:nvSpPr>
            <p:spPr>
              <a:xfrm>
                <a:off x="1247774" y="4219575"/>
                <a:ext cx="10448925" cy="1454950"/>
              </a:xfrm>
              <a:prstGeom prst="rect">
                <a:avLst/>
              </a:prstGeom>
              <a:noFill/>
            </p:spPr>
            <p:txBody>
              <a:bodyPr wrap="square" rtlCol="0">
                <a:spAutoFit/>
              </a:bodyPr>
              <a:lstStyle/>
              <a:p>
                <a:pPr algn="just"/>
                <a:r>
                  <a:rPr lang="ru-RU" sz="2200" dirty="0">
                    <a:effectLst/>
                    <a:latin typeface="Times New Roman" panose="02020603050405020304" pitchFamily="18" charset="0"/>
                    <a:ea typeface="Calibri" panose="020F0502020204030204" pitchFamily="34" charset="0"/>
                    <a:cs typeface="Times New Roman" panose="02020603050405020304" pitchFamily="18" charset="0"/>
                  </a:rPr>
                  <a:t>Собственные векторы получаются путем перемножения между собой матриц </a:t>
                </a:r>
                <a14:m>
                  <m:oMath xmlns:m="http://schemas.openxmlformats.org/officeDocument/2006/math">
                    <m:sSub>
                      <m:sSubPr>
                        <m:ctrlPr>
                          <a:rPr lang="ru-RU" sz="2200" i="1">
                            <a:effectLst/>
                            <a:latin typeface="Cambria Math" panose="02040503050406030204" pitchFamily="18" charset="0"/>
                            <a:cs typeface="Times New Roman" panose="02020603050405020304" pitchFamily="18" charset="0"/>
                          </a:rPr>
                        </m:ctrlPr>
                      </m:sSubPr>
                      <m:e>
                        <m:r>
                          <a:rPr lang="ru-RU" sz="2200" i="1">
                            <a:effectLst/>
                            <a:latin typeface="Cambria Math" panose="02040503050406030204" pitchFamily="18" charset="0"/>
                            <a:ea typeface="Calibri" panose="020F0502020204030204" pitchFamily="34" charset="0"/>
                            <a:cs typeface="Times New Roman" panose="02020603050405020304" pitchFamily="18" charset="0"/>
                          </a:rPr>
                          <m:t>𝑄</m:t>
                        </m:r>
                      </m:e>
                      <m:sub>
                        <m:r>
                          <a:rPr lang="en-US" sz="2200" i="1">
                            <a:effectLst/>
                            <a:latin typeface="Cambria Math" panose="02040503050406030204" pitchFamily="18" charset="0"/>
                            <a:ea typeface="Calibri" panose="020F0502020204030204" pitchFamily="34" charset="0"/>
                            <a:cs typeface="Times New Roman" panose="02020603050405020304" pitchFamily="18" charset="0"/>
                          </a:rPr>
                          <m:t>𝑘</m:t>
                        </m:r>
                      </m:sub>
                    </m:sSub>
                  </m:oMath>
                </a14:m>
                <a:r>
                  <a:rPr lang="ru-RU" sz="2200" dirty="0">
                    <a:effectLst/>
                    <a:latin typeface="Times New Roman" panose="02020603050405020304" pitchFamily="18" charset="0"/>
                    <a:ea typeface="Times New Roman" panose="02020603050405020304" pitchFamily="18" charset="0"/>
                    <a:cs typeface="Times New Roman" panose="02020603050405020304" pitchFamily="18" charset="0"/>
                  </a:rPr>
                  <a:t> и каждый столбец умножается на свое собственное значение, такую матрицу обозначим за </a:t>
                </a:r>
                <a14:m>
                  <m:oMath xmlns:m="http://schemas.openxmlformats.org/officeDocument/2006/math">
                    <m:sSub>
                      <m:sSubPr>
                        <m:ctrlPr>
                          <a:rPr lang="ru-RU" sz="2200" i="1">
                            <a:effectLst/>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ru-RU" sz="2200" i="1">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ru-RU" sz="2200" i="1">
                                <a:effectLst/>
                                <a:latin typeface="Cambria Math" panose="02040503050406030204" pitchFamily="18" charset="0"/>
                                <a:ea typeface="Times New Roman" panose="02020603050405020304" pitchFamily="18" charset="0"/>
                                <a:cs typeface="Times New Roman" panose="02020603050405020304" pitchFamily="18" charset="0"/>
                              </a:rPr>
                              <m:t>𝑄</m:t>
                            </m:r>
                          </m:e>
                        </m:acc>
                      </m:e>
                      <m:sub>
                        <m:r>
                          <a:rPr lang="ru-RU" sz="2200" i="1">
                            <a:effectLst/>
                            <a:latin typeface="Cambria Math" panose="02040503050406030204" pitchFamily="18" charset="0"/>
                            <a:ea typeface="Times New Roman" panose="02020603050405020304" pitchFamily="18" charset="0"/>
                            <a:cs typeface="Times New Roman" panose="02020603050405020304" pitchFamily="18" charset="0"/>
                          </a:rPr>
                          <m:t>𝑘</m:t>
                        </m:r>
                      </m:sub>
                    </m:sSub>
                  </m:oMath>
                </a14:m>
                <a:r>
                  <a:rPr lang="ru-RU" sz="2200" dirty="0">
                    <a:effectLst/>
                    <a:latin typeface="Times New Roman" panose="02020603050405020304" pitchFamily="18" charset="0"/>
                    <a:ea typeface="Times New Roman" panose="02020603050405020304" pitchFamily="18" charset="0"/>
                    <a:cs typeface="Times New Roman" panose="02020603050405020304" pitchFamily="18" charset="0"/>
                  </a:rPr>
                  <a:t>. Таким образом, получаем матрицы сингулярных значений и векторов.</a:t>
                </a:r>
                <a:endParaRPr lang="ru-RU" sz="2200" dirty="0">
                  <a:latin typeface="Times New Roman" panose="02020603050405020304" pitchFamily="18" charset="0"/>
                  <a:cs typeface="Times New Roman" panose="02020603050405020304" pitchFamily="18" charset="0"/>
                </a:endParaRPr>
              </a:p>
            </p:txBody>
          </p:sp>
        </mc:Choice>
        <mc:Fallback>
          <p:sp>
            <p:nvSpPr>
              <p:cNvPr id="7" name="TextBox 6">
                <a:extLst>
                  <a:ext uri="{FF2B5EF4-FFF2-40B4-BE49-F238E27FC236}">
                    <a16:creationId xmlns:a16="http://schemas.microsoft.com/office/drawing/2014/main" id="{3E320F85-0576-4890-AB49-CE3CDF6825FE}"/>
                  </a:ext>
                </a:extLst>
              </p:cNvPr>
              <p:cNvSpPr txBox="1">
                <a:spLocks noRot="1" noChangeAspect="1" noMove="1" noResize="1" noEditPoints="1" noAdjustHandles="1" noChangeArrowheads="1" noChangeShapeType="1" noTextEdit="1"/>
              </p:cNvSpPr>
              <p:nvPr/>
            </p:nvSpPr>
            <p:spPr>
              <a:xfrm>
                <a:off x="1247774" y="4219575"/>
                <a:ext cx="10448925" cy="1454950"/>
              </a:xfrm>
              <a:prstGeom prst="rect">
                <a:avLst/>
              </a:prstGeom>
              <a:blipFill>
                <a:blip r:embed="rId3"/>
                <a:stretch>
                  <a:fillRect l="-758" t="-2929" r="-758" b="-7950"/>
                </a:stretch>
              </a:blipFill>
            </p:spPr>
            <p:txBody>
              <a:bodyPr/>
              <a:lstStyle/>
              <a:p>
                <a:r>
                  <a:rPr lang="ru-RU">
                    <a:noFill/>
                  </a:rPr>
                  <a:t> </a:t>
                </a:r>
              </a:p>
            </p:txBody>
          </p:sp>
        </mc:Fallback>
      </mc:AlternateContent>
      <p:sp>
        <p:nvSpPr>
          <p:cNvPr id="8" name="Блок-схема: узел 7">
            <a:extLst>
              <a:ext uri="{FF2B5EF4-FFF2-40B4-BE49-F238E27FC236}">
                <a16:creationId xmlns:a16="http://schemas.microsoft.com/office/drawing/2014/main" id="{4475664D-0DA3-49F4-8233-03D2D3212A1F}"/>
              </a:ext>
            </a:extLst>
          </p:cNvPr>
          <p:cNvSpPr/>
          <p:nvPr/>
        </p:nvSpPr>
        <p:spPr>
          <a:xfrm>
            <a:off x="11393850" y="6067424"/>
            <a:ext cx="720000" cy="720000"/>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solidFill>
                  <a:schemeClr val="tx1"/>
                </a:solidFill>
                <a:latin typeface="Times New Roman" panose="02020603050405020304" pitchFamily="18" charset="0"/>
                <a:cs typeface="Times New Roman" panose="02020603050405020304" pitchFamily="18" charset="0"/>
              </a:rPr>
              <a:t>8</a:t>
            </a:r>
          </a:p>
        </p:txBody>
      </p:sp>
    </p:spTree>
    <p:extLst>
      <p:ext uri="{BB962C8B-B14F-4D97-AF65-F5344CB8AC3E}">
        <p14:creationId xmlns:p14="http://schemas.microsoft.com/office/powerpoint/2010/main" val="10211947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2B0B32E-90AE-4322-B74F-86418474CEAD}"/>
              </a:ext>
            </a:extLst>
          </p:cNvPr>
          <p:cNvSpPr txBox="1">
            <a:spLocks/>
          </p:cNvSpPr>
          <p:nvPr/>
        </p:nvSpPr>
        <p:spPr>
          <a:xfrm>
            <a:off x="285750" y="307976"/>
            <a:ext cx="1762126" cy="4445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ru-RU" sz="3200" b="1" dirty="0">
                <a:latin typeface="Times New Roman" panose="02020603050405020304" pitchFamily="18" charset="0"/>
                <a:cs typeface="Times New Roman" panose="02020603050405020304" pitchFamily="18" charset="0"/>
              </a:rPr>
              <a:t>Пример</a:t>
            </a:r>
          </a:p>
        </p:txBody>
      </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106E6780-E2D3-4838-973E-3DB43512AF50}"/>
                  </a:ext>
                </a:extLst>
              </p:cNvPr>
              <p:cNvSpPr txBox="1"/>
              <p:nvPr/>
            </p:nvSpPr>
            <p:spPr>
              <a:xfrm>
                <a:off x="1157287" y="615513"/>
                <a:ext cx="10629896" cy="2036711"/>
              </a:xfrm>
              <a:prstGeom prst="rect">
                <a:avLst/>
              </a:prstGeom>
              <a:noFill/>
            </p:spPr>
            <p:txBody>
              <a:bodyPr wrap="square">
                <a:spAutoFit/>
              </a:bodyPr>
              <a:lstStyle/>
              <a:p>
                <a:pPr algn="ctr">
                  <a:spcAft>
                    <a:spcPts val="1200"/>
                  </a:spcAft>
                </a:pPr>
                <a:r>
                  <a:rPr lang="ru-RU" sz="2200" dirty="0"/>
                  <a:t>                                                                </a:t>
                </a:r>
                <a14:m>
                  <m:oMath xmlns:m="http://schemas.openxmlformats.org/officeDocument/2006/math">
                    <m:r>
                      <a:rPr lang="ru-RU" sz="2200" i="1" smtClean="0">
                        <a:latin typeface="Cambria Math" panose="02040503050406030204" pitchFamily="18" charset="0"/>
                      </a:rPr>
                      <m:t>𝐴</m:t>
                    </m:r>
                    <m:r>
                      <a:rPr lang="ru-RU" sz="2200" i="1">
                        <a:latin typeface="Cambria Math" panose="02040503050406030204" pitchFamily="18" charset="0"/>
                      </a:rPr>
                      <m:t>=</m:t>
                    </m:r>
                    <m:d>
                      <m:dPr>
                        <m:ctrlPr>
                          <a:rPr lang="ru-RU" sz="2200" i="1">
                            <a:solidFill>
                              <a:srgbClr val="836967"/>
                            </a:solidFill>
                            <a:latin typeface="Cambria Math" panose="02040503050406030204" pitchFamily="18" charset="0"/>
                          </a:rPr>
                        </m:ctrlPr>
                      </m:dPr>
                      <m:e>
                        <m:m>
                          <m:mPr>
                            <m:plcHide m:val="on"/>
                            <m:mcs>
                              <m:mc>
                                <m:mcPr>
                                  <m:count m:val="2"/>
                                  <m:mcJc m:val="center"/>
                                </m:mcPr>
                              </m:mc>
                            </m:mcs>
                            <m:ctrlPr>
                              <a:rPr lang="ru-RU" sz="2200" i="1">
                                <a:solidFill>
                                  <a:srgbClr val="836967"/>
                                </a:solidFill>
                                <a:latin typeface="Cambria Math" panose="02040503050406030204" pitchFamily="18" charset="0"/>
                              </a:rPr>
                            </m:ctrlPr>
                          </m:mPr>
                          <m:mr>
                            <m:e>
                              <m:r>
                                <a:rPr lang="ru-RU" sz="2200" i="1">
                                  <a:latin typeface="Cambria Math" panose="02040503050406030204" pitchFamily="18" charset="0"/>
                                </a:rPr>
                                <m:t>2</m:t>
                              </m:r>
                            </m:e>
                            <m:e>
                              <m:r>
                                <a:rPr lang="ru-RU" sz="2200" i="1">
                                  <a:latin typeface="Cambria Math" panose="02040503050406030204" pitchFamily="18" charset="0"/>
                                </a:rPr>
                                <m:t>6</m:t>
                              </m:r>
                            </m:e>
                          </m:mr>
                          <m:mr>
                            <m:e>
                              <m:r>
                                <a:rPr lang="ru-RU" sz="2200" i="1">
                                  <a:latin typeface="Cambria Math" panose="02040503050406030204" pitchFamily="18" charset="0"/>
                                </a:rPr>
                                <m:t>5</m:t>
                              </m:r>
                            </m:e>
                            <m:e>
                              <m:r>
                                <a:rPr lang="ru-RU" sz="2200" i="1">
                                  <a:latin typeface="Cambria Math" panose="02040503050406030204" pitchFamily="18" charset="0"/>
                                </a:rPr>
                                <m:t>3</m:t>
                              </m:r>
                            </m:e>
                          </m:mr>
                          <m:mr>
                            <m:e>
                              <m:r>
                                <a:rPr lang="ru-RU" sz="2200" i="1">
                                  <a:latin typeface="Cambria Math" panose="02040503050406030204" pitchFamily="18" charset="0"/>
                                </a:rPr>
                                <m:t>−4</m:t>
                              </m:r>
                            </m:e>
                            <m:e>
                              <m:r>
                                <a:rPr lang="ru-RU" sz="2200" i="1">
                                  <a:latin typeface="Cambria Math" panose="02040503050406030204" pitchFamily="18" charset="0"/>
                                </a:rPr>
                                <m:t>0</m:t>
                              </m:r>
                            </m:e>
                          </m:mr>
                        </m:m>
                      </m:e>
                    </m:d>
                  </m:oMath>
                </a14:m>
                <a:r>
                  <a:rPr lang="ru-RU" sz="2200" i="1" dirty="0">
                    <a:latin typeface="Cambria Math" panose="02040503050406030204" pitchFamily="18" charset="0"/>
                  </a:rPr>
                  <a:t>                                                                      </a:t>
                </a:r>
                <a:r>
                  <a:rPr lang="ru-RU" sz="2200" dirty="0">
                    <a:latin typeface="Times New Roman" panose="02020603050405020304" pitchFamily="18" charset="0"/>
                    <a:cs typeface="Times New Roman" panose="02020603050405020304" pitchFamily="18" charset="0"/>
                  </a:rPr>
                  <a:t>(7)</a:t>
                </a:r>
              </a:p>
              <a:p>
                <a14:m>
                  <m:oMathPara xmlns:m="http://schemas.openxmlformats.org/officeDocument/2006/math">
                    <m:oMathParaPr>
                      <m:jc m:val="centerGroup"/>
                    </m:oMathParaPr>
                    <m:oMath xmlns:m="http://schemas.openxmlformats.org/officeDocument/2006/math">
                      <m:sSub>
                        <m:sSubPr>
                          <m:ctrlPr>
                            <a:rPr lang="ru-RU" sz="2200" i="1"/>
                          </m:ctrlPr>
                        </m:sSubPr>
                        <m:e>
                          <m:r>
                            <a:rPr lang="ru-RU" sz="2200" i="1"/>
                            <m:t>𝐴</m:t>
                          </m:r>
                        </m:e>
                        <m:sub>
                          <m:r>
                            <a:rPr lang="ru-RU" sz="2200" i="1"/>
                            <m:t>𝑙</m:t>
                          </m:r>
                        </m:sub>
                      </m:sSub>
                      <m:r>
                        <a:rPr lang="ru-RU" sz="2200" i="1"/>
                        <m:t>=</m:t>
                      </m:r>
                      <m:d>
                        <m:dPr>
                          <m:ctrlPr>
                            <a:rPr lang="ru-RU" sz="2200" i="1"/>
                          </m:ctrlPr>
                        </m:dPr>
                        <m:e>
                          <m:m>
                            <m:mPr>
                              <m:mcs>
                                <m:mc>
                                  <m:mcPr>
                                    <m:count m:val="2"/>
                                    <m:mcJc m:val="center"/>
                                  </m:mcPr>
                                </m:mc>
                              </m:mcs>
                              <m:ctrlPr>
                                <a:rPr lang="ru-RU" sz="2200" i="1"/>
                              </m:ctrlPr>
                            </m:mPr>
                            <m:mr>
                              <m:e>
                                <m:r>
                                  <a:rPr lang="ru-RU" sz="2200" i="1"/>
                                  <m:t>45</m:t>
                                </m:r>
                              </m:e>
                              <m:e>
                                <m:r>
                                  <a:rPr lang="ru-RU" sz="2200" i="1"/>
                                  <m:t>27</m:t>
                                </m:r>
                              </m:e>
                            </m:mr>
                            <m:mr>
                              <m:e>
                                <m:r>
                                  <a:rPr lang="ru-RU" sz="2200" i="1"/>
                                  <m:t>27</m:t>
                                </m:r>
                              </m:e>
                              <m:e>
                                <m:r>
                                  <a:rPr lang="ru-RU" sz="2200" i="1"/>
                                  <m:t>45</m:t>
                                </m:r>
                              </m:e>
                            </m:mr>
                          </m:m>
                        </m:e>
                      </m:d>
                      <m:r>
                        <a:rPr lang="ru-RU" sz="2200" b="0" i="1" smtClean="0">
                          <a:latin typeface="Cambria Math" panose="02040503050406030204" pitchFamily="18" charset="0"/>
                        </a:rPr>
                        <m:t>  </m:t>
                      </m:r>
                      <m:sSub>
                        <m:sSubPr>
                          <m:ctrlPr>
                            <a:rPr lang="ru-RU" sz="2200" i="1"/>
                          </m:ctrlPr>
                        </m:sSubPr>
                        <m:e>
                          <m:r>
                            <a:rPr lang="ru-RU" sz="2200" i="1"/>
                            <m:t> </m:t>
                          </m:r>
                          <m:r>
                            <a:rPr lang="ru-RU" sz="2200" i="1"/>
                            <m:t>𝐴</m:t>
                          </m:r>
                        </m:e>
                        <m:sub>
                          <m:r>
                            <a:rPr lang="ru-RU" sz="2200" i="1"/>
                            <m:t>𝑟</m:t>
                          </m:r>
                        </m:sub>
                      </m:sSub>
                      <m:r>
                        <a:rPr lang="ru-RU" sz="2200" i="1"/>
                        <m:t>=</m:t>
                      </m:r>
                      <m:d>
                        <m:dPr>
                          <m:ctrlPr>
                            <a:rPr lang="ru-RU" sz="2200" i="1"/>
                          </m:ctrlPr>
                        </m:dPr>
                        <m:e>
                          <m:m>
                            <m:mPr>
                              <m:mcs>
                                <m:mc>
                                  <m:mcPr>
                                    <m:count m:val="3"/>
                                    <m:mcJc m:val="center"/>
                                  </m:mcPr>
                                </m:mc>
                              </m:mcs>
                              <m:ctrlPr>
                                <a:rPr lang="ru-RU" sz="2200" i="1"/>
                              </m:ctrlPr>
                            </m:mPr>
                            <m:mr>
                              <m:e>
                                <m:r>
                                  <a:rPr lang="ru-RU" sz="2200" i="1"/>
                                  <m:t>40</m:t>
                                </m:r>
                              </m:e>
                              <m:e>
                                <m:r>
                                  <a:rPr lang="ru-RU" sz="2200" i="1"/>
                                  <m:t>28</m:t>
                                </m:r>
                              </m:e>
                              <m:e>
                                <m:r>
                                  <a:rPr lang="ru-RU" sz="2200" i="1"/>
                                  <m:t>−8</m:t>
                                </m:r>
                              </m:e>
                            </m:mr>
                            <m:mr>
                              <m:e>
                                <m:r>
                                  <a:rPr lang="ru-RU" sz="2200" i="1"/>
                                  <m:t>28</m:t>
                                </m:r>
                              </m:e>
                              <m:e>
                                <m:r>
                                  <a:rPr lang="ru-RU" sz="2200" i="1"/>
                                  <m:t>34</m:t>
                                </m:r>
                              </m:e>
                              <m:e>
                                <m:r>
                                  <a:rPr lang="ru-RU" sz="2200" i="1"/>
                                  <m:t>−20</m:t>
                                </m:r>
                              </m:e>
                            </m:mr>
                            <m:mr>
                              <m:e>
                                <m:r>
                                  <a:rPr lang="ru-RU" sz="2200" i="1"/>
                                  <m:t>−8</m:t>
                                </m:r>
                              </m:e>
                              <m:e>
                                <m:r>
                                  <a:rPr lang="ru-RU" sz="2200" i="1"/>
                                  <m:t>−20</m:t>
                                </m:r>
                              </m:e>
                              <m:e>
                                <m:r>
                                  <a:rPr lang="ru-RU" sz="2200" i="1"/>
                                  <m:t>16</m:t>
                                </m:r>
                              </m:e>
                            </m:mr>
                          </m:m>
                        </m:e>
                      </m:d>
                    </m:oMath>
                  </m:oMathPara>
                </a14:m>
                <a:endParaRPr lang="ru-RU" sz="2200" i="1" dirty="0">
                  <a:latin typeface="Times New Roman" panose="02020603050405020304" pitchFamily="18" charset="0"/>
                  <a:cs typeface="Times New Roman" panose="02020603050405020304" pitchFamily="18" charset="0"/>
                </a:endParaRPr>
              </a:p>
            </p:txBody>
          </p:sp>
        </mc:Choice>
        <mc:Fallback>
          <p:sp>
            <p:nvSpPr>
              <p:cNvPr id="10" name="TextBox 9">
                <a:extLst>
                  <a:ext uri="{FF2B5EF4-FFF2-40B4-BE49-F238E27FC236}">
                    <a16:creationId xmlns:a16="http://schemas.microsoft.com/office/drawing/2014/main" id="{106E6780-E2D3-4838-973E-3DB43512AF50}"/>
                  </a:ext>
                </a:extLst>
              </p:cNvPr>
              <p:cNvSpPr txBox="1">
                <a:spLocks noRot="1" noChangeAspect="1" noMove="1" noResize="1" noEditPoints="1" noAdjustHandles="1" noChangeArrowheads="1" noChangeShapeType="1" noTextEdit="1"/>
              </p:cNvSpPr>
              <p:nvPr/>
            </p:nvSpPr>
            <p:spPr>
              <a:xfrm>
                <a:off x="1157287" y="615513"/>
                <a:ext cx="10629896" cy="2036711"/>
              </a:xfrm>
              <a:prstGeom prst="rect">
                <a:avLst/>
              </a:prstGeom>
              <a:blipFill>
                <a:blip r:embed="rId2"/>
                <a:stretch>
                  <a:fillRect r="-516"/>
                </a:stretch>
              </a:blipFill>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F1A99547-9515-403A-B521-D75EF4CD512C}"/>
                  </a:ext>
                </a:extLst>
              </p:cNvPr>
              <p:cNvSpPr txBox="1"/>
              <p:nvPr/>
            </p:nvSpPr>
            <p:spPr>
              <a:xfrm>
                <a:off x="-133355" y="2928348"/>
                <a:ext cx="7029450" cy="6994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ru-RU" sz="2200" i="1" smtClean="0">
                              <a:solidFill>
                                <a:srgbClr val="836967"/>
                              </a:solidFill>
                              <a:latin typeface="Cambria Math" panose="02040503050406030204" pitchFamily="18" charset="0"/>
                            </a:rPr>
                          </m:ctrlPr>
                        </m:sSubSupPr>
                        <m:e>
                          <m:r>
                            <a:rPr lang="ru-RU" sz="2200" i="1">
                              <a:latin typeface="Cambria Math" panose="02040503050406030204" pitchFamily="18" charset="0"/>
                            </a:rPr>
                            <m:t>𝑄</m:t>
                          </m:r>
                        </m:e>
                        <m:sub>
                          <m:r>
                            <a:rPr lang="ru-RU" sz="2200" i="0">
                              <a:latin typeface="Cambria Math" panose="02040503050406030204" pitchFamily="18" charset="0"/>
                            </a:rPr>
                            <m:t>0</m:t>
                          </m:r>
                        </m:sub>
                        <m:sup>
                          <m:r>
                            <a:rPr lang="ru-RU" sz="2200" i="1">
                              <a:latin typeface="Cambria Math" panose="02040503050406030204" pitchFamily="18" charset="0"/>
                            </a:rPr>
                            <m:t>𝑟</m:t>
                          </m:r>
                        </m:sup>
                      </m:sSubSup>
                      <m:r>
                        <a:rPr lang="ru-RU" sz="2200" i="0">
                          <a:latin typeface="Cambria Math" panose="02040503050406030204" pitchFamily="18" charset="0"/>
                        </a:rPr>
                        <m:t>=</m:t>
                      </m:r>
                      <m:d>
                        <m:dPr>
                          <m:ctrlPr>
                            <a:rPr lang="ru-RU" sz="2200" i="1">
                              <a:solidFill>
                                <a:srgbClr val="836967"/>
                              </a:solidFill>
                              <a:latin typeface="Cambria Math" panose="02040503050406030204" pitchFamily="18" charset="0"/>
                            </a:rPr>
                          </m:ctrlPr>
                        </m:dPr>
                        <m:e>
                          <m:m>
                            <m:mPr>
                              <m:plcHide m:val="on"/>
                              <m:mcs>
                                <m:mc>
                                  <m:mcPr>
                                    <m:count m:val="2"/>
                                    <m:mcJc m:val="center"/>
                                  </m:mcPr>
                                </m:mc>
                              </m:mcs>
                              <m:ctrlPr>
                                <a:rPr lang="ru-RU" sz="2200" i="1">
                                  <a:solidFill>
                                    <a:srgbClr val="836967"/>
                                  </a:solidFill>
                                  <a:latin typeface="Cambria Math" panose="02040503050406030204" pitchFamily="18" charset="0"/>
                                </a:rPr>
                              </m:ctrlPr>
                            </m:mPr>
                            <m:mr>
                              <m:e>
                                <m:r>
                                  <a:rPr lang="ru-RU" sz="2200" i="0">
                                    <a:latin typeface="Cambria Math" panose="02040503050406030204" pitchFamily="18" charset="0"/>
                                  </a:rPr>
                                  <m:t>0.86</m:t>
                                </m:r>
                              </m:e>
                              <m:e>
                                <m:r>
                                  <a:rPr lang="ru-RU" sz="2200" i="0">
                                    <a:latin typeface="Cambria Math" panose="02040503050406030204" pitchFamily="18" charset="0"/>
                                  </a:rPr>
                                  <m:t>−0.51</m:t>
                                </m:r>
                              </m:e>
                            </m:mr>
                            <m:mr>
                              <m:e>
                                <m:r>
                                  <a:rPr lang="ru-RU" sz="2200" i="0">
                                    <a:latin typeface="Cambria Math" panose="02040503050406030204" pitchFamily="18" charset="0"/>
                                  </a:rPr>
                                  <m:t>0.51</m:t>
                                </m:r>
                              </m:e>
                              <m:e>
                                <m:r>
                                  <a:rPr lang="ru-RU" sz="2200" i="0">
                                    <a:latin typeface="Cambria Math" panose="02040503050406030204" pitchFamily="18" charset="0"/>
                                  </a:rPr>
                                  <m:t>0.86</m:t>
                                </m:r>
                              </m:e>
                            </m:mr>
                          </m:m>
                        </m:e>
                      </m:d>
                      <m:sSubSup>
                        <m:sSubSupPr>
                          <m:ctrlPr>
                            <a:rPr lang="ru-RU" sz="2200" i="1">
                              <a:solidFill>
                                <a:srgbClr val="836967"/>
                              </a:solidFill>
                              <a:latin typeface="Cambria Math" panose="02040503050406030204" pitchFamily="18" charset="0"/>
                            </a:rPr>
                          </m:ctrlPr>
                        </m:sSubSupPr>
                        <m:e>
                          <m:r>
                            <a:rPr lang="ru-RU" sz="2200" i="0">
                              <a:latin typeface="Cambria Math" panose="02040503050406030204" pitchFamily="18" charset="0"/>
                            </a:rPr>
                            <m:t> </m:t>
                          </m:r>
                          <m:r>
                            <a:rPr lang="ru-RU" sz="2200" i="1">
                              <a:latin typeface="Cambria Math" panose="02040503050406030204" pitchFamily="18" charset="0"/>
                            </a:rPr>
                            <m:t>𝑅</m:t>
                          </m:r>
                        </m:e>
                        <m:sub>
                          <m:r>
                            <a:rPr lang="ru-RU" sz="2200" i="0">
                              <a:latin typeface="Cambria Math" panose="02040503050406030204" pitchFamily="18" charset="0"/>
                            </a:rPr>
                            <m:t>0</m:t>
                          </m:r>
                        </m:sub>
                        <m:sup>
                          <m:r>
                            <a:rPr lang="ru-RU" sz="2200" i="1">
                              <a:latin typeface="Cambria Math" panose="02040503050406030204" pitchFamily="18" charset="0"/>
                            </a:rPr>
                            <m:t>𝑟</m:t>
                          </m:r>
                        </m:sup>
                      </m:sSubSup>
                      <m:r>
                        <a:rPr lang="ru-RU" sz="2200" i="0">
                          <a:latin typeface="Cambria Math" panose="02040503050406030204" pitchFamily="18" charset="0"/>
                        </a:rPr>
                        <m:t>=</m:t>
                      </m:r>
                      <m:d>
                        <m:dPr>
                          <m:ctrlPr>
                            <a:rPr lang="ru-RU" sz="2200" i="1">
                              <a:solidFill>
                                <a:srgbClr val="836967"/>
                              </a:solidFill>
                              <a:latin typeface="Cambria Math" panose="02040503050406030204" pitchFamily="18" charset="0"/>
                            </a:rPr>
                          </m:ctrlPr>
                        </m:dPr>
                        <m:e>
                          <m:m>
                            <m:mPr>
                              <m:plcHide m:val="on"/>
                              <m:mcs>
                                <m:mc>
                                  <m:mcPr>
                                    <m:count m:val="2"/>
                                    <m:mcJc m:val="center"/>
                                  </m:mcPr>
                                </m:mc>
                              </m:mcs>
                              <m:ctrlPr>
                                <a:rPr lang="ru-RU" sz="2200" i="1">
                                  <a:solidFill>
                                    <a:srgbClr val="836967"/>
                                  </a:solidFill>
                                  <a:latin typeface="Cambria Math" panose="02040503050406030204" pitchFamily="18" charset="0"/>
                                </a:rPr>
                              </m:ctrlPr>
                            </m:mPr>
                            <m:mr>
                              <m:e>
                                <m:r>
                                  <a:rPr lang="ru-RU" sz="2200" i="0">
                                    <a:latin typeface="Cambria Math" panose="02040503050406030204" pitchFamily="18" charset="0"/>
                                  </a:rPr>
                                  <m:t>5.25×</m:t>
                                </m:r>
                                <m:sSup>
                                  <m:sSupPr>
                                    <m:ctrlPr>
                                      <a:rPr lang="ru-RU" sz="2200" i="1">
                                        <a:solidFill>
                                          <a:srgbClr val="836967"/>
                                        </a:solidFill>
                                        <a:latin typeface="Cambria Math" panose="02040503050406030204" pitchFamily="18" charset="0"/>
                                      </a:rPr>
                                    </m:ctrlPr>
                                  </m:sSupPr>
                                  <m:e>
                                    <m:r>
                                      <a:rPr lang="ru-RU" sz="2200" i="0">
                                        <a:latin typeface="Cambria Math" panose="02040503050406030204" pitchFamily="18" charset="0"/>
                                      </a:rPr>
                                      <m:t>10</m:t>
                                    </m:r>
                                  </m:e>
                                  <m:sup>
                                    <m:r>
                                      <a:rPr lang="ru-RU" sz="2200" i="0">
                                        <a:latin typeface="Cambria Math" panose="02040503050406030204" pitchFamily="18" charset="0"/>
                                      </a:rPr>
                                      <m:t>1</m:t>
                                    </m:r>
                                  </m:sup>
                                </m:sSup>
                              </m:e>
                              <m:e>
                                <m:r>
                                  <a:rPr lang="ru-RU" sz="2200" i="0">
                                    <a:latin typeface="Cambria Math" panose="02040503050406030204" pitchFamily="18" charset="0"/>
                                  </a:rPr>
                                  <m:t>4.63×</m:t>
                                </m:r>
                                <m:sSup>
                                  <m:sSupPr>
                                    <m:ctrlPr>
                                      <a:rPr lang="ru-RU" sz="2200" i="1">
                                        <a:solidFill>
                                          <a:srgbClr val="836967"/>
                                        </a:solidFill>
                                        <a:latin typeface="Cambria Math" panose="02040503050406030204" pitchFamily="18" charset="0"/>
                                      </a:rPr>
                                    </m:ctrlPr>
                                  </m:sSupPr>
                                  <m:e>
                                    <m:r>
                                      <a:rPr lang="ru-RU" sz="2200" i="0">
                                        <a:latin typeface="Cambria Math" panose="02040503050406030204" pitchFamily="18" charset="0"/>
                                      </a:rPr>
                                      <m:t>10</m:t>
                                    </m:r>
                                  </m:e>
                                  <m:sup>
                                    <m:r>
                                      <a:rPr lang="ru-RU" sz="2200" i="0">
                                        <a:latin typeface="Cambria Math" panose="02040503050406030204" pitchFamily="18" charset="0"/>
                                      </a:rPr>
                                      <m:t>1</m:t>
                                    </m:r>
                                  </m:sup>
                                </m:sSup>
                              </m:e>
                            </m:mr>
                            <m:mr>
                              <m:e>
                                <m:r>
                                  <a:rPr lang="ru-RU" sz="2200" i="0">
                                    <a:latin typeface="Cambria Math" panose="02040503050406030204" pitchFamily="18" charset="0"/>
                                  </a:rPr>
                                  <m:t>2.55×</m:t>
                                </m:r>
                                <m:sSup>
                                  <m:sSupPr>
                                    <m:ctrlPr>
                                      <a:rPr lang="ru-RU" sz="2200" i="1">
                                        <a:solidFill>
                                          <a:srgbClr val="836967"/>
                                        </a:solidFill>
                                        <a:latin typeface="Cambria Math" panose="02040503050406030204" pitchFamily="18" charset="0"/>
                                      </a:rPr>
                                    </m:ctrlPr>
                                  </m:sSupPr>
                                  <m:e>
                                    <m:r>
                                      <a:rPr lang="ru-RU" sz="2200" i="0">
                                        <a:latin typeface="Cambria Math" panose="02040503050406030204" pitchFamily="18" charset="0"/>
                                      </a:rPr>
                                      <m:t>10</m:t>
                                    </m:r>
                                  </m:e>
                                  <m:sup>
                                    <m:r>
                                      <a:rPr lang="ru-RU" sz="2200" i="0">
                                        <a:latin typeface="Cambria Math" panose="02040503050406030204" pitchFamily="18" charset="0"/>
                                      </a:rPr>
                                      <m:t>−15</m:t>
                                    </m:r>
                                  </m:sup>
                                </m:sSup>
                              </m:e>
                              <m:e>
                                <m:r>
                                  <a:rPr lang="ru-RU" sz="2200" i="0">
                                    <a:latin typeface="Cambria Math" panose="02040503050406030204" pitchFamily="18" charset="0"/>
                                  </a:rPr>
                                  <m:t>2.47×</m:t>
                                </m:r>
                                <m:sSup>
                                  <m:sSupPr>
                                    <m:ctrlPr>
                                      <a:rPr lang="ru-RU" sz="2200" i="1">
                                        <a:solidFill>
                                          <a:srgbClr val="836967"/>
                                        </a:solidFill>
                                        <a:latin typeface="Cambria Math" panose="02040503050406030204" pitchFamily="18" charset="0"/>
                                      </a:rPr>
                                    </m:ctrlPr>
                                  </m:sSupPr>
                                  <m:e>
                                    <m:r>
                                      <a:rPr lang="ru-RU" sz="2200" i="0">
                                        <a:latin typeface="Cambria Math" panose="02040503050406030204" pitchFamily="18" charset="0"/>
                                      </a:rPr>
                                      <m:t>10</m:t>
                                    </m:r>
                                  </m:e>
                                  <m:sup>
                                    <m:r>
                                      <a:rPr lang="ru-RU" sz="2200" i="0">
                                        <a:latin typeface="Cambria Math" panose="02040503050406030204" pitchFamily="18" charset="0"/>
                                      </a:rPr>
                                      <m:t>1</m:t>
                                    </m:r>
                                  </m:sup>
                                </m:sSup>
                              </m:e>
                            </m:mr>
                          </m:m>
                        </m:e>
                      </m:d>
                    </m:oMath>
                  </m:oMathPara>
                </a14:m>
                <a:endParaRPr lang="ru-RU" sz="2200" dirty="0"/>
              </a:p>
            </p:txBody>
          </p:sp>
        </mc:Choice>
        <mc:Fallback>
          <p:sp>
            <p:nvSpPr>
              <p:cNvPr id="12" name="TextBox 11">
                <a:extLst>
                  <a:ext uri="{FF2B5EF4-FFF2-40B4-BE49-F238E27FC236}">
                    <a16:creationId xmlns:a16="http://schemas.microsoft.com/office/drawing/2014/main" id="{F1A99547-9515-403A-B521-D75EF4CD512C}"/>
                  </a:ext>
                </a:extLst>
              </p:cNvPr>
              <p:cNvSpPr txBox="1">
                <a:spLocks noRot="1" noChangeAspect="1" noMove="1" noResize="1" noEditPoints="1" noAdjustHandles="1" noChangeArrowheads="1" noChangeShapeType="1" noTextEdit="1"/>
              </p:cNvSpPr>
              <p:nvPr/>
            </p:nvSpPr>
            <p:spPr>
              <a:xfrm>
                <a:off x="-133355" y="2928348"/>
                <a:ext cx="7029450" cy="699487"/>
              </a:xfrm>
              <a:prstGeom prst="rect">
                <a:avLst/>
              </a:prstGeom>
              <a:blipFill>
                <a:blip r:embed="rId3"/>
                <a:stretch>
                  <a:fillRect/>
                </a:stretch>
              </a:blipFill>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C39300B1-C142-48A8-83CD-4582E31C0766}"/>
                  </a:ext>
                </a:extLst>
              </p:cNvPr>
              <p:cNvSpPr txBox="1"/>
              <p:nvPr/>
            </p:nvSpPr>
            <p:spPr>
              <a:xfrm>
                <a:off x="6553200" y="2924998"/>
                <a:ext cx="5848350" cy="66370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ru-RU" sz="2200" i="1" smtClean="0">
                              <a:solidFill>
                                <a:srgbClr val="836967"/>
                              </a:solidFill>
                              <a:latin typeface="Cambria Math" panose="02040503050406030204" pitchFamily="18" charset="0"/>
                            </a:rPr>
                          </m:ctrlPr>
                        </m:sSubSupPr>
                        <m:e>
                          <m:r>
                            <a:rPr lang="ru-RU" sz="2200" i="1">
                              <a:latin typeface="Cambria Math" panose="02040503050406030204" pitchFamily="18" charset="0"/>
                            </a:rPr>
                            <m:t>𝐴</m:t>
                          </m:r>
                        </m:e>
                        <m:sub>
                          <m:r>
                            <a:rPr lang="ru-RU" sz="2200" i="0">
                              <a:latin typeface="Cambria Math" panose="02040503050406030204" pitchFamily="18" charset="0"/>
                            </a:rPr>
                            <m:t>1</m:t>
                          </m:r>
                        </m:sub>
                        <m:sup>
                          <m:r>
                            <a:rPr lang="ru-RU" sz="2200" i="1">
                              <a:latin typeface="Cambria Math" panose="02040503050406030204" pitchFamily="18" charset="0"/>
                            </a:rPr>
                            <m:t>𝑟</m:t>
                          </m:r>
                        </m:sup>
                      </m:sSubSup>
                      <m:r>
                        <a:rPr lang="ru-RU" sz="2200" i="0">
                          <a:latin typeface="Cambria Math" panose="02040503050406030204" pitchFamily="18" charset="0"/>
                        </a:rPr>
                        <m:t>=</m:t>
                      </m:r>
                      <m:d>
                        <m:dPr>
                          <m:ctrlPr>
                            <a:rPr lang="ru-RU" sz="2200" i="1">
                              <a:solidFill>
                                <a:srgbClr val="836967"/>
                              </a:solidFill>
                              <a:latin typeface="Cambria Math" panose="02040503050406030204" pitchFamily="18" charset="0"/>
                            </a:rPr>
                          </m:ctrlPr>
                        </m:dPr>
                        <m:e>
                          <m:m>
                            <m:mPr>
                              <m:plcHide m:val="on"/>
                              <m:mcs>
                                <m:mc>
                                  <m:mcPr>
                                    <m:count m:val="2"/>
                                    <m:mcJc m:val="center"/>
                                  </m:mcPr>
                                </m:mc>
                              </m:mcs>
                              <m:ctrlPr>
                                <a:rPr lang="ru-RU" sz="2200" i="1">
                                  <a:solidFill>
                                    <a:srgbClr val="836967"/>
                                  </a:solidFill>
                                  <a:latin typeface="Cambria Math" panose="02040503050406030204" pitchFamily="18" charset="0"/>
                                </a:rPr>
                              </m:ctrlPr>
                            </m:mPr>
                            <m:mr>
                              <m:e>
                                <m:r>
                                  <a:rPr lang="ru-RU" sz="2200" i="0">
                                    <a:latin typeface="Cambria Math" panose="02040503050406030204" pitchFamily="18" charset="0"/>
                                  </a:rPr>
                                  <m:t>68.82</m:t>
                                </m:r>
                              </m:e>
                              <m:e>
                                <m:r>
                                  <a:rPr lang="ru-RU" sz="2200" i="0">
                                    <a:latin typeface="Cambria Math" panose="02040503050406030204" pitchFamily="18" charset="0"/>
                                  </a:rPr>
                                  <m:t>21.18</m:t>
                                </m:r>
                              </m:e>
                            </m:mr>
                          </m:m>
                        </m:e>
                      </m:d>
                      <m:r>
                        <a:rPr lang="ru-RU" sz="2200" i="0">
                          <a:latin typeface="Cambria Math" panose="02040503050406030204" pitchFamily="18" charset="0"/>
                        </a:rPr>
                        <m:t> </m:t>
                      </m:r>
                      <m:sSubSup>
                        <m:sSubSupPr>
                          <m:ctrlPr>
                            <a:rPr lang="ru-RU" sz="2200" i="1">
                              <a:solidFill>
                                <a:srgbClr val="836967"/>
                              </a:solidFill>
                              <a:latin typeface="Cambria Math" panose="02040503050406030204" pitchFamily="18" charset="0"/>
                            </a:rPr>
                          </m:ctrlPr>
                        </m:sSubSupPr>
                        <m:e>
                          <m:acc>
                            <m:accPr>
                              <m:chr m:val="̃"/>
                              <m:ctrlPr>
                                <a:rPr lang="ru-RU" sz="2200" i="1">
                                  <a:solidFill>
                                    <a:srgbClr val="836967"/>
                                  </a:solidFill>
                                  <a:latin typeface="Cambria Math" panose="02040503050406030204" pitchFamily="18" charset="0"/>
                                </a:rPr>
                              </m:ctrlPr>
                            </m:accPr>
                            <m:e>
                              <m:r>
                                <a:rPr lang="ru-RU" sz="2200" i="1">
                                  <a:latin typeface="Cambria Math" panose="02040503050406030204" pitchFamily="18" charset="0"/>
                                </a:rPr>
                                <m:t>𝑄</m:t>
                              </m:r>
                            </m:e>
                          </m:acc>
                        </m:e>
                        <m:sub>
                          <m:r>
                            <a:rPr lang="ru-RU" sz="2200" i="0">
                              <a:latin typeface="Cambria Math" panose="02040503050406030204" pitchFamily="18" charset="0"/>
                            </a:rPr>
                            <m:t>1</m:t>
                          </m:r>
                        </m:sub>
                        <m:sup>
                          <m:r>
                            <a:rPr lang="ru-RU" sz="2200" i="1">
                              <a:latin typeface="Cambria Math" panose="02040503050406030204" pitchFamily="18" charset="0"/>
                            </a:rPr>
                            <m:t>𝑟</m:t>
                          </m:r>
                        </m:sup>
                      </m:sSubSup>
                      <m:r>
                        <a:rPr lang="ru-RU" sz="2200" i="0">
                          <a:latin typeface="Cambria Math" panose="02040503050406030204" pitchFamily="18" charset="0"/>
                        </a:rPr>
                        <m:t>=</m:t>
                      </m:r>
                      <m:d>
                        <m:dPr>
                          <m:ctrlPr>
                            <a:rPr lang="ru-RU" sz="2200" i="1">
                              <a:solidFill>
                                <a:srgbClr val="836967"/>
                              </a:solidFill>
                              <a:latin typeface="Cambria Math" panose="02040503050406030204" pitchFamily="18" charset="0"/>
                            </a:rPr>
                          </m:ctrlPr>
                        </m:dPr>
                        <m:e>
                          <m:m>
                            <m:mPr>
                              <m:plcHide m:val="on"/>
                              <m:mcs>
                                <m:mc>
                                  <m:mcPr>
                                    <m:count m:val="2"/>
                                    <m:mcJc m:val="center"/>
                                  </m:mcPr>
                                </m:mc>
                              </m:mcs>
                              <m:ctrlPr>
                                <a:rPr lang="ru-RU" sz="2200" i="1">
                                  <a:solidFill>
                                    <a:srgbClr val="836967"/>
                                  </a:solidFill>
                                  <a:latin typeface="Cambria Math" panose="02040503050406030204" pitchFamily="18" charset="0"/>
                                </a:rPr>
                              </m:ctrlPr>
                            </m:mPr>
                            <m:mr>
                              <m:e>
                                <m:r>
                                  <a:rPr lang="ru-RU" sz="2200" i="0">
                                    <a:latin typeface="Cambria Math" panose="02040503050406030204" pitchFamily="18" charset="0"/>
                                  </a:rPr>
                                  <m:t>59.02</m:t>
                                </m:r>
                              </m:e>
                              <m:e>
                                <m:r>
                                  <a:rPr lang="ru-RU" sz="2200" i="0">
                                    <a:latin typeface="Cambria Math" panose="02040503050406030204" pitchFamily="18" charset="0"/>
                                  </a:rPr>
                                  <m:t>35.41</m:t>
                                </m:r>
                              </m:e>
                            </m:mr>
                            <m:mr>
                              <m:e>
                                <m:r>
                                  <a:rPr lang="ru-RU" sz="2200" i="0">
                                    <a:latin typeface="Cambria Math" panose="02040503050406030204" pitchFamily="18" charset="0"/>
                                  </a:rPr>
                                  <m:t>−10.90</m:t>
                                </m:r>
                              </m:e>
                              <m:e>
                                <m:r>
                                  <a:rPr lang="ru-RU" sz="2200" i="0">
                                    <a:latin typeface="Cambria Math" panose="02040503050406030204" pitchFamily="18" charset="0"/>
                                  </a:rPr>
                                  <m:t>18.16</m:t>
                                </m:r>
                              </m:e>
                            </m:mr>
                          </m:m>
                        </m:e>
                      </m:d>
                    </m:oMath>
                  </m:oMathPara>
                </a14:m>
                <a:endParaRPr lang="ru-RU" sz="2200" dirty="0"/>
              </a:p>
            </p:txBody>
          </p:sp>
        </mc:Choice>
        <mc:Fallback>
          <p:sp>
            <p:nvSpPr>
              <p:cNvPr id="14" name="TextBox 13">
                <a:extLst>
                  <a:ext uri="{FF2B5EF4-FFF2-40B4-BE49-F238E27FC236}">
                    <a16:creationId xmlns:a16="http://schemas.microsoft.com/office/drawing/2014/main" id="{C39300B1-C142-48A8-83CD-4582E31C0766}"/>
                  </a:ext>
                </a:extLst>
              </p:cNvPr>
              <p:cNvSpPr txBox="1">
                <a:spLocks noRot="1" noChangeAspect="1" noMove="1" noResize="1" noEditPoints="1" noAdjustHandles="1" noChangeArrowheads="1" noChangeShapeType="1" noTextEdit="1"/>
              </p:cNvSpPr>
              <p:nvPr/>
            </p:nvSpPr>
            <p:spPr>
              <a:xfrm>
                <a:off x="6553200" y="2924998"/>
                <a:ext cx="5848350" cy="663708"/>
              </a:xfrm>
              <a:prstGeom prst="rect">
                <a:avLst/>
              </a:prstGeom>
              <a:blipFill>
                <a:blip r:embed="rId4"/>
                <a:stretch>
                  <a:fillRect/>
                </a:stretch>
              </a:blipFill>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F498C034-88F9-41C2-A15B-821FE6577191}"/>
                  </a:ext>
                </a:extLst>
              </p:cNvPr>
              <p:cNvSpPr txBox="1"/>
              <p:nvPr/>
            </p:nvSpPr>
            <p:spPr>
              <a:xfrm>
                <a:off x="404807" y="4024164"/>
                <a:ext cx="11382375" cy="1182311"/>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sSubSup>
                        <m:sSubSupPr>
                          <m:ctrlPr>
                            <a:rPr lang="ru-RU" sz="2200" i="1" smtClean="0">
                              <a:solidFill>
                                <a:srgbClr val="836967"/>
                              </a:solidFill>
                              <a:latin typeface="Cambria Math" panose="02040503050406030204" pitchFamily="18" charset="0"/>
                            </a:rPr>
                          </m:ctrlPr>
                        </m:sSubSupPr>
                        <m:e>
                          <m:r>
                            <a:rPr lang="ru-RU" sz="2200" i="1">
                              <a:latin typeface="Cambria Math" panose="02040503050406030204" pitchFamily="18" charset="0"/>
                            </a:rPr>
                            <m:t>𝑄</m:t>
                          </m:r>
                        </m:e>
                        <m:sub>
                          <m:r>
                            <a:rPr lang="ru-RU" sz="2200" i="0">
                              <a:latin typeface="Cambria Math" panose="02040503050406030204" pitchFamily="18" charset="0"/>
                            </a:rPr>
                            <m:t>0</m:t>
                          </m:r>
                        </m:sub>
                        <m:sup>
                          <m:r>
                            <a:rPr lang="ru-RU" sz="2200" i="1">
                              <a:latin typeface="Cambria Math" panose="02040503050406030204" pitchFamily="18" charset="0"/>
                            </a:rPr>
                            <m:t>𝑙</m:t>
                          </m:r>
                        </m:sup>
                      </m:sSubSup>
                      <m:r>
                        <a:rPr lang="ru-RU" sz="2200" i="0">
                          <a:latin typeface="Cambria Math" panose="02040503050406030204" pitchFamily="18" charset="0"/>
                        </a:rPr>
                        <m:t>=</m:t>
                      </m:r>
                      <m:d>
                        <m:dPr>
                          <m:ctrlPr>
                            <a:rPr lang="ru-RU" sz="2200" i="1">
                              <a:solidFill>
                                <a:srgbClr val="836967"/>
                              </a:solidFill>
                              <a:latin typeface="Cambria Math" panose="02040503050406030204" pitchFamily="18" charset="0"/>
                            </a:rPr>
                          </m:ctrlPr>
                        </m:dPr>
                        <m:e>
                          <m:m>
                            <m:mPr>
                              <m:plcHide m:val="on"/>
                              <m:mcs>
                                <m:mc>
                                  <m:mcPr>
                                    <m:count m:val="3"/>
                                    <m:mcJc m:val="center"/>
                                  </m:mcPr>
                                </m:mc>
                              </m:mcs>
                              <m:ctrlPr>
                                <a:rPr lang="ru-RU" sz="2200" i="1">
                                  <a:solidFill>
                                    <a:srgbClr val="836967"/>
                                  </a:solidFill>
                                  <a:latin typeface="Cambria Math" panose="02040503050406030204" pitchFamily="18" charset="0"/>
                                </a:rPr>
                              </m:ctrlPr>
                            </m:mPr>
                            <m:mr>
                              <m:e>
                                <m:r>
                                  <a:rPr lang="ru-RU" sz="2200" i="0">
                                    <a:latin typeface="Cambria Math" panose="02040503050406030204" pitchFamily="18" charset="0"/>
                                  </a:rPr>
                                  <m:t>0.81</m:t>
                                </m:r>
                              </m:e>
                              <m:e>
                                <m:r>
                                  <a:rPr lang="ru-RU" sz="2200" i="0">
                                    <a:latin typeface="Cambria Math" panose="02040503050406030204" pitchFamily="18" charset="0"/>
                                  </a:rPr>
                                  <m:t>−0.49</m:t>
                                </m:r>
                              </m:e>
                              <m:e>
                                <m:r>
                                  <a:rPr lang="ru-RU" sz="2200" i="0">
                                    <a:latin typeface="Cambria Math" panose="02040503050406030204" pitchFamily="18" charset="0"/>
                                  </a:rPr>
                                  <m:t>0.20</m:t>
                                </m:r>
                              </m:e>
                            </m:mr>
                            <m:mr>
                              <m:e>
                                <m:r>
                                  <a:rPr lang="ru-RU" sz="2200" i="0">
                                    <a:latin typeface="Cambria Math" panose="02040503050406030204" pitchFamily="18" charset="0"/>
                                  </a:rPr>
                                  <m:t>0.57</m:t>
                                </m:r>
                              </m:e>
                              <m:e>
                                <m:r>
                                  <a:rPr lang="ru-RU" sz="2200" i="0">
                                    <a:latin typeface="Cambria Math" panose="02040503050406030204" pitchFamily="18" charset="0"/>
                                  </a:rPr>
                                  <m:t>0.49</m:t>
                                </m:r>
                              </m:e>
                              <m:e>
                                <m:r>
                                  <a:rPr lang="ru-RU" sz="2200" i="0">
                                    <a:latin typeface="Cambria Math" panose="02040503050406030204" pitchFamily="18" charset="0"/>
                                  </a:rPr>
                                  <m:t>−0.78</m:t>
                                </m:r>
                              </m:e>
                            </m:mr>
                            <m:mr>
                              <m:e>
                                <m:r>
                                  <a:rPr lang="ru-RU" sz="2200" i="0">
                                    <a:latin typeface="Cambria Math" panose="02040503050406030204" pitchFamily="18" charset="0"/>
                                  </a:rPr>
                                  <m:t>−0.16</m:t>
                                </m:r>
                              </m:e>
                              <m:e>
                                <m:r>
                                  <a:rPr lang="ru-RU" sz="2200" i="0">
                                    <a:latin typeface="Cambria Math" panose="02040503050406030204" pitchFamily="18" charset="0"/>
                                  </a:rPr>
                                  <m:t>−0.73</m:t>
                                </m:r>
                              </m:e>
                              <m:e>
                                <m:r>
                                  <a:rPr lang="ru-RU" sz="2200" i="0">
                                    <a:latin typeface="Cambria Math" panose="02040503050406030204" pitchFamily="18" charset="0"/>
                                  </a:rPr>
                                  <m:t>0.59</m:t>
                                </m:r>
                              </m:e>
                            </m:mr>
                          </m:m>
                        </m:e>
                      </m:d>
                      <m:r>
                        <a:rPr lang="ru-RU" sz="2200" b="0" i="1" smtClean="0">
                          <a:latin typeface="Cambria Math" panose="02040503050406030204" pitchFamily="18" charset="0"/>
                        </a:rPr>
                        <m:t>          </m:t>
                      </m:r>
                      <m:sSubSup>
                        <m:sSubSupPr>
                          <m:ctrlPr>
                            <a:rPr lang="ru-RU" sz="2200" i="1"/>
                          </m:ctrlPr>
                        </m:sSubSupPr>
                        <m:e>
                          <m:r>
                            <a:rPr lang="ru-RU" sz="2200" i="1"/>
                            <m:t>𝑅</m:t>
                          </m:r>
                        </m:e>
                        <m:sub>
                          <m:r>
                            <a:rPr lang="ru-RU" sz="2200" i="1"/>
                            <m:t>0</m:t>
                          </m:r>
                        </m:sub>
                        <m:sup>
                          <m:r>
                            <a:rPr lang="ru-RU" sz="2200" i="1"/>
                            <m:t>𝑙</m:t>
                          </m:r>
                        </m:sup>
                      </m:sSubSup>
                      <m:d>
                        <m:dPr>
                          <m:ctrlPr>
                            <a:rPr lang="ru-RU" sz="2200" i="1"/>
                          </m:ctrlPr>
                        </m:dPr>
                        <m:e>
                          <m:m>
                            <m:mPr>
                              <m:mcs>
                                <m:mc>
                                  <m:mcPr>
                                    <m:count m:val="3"/>
                                    <m:mcJc m:val="center"/>
                                  </m:mcPr>
                                </m:mc>
                              </m:mcs>
                              <m:ctrlPr>
                                <a:rPr lang="ru-RU" sz="2200" i="1"/>
                              </m:ctrlPr>
                            </m:mPr>
                            <m:mr>
                              <m:e>
                                <m:r>
                                  <a:rPr lang="ru-RU" sz="2200" i="1"/>
                                  <m:t>4.95×</m:t>
                                </m:r>
                                <m:sSup>
                                  <m:sSupPr>
                                    <m:ctrlPr>
                                      <a:rPr lang="ru-RU" sz="2200" i="1"/>
                                    </m:ctrlPr>
                                  </m:sSupPr>
                                  <m:e>
                                    <m:r>
                                      <a:rPr lang="ru-RU" sz="2200" i="1"/>
                                      <m:t>10</m:t>
                                    </m:r>
                                  </m:e>
                                  <m:sup>
                                    <m:r>
                                      <a:rPr lang="ru-RU" sz="2200" i="1"/>
                                      <m:t>1</m:t>
                                    </m:r>
                                  </m:sup>
                                </m:sSup>
                              </m:e>
                              <m:e>
                                <m:r>
                                  <a:rPr lang="ru-RU" sz="2200" i="1"/>
                                  <m:t>4.51×</m:t>
                                </m:r>
                                <m:sSup>
                                  <m:sSupPr>
                                    <m:ctrlPr>
                                      <a:rPr lang="ru-RU" sz="2200" i="1"/>
                                    </m:ctrlPr>
                                  </m:sSupPr>
                                  <m:e>
                                    <m:r>
                                      <a:rPr lang="ru-RU" sz="2200" i="1"/>
                                      <m:t>10</m:t>
                                    </m:r>
                                  </m:e>
                                  <m:sup>
                                    <m:r>
                                      <a:rPr lang="ru-RU" sz="2200" i="1"/>
                                      <m:t>1</m:t>
                                    </m:r>
                                  </m:sup>
                                </m:sSup>
                              </m:e>
                              <m:e>
                                <m:r>
                                  <a:rPr lang="ru-RU" sz="2200" i="1"/>
                                  <m:t>−2.04×</m:t>
                                </m:r>
                                <m:sSup>
                                  <m:sSupPr>
                                    <m:ctrlPr>
                                      <a:rPr lang="ru-RU" sz="2200" i="1"/>
                                    </m:ctrlPr>
                                  </m:sSupPr>
                                  <m:e>
                                    <m:r>
                                      <a:rPr lang="ru-RU" sz="2200" i="1"/>
                                      <m:t>10</m:t>
                                    </m:r>
                                  </m:e>
                                  <m:sup>
                                    <m:r>
                                      <a:rPr lang="ru-RU" sz="2200" i="1"/>
                                      <m:t>1</m:t>
                                    </m:r>
                                  </m:sup>
                                </m:sSup>
                              </m:e>
                            </m:mr>
                            <m:mr>
                              <m:e>
                                <m:r>
                                  <a:rPr lang="ru-RU" sz="2200" i="1"/>
                                  <m:t>−2.22×</m:t>
                                </m:r>
                                <m:sSup>
                                  <m:sSupPr>
                                    <m:ctrlPr>
                                      <a:rPr lang="ru-RU" sz="2200" i="1"/>
                                    </m:ctrlPr>
                                  </m:sSupPr>
                                  <m:e>
                                    <m:r>
                                      <a:rPr lang="ru-RU" sz="2200" i="1"/>
                                      <m:t>10</m:t>
                                    </m:r>
                                  </m:e>
                                  <m:sup>
                                    <m:r>
                                      <a:rPr lang="ru-RU" sz="2200" i="1"/>
                                      <m:t>−14</m:t>
                                    </m:r>
                                  </m:sup>
                                </m:sSup>
                              </m:e>
                              <m:e>
                                <m:r>
                                  <a:rPr lang="ru-RU" sz="2200" i="1"/>
                                  <m:t>1.75×</m:t>
                                </m:r>
                                <m:sSup>
                                  <m:sSupPr>
                                    <m:ctrlPr>
                                      <a:rPr lang="ru-RU" sz="2200" i="1"/>
                                    </m:ctrlPr>
                                  </m:sSupPr>
                                  <m:e>
                                    <m:r>
                                      <a:rPr lang="ru-RU" sz="2200" i="1"/>
                                      <m:t>10</m:t>
                                    </m:r>
                                  </m:e>
                                  <m:sup>
                                    <m:r>
                                      <a:rPr lang="ru-RU" sz="2200" i="1"/>
                                      <m:t>1</m:t>
                                    </m:r>
                                  </m:sup>
                                </m:sSup>
                              </m:e>
                              <m:e>
                                <m:r>
                                  <a:rPr lang="ru-RU" sz="2200" i="1"/>
                                  <m:t>−1.75×</m:t>
                                </m:r>
                                <m:sSup>
                                  <m:sSupPr>
                                    <m:ctrlPr>
                                      <a:rPr lang="ru-RU" sz="2200" i="1"/>
                                    </m:ctrlPr>
                                  </m:sSupPr>
                                  <m:e>
                                    <m:r>
                                      <a:rPr lang="ru-RU" sz="2200" i="1"/>
                                      <m:t>10</m:t>
                                    </m:r>
                                  </m:e>
                                  <m:sup>
                                    <m:r>
                                      <a:rPr lang="ru-RU" sz="2200" i="1"/>
                                      <m:t>1</m:t>
                                    </m:r>
                                  </m:sup>
                                </m:sSup>
                              </m:e>
                            </m:mr>
                            <m:mr>
                              <m:e>
                                <m:r>
                                  <a:rPr lang="ru-RU" sz="2200" i="1"/>
                                  <m:t>−1.88×</m:t>
                                </m:r>
                                <m:sSup>
                                  <m:sSupPr>
                                    <m:ctrlPr>
                                      <a:rPr lang="ru-RU" sz="2200" i="1"/>
                                    </m:ctrlPr>
                                  </m:sSupPr>
                                  <m:e>
                                    <m:r>
                                      <a:rPr lang="ru-RU" sz="2200" i="1"/>
                                      <m:t>10</m:t>
                                    </m:r>
                                  </m:e>
                                  <m:sup>
                                    <m:r>
                                      <a:rPr lang="ru-RU" sz="2200" i="1"/>
                                      <m:t>1</m:t>
                                    </m:r>
                                  </m:sup>
                                </m:sSup>
                              </m:e>
                              <m:e>
                                <m:r>
                                  <a:rPr lang="ru-RU" sz="2200" i="1"/>
                                  <m:t>−3.29×</m:t>
                                </m:r>
                                <m:sSup>
                                  <m:sSupPr>
                                    <m:ctrlPr>
                                      <a:rPr lang="ru-RU" sz="2200" i="1"/>
                                    </m:ctrlPr>
                                  </m:sSupPr>
                                  <m:e>
                                    <m:r>
                                      <a:rPr lang="ru-RU" sz="2200" i="1"/>
                                      <m:t>10</m:t>
                                    </m:r>
                                  </m:e>
                                  <m:sup>
                                    <m:r>
                                      <a:rPr lang="ru-RU" sz="2200" i="1"/>
                                      <m:t>1</m:t>
                                    </m:r>
                                  </m:sup>
                                </m:sSup>
                              </m:e>
                              <m:e>
                                <m:r>
                                  <a:rPr lang="ru-RU" sz="2200" i="1"/>
                                  <m:t>2.35×</m:t>
                                </m:r>
                                <m:sSup>
                                  <m:sSupPr>
                                    <m:ctrlPr>
                                      <a:rPr lang="ru-RU" sz="2200" i="1"/>
                                    </m:ctrlPr>
                                  </m:sSupPr>
                                  <m:e>
                                    <m:r>
                                      <a:rPr lang="ru-RU" sz="2200" i="1"/>
                                      <m:t>10</m:t>
                                    </m:r>
                                  </m:e>
                                  <m:sup>
                                    <m:r>
                                      <a:rPr lang="ru-RU" sz="2200" i="1"/>
                                      <m:t>1</m:t>
                                    </m:r>
                                  </m:sup>
                                </m:sSup>
                              </m:e>
                            </m:mr>
                          </m:m>
                        </m:e>
                      </m:d>
                    </m:oMath>
                  </m:oMathPara>
                </a14:m>
                <a:endParaRPr lang="ru-RU" sz="2200" dirty="0"/>
              </a:p>
            </p:txBody>
          </p:sp>
        </mc:Choice>
        <mc:Fallback>
          <p:sp>
            <p:nvSpPr>
              <p:cNvPr id="16" name="TextBox 15">
                <a:extLst>
                  <a:ext uri="{FF2B5EF4-FFF2-40B4-BE49-F238E27FC236}">
                    <a16:creationId xmlns:a16="http://schemas.microsoft.com/office/drawing/2014/main" id="{F498C034-88F9-41C2-A15B-821FE6577191}"/>
                  </a:ext>
                </a:extLst>
              </p:cNvPr>
              <p:cNvSpPr txBox="1">
                <a:spLocks noRot="1" noChangeAspect="1" noMove="1" noResize="1" noEditPoints="1" noAdjustHandles="1" noChangeArrowheads="1" noChangeShapeType="1" noTextEdit="1"/>
              </p:cNvSpPr>
              <p:nvPr/>
            </p:nvSpPr>
            <p:spPr>
              <a:xfrm>
                <a:off x="404807" y="4024164"/>
                <a:ext cx="11382375" cy="1182311"/>
              </a:xfrm>
              <a:prstGeom prst="rect">
                <a:avLst/>
              </a:prstGeom>
              <a:blipFill>
                <a:blip r:embed="rId5"/>
                <a:stretch>
                  <a:fillRect/>
                </a:stretch>
              </a:blipFill>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20" name="TextBox 19">
                <a:extLst>
                  <a:ext uri="{FF2B5EF4-FFF2-40B4-BE49-F238E27FC236}">
                    <a16:creationId xmlns:a16="http://schemas.microsoft.com/office/drawing/2014/main" id="{9E2031A7-D051-4D7B-96EA-59400151CA50}"/>
                  </a:ext>
                </a:extLst>
              </p:cNvPr>
              <p:cNvSpPr txBox="1"/>
              <p:nvPr/>
            </p:nvSpPr>
            <p:spPr>
              <a:xfrm>
                <a:off x="2962270" y="5432921"/>
                <a:ext cx="6267450" cy="99450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ru-RU" sz="2200" i="1" smtClean="0">
                              <a:solidFill>
                                <a:srgbClr val="836967"/>
                              </a:solidFill>
                              <a:latin typeface="Cambria Math" panose="02040503050406030204" pitchFamily="18" charset="0"/>
                            </a:rPr>
                          </m:ctrlPr>
                        </m:sSubSupPr>
                        <m:e>
                          <m:acc>
                            <m:accPr>
                              <m:chr m:val="̃"/>
                              <m:ctrlPr>
                                <a:rPr lang="ru-RU" sz="2200" i="1">
                                  <a:solidFill>
                                    <a:srgbClr val="836967"/>
                                  </a:solidFill>
                                  <a:latin typeface="Cambria Math" panose="02040503050406030204" pitchFamily="18" charset="0"/>
                                </a:rPr>
                              </m:ctrlPr>
                            </m:accPr>
                            <m:e>
                              <m:r>
                                <a:rPr lang="ru-RU" sz="2200" i="1">
                                  <a:latin typeface="Cambria Math" panose="02040503050406030204" pitchFamily="18" charset="0"/>
                                </a:rPr>
                                <m:t>𝑄</m:t>
                              </m:r>
                            </m:e>
                          </m:acc>
                        </m:e>
                        <m:sub>
                          <m:r>
                            <a:rPr lang="ru-RU" sz="2200" i="0">
                              <a:latin typeface="Cambria Math" panose="02040503050406030204" pitchFamily="18" charset="0"/>
                            </a:rPr>
                            <m:t>1</m:t>
                          </m:r>
                        </m:sub>
                        <m:sup>
                          <m:r>
                            <a:rPr lang="ru-RU" sz="2200" i="1">
                              <a:latin typeface="Cambria Math" panose="02040503050406030204" pitchFamily="18" charset="0"/>
                            </a:rPr>
                            <m:t>𝑙</m:t>
                          </m:r>
                        </m:sup>
                      </m:sSubSup>
                      <m:r>
                        <a:rPr lang="ru-RU" sz="2200" i="0">
                          <a:latin typeface="Cambria Math" panose="02040503050406030204" pitchFamily="18" charset="0"/>
                        </a:rPr>
                        <m:t>=</m:t>
                      </m:r>
                      <m:d>
                        <m:dPr>
                          <m:ctrlPr>
                            <a:rPr lang="ru-RU" sz="2200" i="1">
                              <a:solidFill>
                                <a:srgbClr val="836967"/>
                              </a:solidFill>
                              <a:latin typeface="Cambria Math" panose="02040503050406030204" pitchFamily="18" charset="0"/>
                            </a:rPr>
                          </m:ctrlPr>
                        </m:dPr>
                        <m:e>
                          <m:m>
                            <m:mPr>
                              <m:plcHide m:val="on"/>
                              <m:mcs>
                                <m:mc>
                                  <m:mcPr>
                                    <m:count m:val="3"/>
                                    <m:mcJc m:val="center"/>
                                  </m:mcPr>
                                </m:mc>
                              </m:mcs>
                              <m:ctrlPr>
                                <a:rPr lang="ru-RU" sz="2200" i="1">
                                  <a:solidFill>
                                    <a:srgbClr val="836967"/>
                                  </a:solidFill>
                                  <a:latin typeface="Cambria Math" panose="02040503050406030204" pitchFamily="18" charset="0"/>
                                </a:rPr>
                              </m:ctrlPr>
                            </m:mPr>
                            <m:mr>
                              <m:e>
                                <m:r>
                                  <a:rPr lang="ru-RU" sz="2200" i="0">
                                    <a:latin typeface="Cambria Math" panose="02040503050406030204" pitchFamily="18" charset="0"/>
                                  </a:rPr>
                                  <m:t>55.64</m:t>
                                </m:r>
                              </m:e>
                              <m:e>
                                <m:r>
                                  <a:rPr lang="ru-RU" sz="2200" i="0">
                                    <a:latin typeface="Cambria Math" panose="02040503050406030204" pitchFamily="18" charset="0"/>
                                  </a:rPr>
                                  <m:t>38.95</m:t>
                                </m:r>
                              </m:e>
                              <m:e>
                                <m:r>
                                  <a:rPr lang="ru-RU" sz="2200" i="0">
                                    <a:latin typeface="Cambria Math" panose="02040503050406030204" pitchFamily="18" charset="0"/>
                                  </a:rPr>
                                  <m:t>−11.13</m:t>
                                </m:r>
                              </m:e>
                            </m:mr>
                            <m:mr>
                              <m:e>
                                <m:r>
                                  <a:rPr lang="ru-RU" sz="2200" i="0">
                                    <a:latin typeface="Cambria Math" panose="02040503050406030204" pitchFamily="18" charset="0"/>
                                  </a:rPr>
                                  <m:t>−17.46</m:t>
                                </m:r>
                              </m:e>
                              <m:e>
                                <m:r>
                                  <a:rPr lang="ru-RU" sz="2200" i="0">
                                    <a:latin typeface="Cambria Math" panose="02040503050406030204" pitchFamily="18" charset="0"/>
                                  </a:rPr>
                                  <m:t>17.46</m:t>
                                </m:r>
                              </m:e>
                              <m:e>
                                <m:r>
                                  <a:rPr lang="ru-RU" sz="2200" i="0">
                                    <a:latin typeface="Cambria Math" panose="02040503050406030204" pitchFamily="18" charset="0"/>
                                  </a:rPr>
                                  <m:t>−26.19</m:t>
                                </m:r>
                              </m:e>
                            </m:mr>
                            <m:mr>
                              <m:e>
                                <m:r>
                                  <a:rPr lang="ru-RU" sz="2200" i="0">
                                    <a:latin typeface="Cambria Math" panose="02040503050406030204" pitchFamily="18" charset="0"/>
                                  </a:rPr>
                                  <m:t>4.15</m:t>
                                </m:r>
                              </m:e>
                              <m:e>
                                <m:r>
                                  <a:rPr lang="ru-RU" sz="2200" i="0">
                                    <a:latin typeface="Cambria Math" panose="02040503050406030204" pitchFamily="18" charset="0"/>
                                  </a:rPr>
                                  <m:t>−16.61</m:t>
                                </m:r>
                              </m:e>
                              <m:e>
                                <m:r>
                                  <a:rPr lang="ru-RU" sz="2200" i="0">
                                    <a:latin typeface="Cambria Math" panose="02040503050406030204" pitchFamily="18" charset="0"/>
                                  </a:rPr>
                                  <m:t>12.46</m:t>
                                </m:r>
                              </m:e>
                            </m:mr>
                          </m:m>
                        </m:e>
                      </m:d>
                    </m:oMath>
                  </m:oMathPara>
                </a14:m>
                <a:endParaRPr lang="ru-RU" sz="2200" dirty="0"/>
              </a:p>
            </p:txBody>
          </p:sp>
        </mc:Choice>
        <mc:Fallback>
          <p:sp>
            <p:nvSpPr>
              <p:cNvPr id="20" name="TextBox 19">
                <a:extLst>
                  <a:ext uri="{FF2B5EF4-FFF2-40B4-BE49-F238E27FC236}">
                    <a16:creationId xmlns:a16="http://schemas.microsoft.com/office/drawing/2014/main" id="{9E2031A7-D051-4D7B-96EA-59400151CA50}"/>
                  </a:ext>
                </a:extLst>
              </p:cNvPr>
              <p:cNvSpPr txBox="1">
                <a:spLocks noRot="1" noChangeAspect="1" noMove="1" noResize="1" noEditPoints="1" noAdjustHandles="1" noChangeArrowheads="1" noChangeShapeType="1" noTextEdit="1"/>
              </p:cNvSpPr>
              <p:nvPr/>
            </p:nvSpPr>
            <p:spPr>
              <a:xfrm>
                <a:off x="2962270" y="5432921"/>
                <a:ext cx="6267450" cy="994503"/>
              </a:xfrm>
              <a:prstGeom prst="rect">
                <a:avLst/>
              </a:prstGeom>
              <a:blipFill>
                <a:blip r:embed="rId6"/>
                <a:stretch>
                  <a:fillRect/>
                </a:stretch>
              </a:blipFill>
            </p:spPr>
            <p:txBody>
              <a:bodyPr/>
              <a:lstStyle/>
              <a:p>
                <a:r>
                  <a:rPr lang="ru-RU">
                    <a:noFill/>
                  </a:rPr>
                  <a:t> </a:t>
                </a:r>
              </a:p>
            </p:txBody>
          </p:sp>
        </mc:Fallback>
      </mc:AlternateContent>
      <p:sp>
        <p:nvSpPr>
          <p:cNvPr id="21" name="Блок-схема: узел 20">
            <a:extLst>
              <a:ext uri="{FF2B5EF4-FFF2-40B4-BE49-F238E27FC236}">
                <a16:creationId xmlns:a16="http://schemas.microsoft.com/office/drawing/2014/main" id="{116BB886-A264-4027-A225-6869AEF472C4}"/>
              </a:ext>
            </a:extLst>
          </p:cNvPr>
          <p:cNvSpPr/>
          <p:nvPr/>
        </p:nvSpPr>
        <p:spPr>
          <a:xfrm>
            <a:off x="11393850" y="6067424"/>
            <a:ext cx="720000" cy="720000"/>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solidFill>
                  <a:schemeClr val="tx1"/>
                </a:solidFill>
                <a:latin typeface="Times New Roman" panose="02020603050405020304" pitchFamily="18" charset="0"/>
                <a:cs typeface="Times New Roman" panose="02020603050405020304" pitchFamily="18" charset="0"/>
              </a:rPr>
              <a:t>9</a:t>
            </a:r>
          </a:p>
        </p:txBody>
      </p:sp>
    </p:spTree>
    <p:extLst>
      <p:ext uri="{BB962C8B-B14F-4D97-AF65-F5344CB8AC3E}">
        <p14:creationId xmlns:p14="http://schemas.microsoft.com/office/powerpoint/2010/main" val="14868701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2B0B32E-90AE-4322-B74F-86418474CEAD}"/>
              </a:ext>
            </a:extLst>
          </p:cNvPr>
          <p:cNvSpPr txBox="1">
            <a:spLocks/>
          </p:cNvSpPr>
          <p:nvPr/>
        </p:nvSpPr>
        <p:spPr>
          <a:xfrm>
            <a:off x="285750" y="307976"/>
            <a:ext cx="1762126" cy="4445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ru-RU" sz="3200" b="1" dirty="0">
                <a:latin typeface="Times New Roman" panose="02020603050405020304" pitchFamily="18" charset="0"/>
                <a:cs typeface="Times New Roman" panose="02020603050405020304" pitchFamily="18" charset="0"/>
              </a:rPr>
              <a:t>Пример</a:t>
            </a:r>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92547EE2-2ECB-40A6-86CF-33FCCFA1B3D3}"/>
                  </a:ext>
                </a:extLst>
              </p:cNvPr>
              <p:cNvSpPr txBox="1"/>
              <p:nvPr/>
            </p:nvSpPr>
            <p:spPr>
              <a:xfrm>
                <a:off x="3048000" y="752476"/>
                <a:ext cx="6096000" cy="118231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ru-RU" sz="2200" i="1" smtClean="0">
                          <a:latin typeface="Cambria Math" panose="02040503050406030204" pitchFamily="18" charset="0"/>
                        </a:rPr>
                        <m:t>𝐴</m:t>
                      </m:r>
                      <m:r>
                        <a:rPr lang="ru-RU" sz="2200" i="0">
                          <a:latin typeface="Cambria Math" panose="02040503050406030204" pitchFamily="18" charset="0"/>
                        </a:rPr>
                        <m:t>=</m:t>
                      </m:r>
                      <m:d>
                        <m:dPr>
                          <m:ctrlPr>
                            <a:rPr lang="ru-RU" sz="2200" i="1">
                              <a:solidFill>
                                <a:srgbClr val="836967"/>
                              </a:solidFill>
                              <a:latin typeface="Cambria Math" panose="02040503050406030204" pitchFamily="18" charset="0"/>
                            </a:rPr>
                          </m:ctrlPr>
                        </m:dPr>
                        <m:e>
                          <m:m>
                            <m:mPr>
                              <m:plcHide m:val="on"/>
                              <m:mcs>
                                <m:mc>
                                  <m:mcPr>
                                    <m:count m:val="2"/>
                                    <m:mcJc m:val="center"/>
                                  </m:mcPr>
                                </m:mc>
                              </m:mcs>
                              <m:ctrlPr>
                                <a:rPr lang="ru-RU" sz="2200" i="1">
                                  <a:solidFill>
                                    <a:srgbClr val="836967"/>
                                  </a:solidFill>
                                  <a:latin typeface="Cambria Math" panose="02040503050406030204" pitchFamily="18" charset="0"/>
                                </a:rPr>
                              </m:ctrlPr>
                            </m:mPr>
                            <m:mr>
                              <m:e>
                                <m:r>
                                  <a:rPr lang="ru-RU" sz="2200" i="0">
                                    <a:latin typeface="Cambria Math" panose="02040503050406030204" pitchFamily="18" charset="0"/>
                                  </a:rPr>
                                  <m:t>72</m:t>
                                </m:r>
                              </m:e>
                              <m:e>
                                <m:r>
                                  <a:rPr lang="ru-RU" sz="2200" i="0">
                                    <a:latin typeface="Cambria Math" panose="02040503050406030204" pitchFamily="18" charset="0"/>
                                  </a:rPr>
                                  <m:t>18</m:t>
                                </m:r>
                              </m:e>
                            </m:mr>
                          </m:m>
                        </m:e>
                      </m:d>
                      <m:r>
                        <a:rPr lang="ru-RU" sz="2200" i="0">
                          <a:latin typeface="Cambria Math" panose="02040503050406030204" pitchFamily="18" charset="0"/>
                        </a:rPr>
                        <m:t>→</m:t>
                      </m:r>
                      <m:r>
                        <a:rPr lang="ru-RU" sz="2200" i="1">
                          <a:latin typeface="Cambria Math" panose="02040503050406030204" pitchFamily="18" charset="0"/>
                        </a:rPr>
                        <m:t>𝛴</m:t>
                      </m:r>
                      <m:r>
                        <a:rPr lang="ru-RU" sz="2200" i="0">
                          <a:latin typeface="Cambria Math" panose="02040503050406030204" pitchFamily="18" charset="0"/>
                        </a:rPr>
                        <m:t>=</m:t>
                      </m:r>
                      <m:d>
                        <m:dPr>
                          <m:ctrlPr>
                            <a:rPr lang="ru-RU" sz="2200" i="1">
                              <a:solidFill>
                                <a:srgbClr val="836967"/>
                              </a:solidFill>
                              <a:latin typeface="Cambria Math" panose="02040503050406030204" pitchFamily="18" charset="0"/>
                            </a:rPr>
                          </m:ctrlPr>
                        </m:dPr>
                        <m:e>
                          <m:m>
                            <m:mPr>
                              <m:plcHide m:val="on"/>
                              <m:mcs>
                                <m:mc>
                                  <m:mcPr>
                                    <m:count m:val="2"/>
                                    <m:mcJc m:val="center"/>
                                  </m:mcPr>
                                </m:mc>
                              </m:mcs>
                              <m:ctrlPr>
                                <a:rPr lang="ru-RU" sz="2200" i="1">
                                  <a:solidFill>
                                    <a:srgbClr val="836967"/>
                                  </a:solidFill>
                                  <a:latin typeface="Cambria Math" panose="02040503050406030204" pitchFamily="18" charset="0"/>
                                </a:rPr>
                              </m:ctrlPr>
                            </m:mPr>
                            <m:mr>
                              <m:e>
                                <m:rad>
                                  <m:radPr>
                                    <m:degHide m:val="on"/>
                                    <m:ctrlPr>
                                      <a:rPr lang="ru-RU" sz="2200" i="1">
                                        <a:solidFill>
                                          <a:srgbClr val="836967"/>
                                        </a:solidFill>
                                        <a:latin typeface="Cambria Math" panose="02040503050406030204" pitchFamily="18" charset="0"/>
                                      </a:rPr>
                                    </m:ctrlPr>
                                  </m:radPr>
                                  <m:deg/>
                                  <m:e>
                                    <m:r>
                                      <a:rPr lang="ru-RU" sz="2200" i="0">
                                        <a:latin typeface="Cambria Math" panose="02040503050406030204" pitchFamily="18" charset="0"/>
                                      </a:rPr>
                                      <m:t>72</m:t>
                                    </m:r>
                                  </m:e>
                                </m:rad>
                              </m:e>
                              <m:e>
                                <m:r>
                                  <a:rPr lang="ru-RU" sz="2200" i="0">
                                    <a:latin typeface="Cambria Math" panose="02040503050406030204" pitchFamily="18" charset="0"/>
                                  </a:rPr>
                                  <m:t>0</m:t>
                                </m:r>
                              </m:e>
                            </m:mr>
                            <m:mr>
                              <m:e>
                                <m:r>
                                  <a:rPr lang="ru-RU" sz="2200" i="0">
                                    <a:latin typeface="Cambria Math" panose="02040503050406030204" pitchFamily="18" charset="0"/>
                                  </a:rPr>
                                  <m:t>0</m:t>
                                </m:r>
                              </m:e>
                              <m:e>
                                <m:rad>
                                  <m:radPr>
                                    <m:degHide m:val="on"/>
                                    <m:ctrlPr>
                                      <a:rPr lang="ru-RU" sz="2200" i="1">
                                        <a:solidFill>
                                          <a:srgbClr val="836967"/>
                                        </a:solidFill>
                                        <a:latin typeface="Cambria Math" panose="02040503050406030204" pitchFamily="18" charset="0"/>
                                      </a:rPr>
                                    </m:ctrlPr>
                                  </m:radPr>
                                  <m:deg/>
                                  <m:e>
                                    <m:r>
                                      <a:rPr lang="ru-RU" sz="2200" i="0">
                                        <a:latin typeface="Cambria Math" panose="02040503050406030204" pitchFamily="18" charset="0"/>
                                      </a:rPr>
                                      <m:t>18</m:t>
                                    </m:r>
                                  </m:e>
                                </m:rad>
                              </m:e>
                            </m:mr>
                            <m:mr>
                              <m:e>
                                <m:r>
                                  <a:rPr lang="ru-RU" sz="2200" i="0">
                                    <a:latin typeface="Cambria Math" panose="02040503050406030204" pitchFamily="18" charset="0"/>
                                  </a:rPr>
                                  <m:t>0</m:t>
                                </m:r>
                              </m:e>
                              <m:e>
                                <m:r>
                                  <a:rPr lang="ru-RU" sz="2200" i="0">
                                    <a:latin typeface="Cambria Math" panose="02040503050406030204" pitchFamily="18" charset="0"/>
                                  </a:rPr>
                                  <m:t>0</m:t>
                                </m:r>
                              </m:e>
                            </m:mr>
                          </m:m>
                        </m:e>
                      </m:d>
                    </m:oMath>
                  </m:oMathPara>
                </a14:m>
                <a:endParaRPr lang="ru-RU" sz="2200" dirty="0"/>
              </a:p>
            </p:txBody>
          </p:sp>
        </mc:Choice>
        <mc:Fallback>
          <p:sp>
            <p:nvSpPr>
              <p:cNvPr id="9" name="TextBox 8">
                <a:extLst>
                  <a:ext uri="{FF2B5EF4-FFF2-40B4-BE49-F238E27FC236}">
                    <a16:creationId xmlns:a16="http://schemas.microsoft.com/office/drawing/2014/main" id="{92547EE2-2ECB-40A6-86CF-33FCCFA1B3D3}"/>
                  </a:ext>
                </a:extLst>
              </p:cNvPr>
              <p:cNvSpPr txBox="1">
                <a:spLocks noRot="1" noChangeAspect="1" noMove="1" noResize="1" noEditPoints="1" noAdjustHandles="1" noChangeArrowheads="1" noChangeShapeType="1" noTextEdit="1"/>
              </p:cNvSpPr>
              <p:nvPr/>
            </p:nvSpPr>
            <p:spPr>
              <a:xfrm>
                <a:off x="3048000" y="752476"/>
                <a:ext cx="6096000" cy="1182311"/>
              </a:xfrm>
              <a:prstGeom prst="rect">
                <a:avLst/>
              </a:prstGeom>
              <a:blipFill>
                <a:blip r:embed="rId2"/>
                <a:stretch>
                  <a:fillRect/>
                </a:stretch>
              </a:blipFill>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DF3544C0-F407-4C55-9503-0E471B6339DE}"/>
                  </a:ext>
                </a:extLst>
              </p:cNvPr>
              <p:cNvSpPr txBox="1"/>
              <p:nvPr/>
            </p:nvSpPr>
            <p:spPr>
              <a:xfrm>
                <a:off x="3047998" y="2258896"/>
                <a:ext cx="6096000" cy="66370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ru-RU" sz="2200" i="1" smtClean="0">
                              <a:solidFill>
                                <a:srgbClr val="836967"/>
                              </a:solidFill>
                              <a:latin typeface="Cambria Math" panose="02040503050406030204" pitchFamily="18" charset="0"/>
                            </a:rPr>
                          </m:ctrlPr>
                        </m:sSubPr>
                        <m:e>
                          <m:acc>
                            <m:accPr>
                              <m:chr m:val="̃"/>
                              <m:ctrlPr>
                                <a:rPr lang="ru-RU" sz="2200" i="1">
                                  <a:solidFill>
                                    <a:srgbClr val="836967"/>
                                  </a:solidFill>
                                  <a:latin typeface="Cambria Math" panose="02040503050406030204" pitchFamily="18" charset="0"/>
                                </a:rPr>
                              </m:ctrlPr>
                            </m:accPr>
                            <m:e>
                              <m:r>
                                <a:rPr lang="ru-RU" sz="2200" i="1">
                                  <a:latin typeface="Cambria Math" panose="02040503050406030204" pitchFamily="18" charset="0"/>
                                </a:rPr>
                                <m:t>𝑄</m:t>
                              </m:r>
                            </m:e>
                          </m:acc>
                        </m:e>
                        <m:sub>
                          <m:r>
                            <a:rPr lang="ru-RU" sz="2200" i="1">
                              <a:latin typeface="Cambria Math" panose="02040503050406030204" pitchFamily="18" charset="0"/>
                            </a:rPr>
                            <m:t>𝑟</m:t>
                          </m:r>
                        </m:sub>
                      </m:sSub>
                      <m:r>
                        <a:rPr lang="ru-RU" sz="2200" i="0">
                          <a:latin typeface="Cambria Math" panose="02040503050406030204" pitchFamily="18" charset="0"/>
                        </a:rPr>
                        <m:t>=</m:t>
                      </m:r>
                      <m:r>
                        <a:rPr lang="ru-RU" sz="2200" i="1">
                          <a:latin typeface="Cambria Math" panose="02040503050406030204" pitchFamily="18" charset="0"/>
                        </a:rPr>
                        <m:t>𝑉</m:t>
                      </m:r>
                      <m:r>
                        <a:rPr lang="ru-RU" sz="2200" i="0">
                          <a:latin typeface="Cambria Math" panose="02040503050406030204" pitchFamily="18" charset="0"/>
                        </a:rPr>
                        <m:t>=</m:t>
                      </m:r>
                      <m:d>
                        <m:dPr>
                          <m:ctrlPr>
                            <a:rPr lang="ru-RU" sz="2200" i="1">
                              <a:solidFill>
                                <a:srgbClr val="836967"/>
                              </a:solidFill>
                              <a:latin typeface="Cambria Math" panose="02040503050406030204" pitchFamily="18" charset="0"/>
                            </a:rPr>
                          </m:ctrlPr>
                        </m:dPr>
                        <m:e>
                          <m:m>
                            <m:mPr>
                              <m:plcHide m:val="on"/>
                              <m:mcs>
                                <m:mc>
                                  <m:mcPr>
                                    <m:count m:val="2"/>
                                    <m:mcJc m:val="center"/>
                                  </m:mcPr>
                                </m:mc>
                              </m:mcs>
                              <m:ctrlPr>
                                <a:rPr lang="ru-RU" sz="2200" i="1">
                                  <a:solidFill>
                                    <a:srgbClr val="836967"/>
                                  </a:solidFill>
                                  <a:latin typeface="Cambria Math" panose="02040503050406030204" pitchFamily="18" charset="0"/>
                                </a:rPr>
                              </m:ctrlPr>
                            </m:mPr>
                            <m:mr>
                              <m:e>
                                <m:r>
                                  <a:rPr lang="ru-RU" sz="2200" i="0">
                                    <a:latin typeface="Cambria Math" panose="02040503050406030204" pitchFamily="18" charset="0"/>
                                  </a:rPr>
                                  <m:t>50.91</m:t>
                                </m:r>
                              </m:e>
                              <m:e>
                                <m:r>
                                  <a:rPr lang="ru-RU" sz="2200" i="0">
                                    <a:latin typeface="Cambria Math" panose="02040503050406030204" pitchFamily="18" charset="0"/>
                                  </a:rPr>
                                  <m:t>50.91</m:t>
                                </m:r>
                              </m:e>
                            </m:mr>
                            <m:mr>
                              <m:e>
                                <m:r>
                                  <a:rPr lang="ru-RU" sz="2200" i="0">
                                    <a:latin typeface="Cambria Math" panose="02040503050406030204" pitchFamily="18" charset="0"/>
                                  </a:rPr>
                                  <m:t>−12.73</m:t>
                                </m:r>
                              </m:e>
                              <m:e>
                                <m:r>
                                  <a:rPr lang="ru-RU" sz="2200" i="0">
                                    <a:latin typeface="Cambria Math" panose="02040503050406030204" pitchFamily="18" charset="0"/>
                                  </a:rPr>
                                  <m:t>12.73</m:t>
                                </m:r>
                              </m:e>
                            </m:mr>
                          </m:m>
                        </m:e>
                      </m:d>
                    </m:oMath>
                  </m:oMathPara>
                </a14:m>
                <a:endParaRPr lang="ru-RU" sz="2200" dirty="0"/>
              </a:p>
            </p:txBody>
          </p:sp>
        </mc:Choice>
        <mc:Fallback>
          <p:sp>
            <p:nvSpPr>
              <p:cNvPr id="11" name="TextBox 10">
                <a:extLst>
                  <a:ext uri="{FF2B5EF4-FFF2-40B4-BE49-F238E27FC236}">
                    <a16:creationId xmlns:a16="http://schemas.microsoft.com/office/drawing/2014/main" id="{DF3544C0-F407-4C55-9503-0E471B6339DE}"/>
                  </a:ext>
                </a:extLst>
              </p:cNvPr>
              <p:cNvSpPr txBox="1">
                <a:spLocks noRot="1" noChangeAspect="1" noMove="1" noResize="1" noEditPoints="1" noAdjustHandles="1" noChangeArrowheads="1" noChangeShapeType="1" noTextEdit="1"/>
              </p:cNvSpPr>
              <p:nvPr/>
            </p:nvSpPr>
            <p:spPr>
              <a:xfrm>
                <a:off x="3047998" y="2258896"/>
                <a:ext cx="6096000" cy="663708"/>
              </a:xfrm>
              <a:prstGeom prst="rect">
                <a:avLst/>
              </a:prstGeom>
              <a:blipFill>
                <a:blip r:embed="rId3"/>
                <a:stretch>
                  <a:fillRect/>
                </a:stretch>
              </a:blipFill>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33151DDD-0BD5-440D-89C9-50757E465539}"/>
                  </a:ext>
                </a:extLst>
              </p:cNvPr>
              <p:cNvSpPr txBox="1"/>
              <p:nvPr/>
            </p:nvSpPr>
            <p:spPr>
              <a:xfrm>
                <a:off x="2271711" y="3382905"/>
                <a:ext cx="7648575" cy="103573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ru-RU" sz="2200" i="1" smtClean="0">
                              <a:solidFill>
                                <a:srgbClr val="836967"/>
                              </a:solidFill>
                              <a:latin typeface="Cambria Math" panose="02040503050406030204" pitchFamily="18" charset="0"/>
                            </a:rPr>
                          </m:ctrlPr>
                        </m:sSubPr>
                        <m:e>
                          <m:acc>
                            <m:accPr>
                              <m:chr m:val="̃"/>
                              <m:ctrlPr>
                                <a:rPr lang="ru-RU" sz="2200" i="1">
                                  <a:solidFill>
                                    <a:srgbClr val="836967"/>
                                  </a:solidFill>
                                  <a:latin typeface="Cambria Math" panose="02040503050406030204" pitchFamily="18" charset="0"/>
                                </a:rPr>
                              </m:ctrlPr>
                            </m:accPr>
                            <m:e>
                              <m:r>
                                <a:rPr lang="ru-RU" sz="2200" i="1">
                                  <a:latin typeface="Cambria Math" panose="02040503050406030204" pitchFamily="18" charset="0"/>
                                </a:rPr>
                                <m:t>𝑄</m:t>
                              </m:r>
                            </m:e>
                          </m:acc>
                        </m:e>
                        <m:sub>
                          <m:r>
                            <a:rPr lang="ru-RU" sz="2200" i="1">
                              <a:latin typeface="Cambria Math" panose="02040503050406030204" pitchFamily="18" charset="0"/>
                            </a:rPr>
                            <m:t>𝑙</m:t>
                          </m:r>
                        </m:sub>
                      </m:sSub>
                      <m:r>
                        <a:rPr lang="ru-RU" sz="2200" i="0">
                          <a:latin typeface="Cambria Math" panose="02040503050406030204" pitchFamily="18" charset="0"/>
                        </a:rPr>
                        <m:t>=</m:t>
                      </m:r>
                      <m:r>
                        <a:rPr lang="ru-RU" sz="2200" i="1">
                          <a:latin typeface="Cambria Math" panose="02040503050406030204" pitchFamily="18" charset="0"/>
                        </a:rPr>
                        <m:t>𝑈</m:t>
                      </m:r>
                      <m:r>
                        <a:rPr lang="ru-RU" sz="2200" i="0">
                          <a:latin typeface="Cambria Math" panose="02040503050406030204" pitchFamily="18" charset="0"/>
                        </a:rPr>
                        <m:t>=</m:t>
                      </m:r>
                      <m:d>
                        <m:dPr>
                          <m:ctrlPr>
                            <a:rPr lang="ru-RU" sz="2200" i="1">
                              <a:solidFill>
                                <a:srgbClr val="836967"/>
                              </a:solidFill>
                              <a:latin typeface="Cambria Math" panose="02040503050406030204" pitchFamily="18" charset="0"/>
                            </a:rPr>
                          </m:ctrlPr>
                        </m:dPr>
                        <m:e>
                          <m:m>
                            <m:mPr>
                              <m:plcHide m:val="on"/>
                              <m:mcs>
                                <m:mc>
                                  <m:mcPr>
                                    <m:count m:val="3"/>
                                    <m:mcJc m:val="center"/>
                                  </m:mcPr>
                                </m:mc>
                              </m:mcs>
                              <m:ctrlPr>
                                <a:rPr lang="ru-RU" sz="2200" i="1">
                                  <a:solidFill>
                                    <a:srgbClr val="836967"/>
                                  </a:solidFill>
                                  <a:latin typeface="Cambria Math" panose="02040503050406030204" pitchFamily="18" charset="0"/>
                                </a:rPr>
                              </m:ctrlPr>
                            </m:mPr>
                            <m:mr>
                              <m:e>
                                <m:r>
                                  <a:rPr lang="ru-RU" sz="2200" i="0">
                                    <a:latin typeface="Cambria Math" panose="02040503050406030204" pitchFamily="18" charset="0"/>
                                  </a:rPr>
                                  <m:t>−7.08×</m:t>
                                </m:r>
                                <m:sSup>
                                  <m:sSupPr>
                                    <m:ctrlPr>
                                      <a:rPr lang="ru-RU" sz="2200" i="1">
                                        <a:solidFill>
                                          <a:srgbClr val="836967"/>
                                        </a:solidFill>
                                        <a:latin typeface="Cambria Math" panose="02040503050406030204" pitchFamily="18" charset="0"/>
                                      </a:rPr>
                                    </m:ctrlPr>
                                  </m:sSupPr>
                                  <m:e>
                                    <m:r>
                                      <a:rPr lang="ru-RU" sz="2200" i="0">
                                        <a:latin typeface="Cambria Math" panose="02040503050406030204" pitchFamily="18" charset="0"/>
                                      </a:rPr>
                                      <m:t>10</m:t>
                                    </m:r>
                                  </m:e>
                                  <m:sup>
                                    <m:r>
                                      <a:rPr lang="ru-RU" sz="2200" i="0">
                                        <a:latin typeface="Cambria Math" panose="02040503050406030204" pitchFamily="18" charset="0"/>
                                      </a:rPr>
                                      <m:t>15</m:t>
                                    </m:r>
                                  </m:sup>
                                </m:sSup>
                              </m:e>
                              <m:e>
                                <m:r>
                                  <a:rPr lang="ru-RU" sz="2200" i="0">
                                    <a:latin typeface="Cambria Math" panose="02040503050406030204" pitchFamily="18" charset="0"/>
                                  </a:rPr>
                                  <m:t>6.44×</m:t>
                                </m:r>
                                <m:sSup>
                                  <m:sSupPr>
                                    <m:ctrlPr>
                                      <a:rPr lang="ru-RU" sz="2200" i="1">
                                        <a:solidFill>
                                          <a:srgbClr val="836967"/>
                                        </a:solidFill>
                                        <a:latin typeface="Cambria Math" panose="02040503050406030204" pitchFamily="18" charset="0"/>
                                      </a:rPr>
                                    </m:ctrlPr>
                                  </m:sSupPr>
                                  <m:e>
                                    <m:r>
                                      <a:rPr lang="ru-RU" sz="2200" i="0">
                                        <a:latin typeface="Cambria Math" panose="02040503050406030204" pitchFamily="18" charset="0"/>
                                      </a:rPr>
                                      <m:t>10</m:t>
                                    </m:r>
                                  </m:e>
                                  <m:sup>
                                    <m:r>
                                      <a:rPr lang="ru-RU" sz="2200" i="0">
                                        <a:latin typeface="Cambria Math" panose="02040503050406030204" pitchFamily="18" charset="0"/>
                                      </a:rPr>
                                      <m:t>16</m:t>
                                    </m:r>
                                  </m:sup>
                                </m:sSup>
                              </m:e>
                              <m:e>
                                <m:r>
                                  <a:rPr lang="ru-RU" sz="2200" i="0">
                                    <a:latin typeface="Cambria Math" panose="02040503050406030204" pitchFamily="18" charset="0"/>
                                  </a:rPr>
                                  <m:t>−5.52×</m:t>
                                </m:r>
                                <m:sSup>
                                  <m:sSupPr>
                                    <m:ctrlPr>
                                      <a:rPr lang="ru-RU" sz="2200" i="1">
                                        <a:solidFill>
                                          <a:srgbClr val="836967"/>
                                        </a:solidFill>
                                        <a:latin typeface="Cambria Math" panose="02040503050406030204" pitchFamily="18" charset="0"/>
                                      </a:rPr>
                                    </m:ctrlPr>
                                  </m:sSupPr>
                                  <m:e>
                                    <m:r>
                                      <a:rPr lang="ru-RU" sz="2200" i="0">
                                        <a:latin typeface="Cambria Math" panose="02040503050406030204" pitchFamily="18" charset="0"/>
                                      </a:rPr>
                                      <m:t>10</m:t>
                                    </m:r>
                                  </m:e>
                                  <m:sup>
                                    <m:r>
                                      <a:rPr lang="ru-RU" sz="2200" i="0">
                                        <a:latin typeface="Cambria Math" panose="02040503050406030204" pitchFamily="18" charset="0"/>
                                      </a:rPr>
                                      <m:t>16</m:t>
                                    </m:r>
                                  </m:sup>
                                </m:sSup>
                              </m:e>
                            </m:mr>
                            <m:mr>
                              <m:e>
                                <m:r>
                                  <a:rPr lang="ru-RU" sz="2200" i="0">
                                    <a:latin typeface="Cambria Math" panose="02040503050406030204" pitchFamily="18" charset="0"/>
                                  </a:rPr>
                                  <m:t>−9.35×</m:t>
                                </m:r>
                                <m:sSup>
                                  <m:sSupPr>
                                    <m:ctrlPr>
                                      <a:rPr lang="ru-RU" sz="2200" i="1">
                                        <a:solidFill>
                                          <a:srgbClr val="836967"/>
                                        </a:solidFill>
                                        <a:latin typeface="Cambria Math" panose="02040503050406030204" pitchFamily="18" charset="0"/>
                                      </a:rPr>
                                    </m:ctrlPr>
                                  </m:sSupPr>
                                  <m:e>
                                    <m:r>
                                      <a:rPr lang="ru-RU" sz="2200" i="0">
                                        <a:latin typeface="Cambria Math" panose="02040503050406030204" pitchFamily="18" charset="0"/>
                                      </a:rPr>
                                      <m:t>10</m:t>
                                    </m:r>
                                  </m:e>
                                  <m:sup>
                                    <m:r>
                                      <a:rPr lang="ru-RU" sz="2200" i="0">
                                        <a:latin typeface="Cambria Math" panose="02040503050406030204" pitchFamily="18" charset="0"/>
                                      </a:rPr>
                                      <m:t>6</m:t>
                                    </m:r>
                                  </m:sup>
                                </m:sSup>
                              </m:e>
                              <m:e>
                                <m:r>
                                  <a:rPr lang="ru-RU" sz="2200" i="0">
                                    <a:latin typeface="Cambria Math" panose="02040503050406030204" pitchFamily="18" charset="0"/>
                                  </a:rPr>
                                  <m:t>2.04×</m:t>
                                </m:r>
                                <m:sSup>
                                  <m:sSupPr>
                                    <m:ctrlPr>
                                      <a:rPr lang="ru-RU" sz="2200" i="1">
                                        <a:solidFill>
                                          <a:srgbClr val="836967"/>
                                        </a:solidFill>
                                        <a:latin typeface="Cambria Math" panose="02040503050406030204" pitchFamily="18" charset="0"/>
                                      </a:rPr>
                                    </m:ctrlPr>
                                  </m:sSupPr>
                                  <m:e>
                                    <m:r>
                                      <a:rPr lang="ru-RU" sz="2200" i="0">
                                        <a:latin typeface="Cambria Math" panose="02040503050406030204" pitchFamily="18" charset="0"/>
                                      </a:rPr>
                                      <m:t>10</m:t>
                                    </m:r>
                                  </m:e>
                                  <m:sup>
                                    <m:r>
                                      <a:rPr lang="ru-RU" sz="2200" i="0">
                                        <a:latin typeface="Cambria Math" panose="02040503050406030204" pitchFamily="18" charset="0"/>
                                      </a:rPr>
                                      <m:t>6</m:t>
                                    </m:r>
                                  </m:sup>
                                </m:sSup>
                              </m:e>
                              <m:e>
                                <m:r>
                                  <a:rPr lang="ru-RU" sz="2200" i="0">
                                    <a:latin typeface="Cambria Math" panose="02040503050406030204" pitchFamily="18" charset="0"/>
                                  </a:rPr>
                                  <m:t>−5.68×</m:t>
                                </m:r>
                                <m:sSup>
                                  <m:sSupPr>
                                    <m:ctrlPr>
                                      <a:rPr lang="ru-RU" sz="2200" i="1">
                                        <a:solidFill>
                                          <a:srgbClr val="836967"/>
                                        </a:solidFill>
                                        <a:latin typeface="Cambria Math" panose="02040503050406030204" pitchFamily="18" charset="0"/>
                                      </a:rPr>
                                    </m:ctrlPr>
                                  </m:sSupPr>
                                  <m:e>
                                    <m:r>
                                      <a:rPr lang="ru-RU" sz="2200" i="0">
                                        <a:latin typeface="Cambria Math" panose="02040503050406030204" pitchFamily="18" charset="0"/>
                                      </a:rPr>
                                      <m:t>10</m:t>
                                    </m:r>
                                  </m:e>
                                  <m:sup>
                                    <m:r>
                                      <a:rPr lang="ru-RU" sz="2200" i="0">
                                        <a:latin typeface="Cambria Math" panose="02040503050406030204" pitchFamily="18" charset="0"/>
                                      </a:rPr>
                                      <m:t>6</m:t>
                                    </m:r>
                                  </m:sup>
                                </m:sSup>
                              </m:e>
                            </m:mr>
                            <m:mr>
                              <m:e>
                                <m:r>
                                  <a:rPr lang="ru-RU" sz="2200" i="0">
                                    <a:latin typeface="Cambria Math" panose="02040503050406030204" pitchFamily="18" charset="0"/>
                                  </a:rPr>
                                  <m:t>−6.45×</m:t>
                                </m:r>
                                <m:sSup>
                                  <m:sSupPr>
                                    <m:ctrlPr>
                                      <a:rPr lang="ru-RU" sz="2200" i="1">
                                        <a:solidFill>
                                          <a:srgbClr val="836967"/>
                                        </a:solidFill>
                                        <a:latin typeface="Cambria Math" panose="02040503050406030204" pitchFamily="18" charset="0"/>
                                      </a:rPr>
                                    </m:ctrlPr>
                                  </m:sSupPr>
                                  <m:e>
                                    <m:r>
                                      <a:rPr lang="ru-RU" sz="2200" i="0">
                                        <a:latin typeface="Cambria Math" panose="02040503050406030204" pitchFamily="18" charset="0"/>
                                      </a:rPr>
                                      <m:t>10</m:t>
                                    </m:r>
                                  </m:e>
                                  <m:sup>
                                    <m:r>
                                      <a:rPr lang="ru-RU" sz="2200" i="0">
                                        <a:latin typeface="Cambria Math" panose="02040503050406030204" pitchFamily="18" charset="0"/>
                                      </a:rPr>
                                      <m:t>−10</m:t>
                                    </m:r>
                                  </m:sup>
                                </m:sSup>
                              </m:e>
                              <m:e>
                                <m:r>
                                  <a:rPr lang="ru-RU" sz="2200" i="0">
                                    <a:latin typeface="Cambria Math" panose="02040503050406030204" pitchFamily="18" charset="0"/>
                                  </a:rPr>
                                  <m:t>5.87×</m:t>
                                </m:r>
                                <m:sSup>
                                  <m:sSupPr>
                                    <m:ctrlPr>
                                      <a:rPr lang="ru-RU" sz="2200" i="1">
                                        <a:solidFill>
                                          <a:srgbClr val="836967"/>
                                        </a:solidFill>
                                        <a:latin typeface="Cambria Math" panose="02040503050406030204" pitchFamily="18" charset="0"/>
                                      </a:rPr>
                                    </m:ctrlPr>
                                  </m:sSupPr>
                                  <m:e>
                                    <m:r>
                                      <a:rPr lang="ru-RU" sz="2200" i="0">
                                        <a:latin typeface="Cambria Math" panose="02040503050406030204" pitchFamily="18" charset="0"/>
                                      </a:rPr>
                                      <m:t>10</m:t>
                                    </m:r>
                                  </m:e>
                                  <m:sup>
                                    <m:r>
                                      <a:rPr lang="ru-RU" sz="2200" i="0">
                                        <a:latin typeface="Cambria Math" panose="02040503050406030204" pitchFamily="18" charset="0"/>
                                      </a:rPr>
                                      <m:t>−9</m:t>
                                    </m:r>
                                  </m:sup>
                                </m:sSup>
                              </m:e>
                              <m:e>
                                <m:r>
                                  <a:rPr lang="ru-RU" sz="2200" i="0">
                                    <a:latin typeface="Cambria Math" panose="02040503050406030204" pitchFamily="18" charset="0"/>
                                  </a:rPr>
                                  <m:t>−5.03×</m:t>
                                </m:r>
                                <m:sSup>
                                  <m:sSupPr>
                                    <m:ctrlPr>
                                      <a:rPr lang="ru-RU" sz="2200" i="1">
                                        <a:solidFill>
                                          <a:srgbClr val="836967"/>
                                        </a:solidFill>
                                        <a:latin typeface="Cambria Math" panose="02040503050406030204" pitchFamily="18" charset="0"/>
                                      </a:rPr>
                                    </m:ctrlPr>
                                  </m:sSupPr>
                                  <m:e>
                                    <m:r>
                                      <a:rPr lang="ru-RU" sz="2200" i="0">
                                        <a:latin typeface="Cambria Math" panose="02040503050406030204" pitchFamily="18" charset="0"/>
                                      </a:rPr>
                                      <m:t>10</m:t>
                                    </m:r>
                                  </m:e>
                                  <m:sup>
                                    <m:r>
                                      <a:rPr lang="ru-RU" sz="2200" i="0">
                                        <a:latin typeface="Cambria Math" panose="02040503050406030204" pitchFamily="18" charset="0"/>
                                      </a:rPr>
                                      <m:t>−9</m:t>
                                    </m:r>
                                  </m:sup>
                                </m:sSup>
                              </m:e>
                            </m:mr>
                          </m:m>
                        </m:e>
                      </m:d>
                    </m:oMath>
                  </m:oMathPara>
                </a14:m>
                <a:endParaRPr lang="ru-RU" sz="2200" dirty="0"/>
              </a:p>
            </p:txBody>
          </p:sp>
        </mc:Choice>
        <mc:Fallback>
          <p:sp>
            <p:nvSpPr>
              <p:cNvPr id="13" name="TextBox 12">
                <a:extLst>
                  <a:ext uri="{FF2B5EF4-FFF2-40B4-BE49-F238E27FC236}">
                    <a16:creationId xmlns:a16="http://schemas.microsoft.com/office/drawing/2014/main" id="{33151DDD-0BD5-440D-89C9-50757E465539}"/>
                  </a:ext>
                </a:extLst>
              </p:cNvPr>
              <p:cNvSpPr txBox="1">
                <a:spLocks noRot="1" noChangeAspect="1" noMove="1" noResize="1" noEditPoints="1" noAdjustHandles="1" noChangeArrowheads="1" noChangeShapeType="1" noTextEdit="1"/>
              </p:cNvSpPr>
              <p:nvPr/>
            </p:nvSpPr>
            <p:spPr>
              <a:xfrm>
                <a:off x="2271711" y="3382905"/>
                <a:ext cx="7648575" cy="1035733"/>
              </a:xfrm>
              <a:prstGeom prst="rect">
                <a:avLst/>
              </a:prstGeom>
              <a:blipFill>
                <a:blip r:embed="rId4"/>
                <a:stretch>
                  <a:fillRect/>
                </a:stretch>
              </a:blipFill>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ED9C88A0-1436-4FD3-B8D0-8D17163B578A}"/>
                  </a:ext>
                </a:extLst>
              </p:cNvPr>
              <p:cNvSpPr txBox="1"/>
              <p:nvPr/>
            </p:nvSpPr>
            <p:spPr>
              <a:xfrm>
                <a:off x="3047999" y="5074601"/>
                <a:ext cx="6096000" cy="103092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ru-RU" sz="2200" i="1" smtClean="0">
                          <a:latin typeface="Cambria Math" panose="02040503050406030204" pitchFamily="18" charset="0"/>
                        </a:rPr>
                        <m:t>𝑈</m:t>
                      </m:r>
                      <m:r>
                        <a:rPr lang="ru-RU" sz="2200" i="1" smtClean="0">
                          <a:latin typeface="Cambria Math" panose="02040503050406030204" pitchFamily="18" charset="0"/>
                        </a:rPr>
                        <m:t>𝛴</m:t>
                      </m:r>
                      <m:r>
                        <a:rPr lang="ru-RU" sz="2200" i="1" smtClean="0">
                          <a:latin typeface="Cambria Math" panose="02040503050406030204" pitchFamily="18" charset="0"/>
                        </a:rPr>
                        <m:t>𝑉</m:t>
                      </m:r>
                      <m:r>
                        <a:rPr lang="ru-RU" sz="2200" i="0">
                          <a:latin typeface="Cambria Math" panose="02040503050406030204" pitchFamily="18" charset="0"/>
                        </a:rPr>
                        <m:t>=</m:t>
                      </m:r>
                      <m:d>
                        <m:dPr>
                          <m:ctrlPr>
                            <a:rPr lang="ru-RU" sz="2200" i="1">
                              <a:solidFill>
                                <a:srgbClr val="836967"/>
                              </a:solidFill>
                              <a:latin typeface="Cambria Math" panose="02040503050406030204" pitchFamily="18" charset="0"/>
                            </a:rPr>
                          </m:ctrlPr>
                        </m:dPr>
                        <m:e>
                          <m:m>
                            <m:mPr>
                              <m:plcHide m:val="on"/>
                              <m:mcs>
                                <m:mc>
                                  <m:mcPr>
                                    <m:count m:val="2"/>
                                    <m:mcJc m:val="center"/>
                                  </m:mcPr>
                                </m:mc>
                              </m:mcs>
                              <m:ctrlPr>
                                <a:rPr lang="ru-RU" sz="2200" i="1">
                                  <a:solidFill>
                                    <a:srgbClr val="836967"/>
                                  </a:solidFill>
                                  <a:latin typeface="Cambria Math" panose="02040503050406030204" pitchFamily="18" charset="0"/>
                                </a:rPr>
                              </m:ctrlPr>
                            </m:mPr>
                            <m:mr>
                              <m:e>
                                <m:r>
                                  <a:rPr lang="ru-RU" sz="2200" i="0">
                                    <a:latin typeface="Cambria Math" panose="02040503050406030204" pitchFamily="18" charset="0"/>
                                  </a:rPr>
                                  <m:t>−6.54×</m:t>
                                </m:r>
                                <m:sSup>
                                  <m:sSupPr>
                                    <m:ctrlPr>
                                      <a:rPr lang="ru-RU" sz="2200" i="1">
                                        <a:solidFill>
                                          <a:srgbClr val="836967"/>
                                        </a:solidFill>
                                        <a:latin typeface="Cambria Math" panose="02040503050406030204" pitchFamily="18" charset="0"/>
                                      </a:rPr>
                                    </m:ctrlPr>
                                  </m:sSupPr>
                                  <m:e>
                                    <m:r>
                                      <a:rPr lang="ru-RU" sz="2200" i="0">
                                        <a:latin typeface="Cambria Math" panose="02040503050406030204" pitchFamily="18" charset="0"/>
                                      </a:rPr>
                                      <m:t>10</m:t>
                                    </m:r>
                                  </m:e>
                                  <m:sup>
                                    <m:r>
                                      <a:rPr lang="ru-RU" sz="2200" i="0">
                                        <a:latin typeface="Cambria Math" panose="02040503050406030204" pitchFamily="18" charset="0"/>
                                      </a:rPr>
                                      <m:t>18</m:t>
                                    </m:r>
                                  </m:sup>
                                </m:sSup>
                              </m:e>
                              <m:e>
                                <m:r>
                                  <a:rPr lang="ru-RU" sz="2200" i="0">
                                    <a:latin typeface="Cambria Math" panose="02040503050406030204" pitchFamily="18" charset="0"/>
                                  </a:rPr>
                                  <m:t>4.20×</m:t>
                                </m:r>
                                <m:sSup>
                                  <m:sSupPr>
                                    <m:ctrlPr>
                                      <a:rPr lang="ru-RU" sz="2200" i="1">
                                        <a:solidFill>
                                          <a:srgbClr val="836967"/>
                                        </a:solidFill>
                                        <a:latin typeface="Cambria Math" panose="02040503050406030204" pitchFamily="18" charset="0"/>
                                      </a:rPr>
                                    </m:ctrlPr>
                                  </m:sSupPr>
                                  <m:e>
                                    <m:r>
                                      <a:rPr lang="ru-RU" sz="2200" i="0">
                                        <a:latin typeface="Cambria Math" panose="02040503050406030204" pitchFamily="18" charset="0"/>
                                      </a:rPr>
                                      <m:t>10</m:t>
                                    </m:r>
                                  </m:e>
                                  <m:sup>
                                    <m:r>
                                      <a:rPr lang="ru-RU" sz="2200" i="0">
                                        <a:latin typeface="Cambria Math" panose="02040503050406030204" pitchFamily="18" charset="0"/>
                                      </a:rPr>
                                      <m:t>17</m:t>
                                    </m:r>
                                  </m:sup>
                                </m:sSup>
                              </m:e>
                            </m:mr>
                            <m:mr>
                              <m:e>
                                <m:r>
                                  <a:rPr lang="ru-RU" sz="2200" i="0">
                                    <a:latin typeface="Cambria Math" panose="02040503050406030204" pitchFamily="18" charset="0"/>
                                  </a:rPr>
                                  <m:t>−4.15×</m:t>
                                </m:r>
                                <m:sSup>
                                  <m:sSupPr>
                                    <m:ctrlPr>
                                      <a:rPr lang="ru-RU" sz="2200" i="1">
                                        <a:solidFill>
                                          <a:srgbClr val="836967"/>
                                        </a:solidFill>
                                        <a:latin typeface="Cambria Math" panose="02040503050406030204" pitchFamily="18" charset="0"/>
                                      </a:rPr>
                                    </m:ctrlPr>
                                  </m:sSupPr>
                                  <m:e>
                                    <m:r>
                                      <a:rPr lang="ru-RU" sz="2200" i="0">
                                        <a:latin typeface="Cambria Math" panose="02040503050406030204" pitchFamily="18" charset="0"/>
                                      </a:rPr>
                                      <m:t>10</m:t>
                                    </m:r>
                                  </m:e>
                                  <m:sup>
                                    <m:r>
                                      <a:rPr lang="ru-RU" sz="2200" i="0">
                                        <a:latin typeface="Cambria Math" panose="02040503050406030204" pitchFamily="18" charset="0"/>
                                      </a:rPr>
                                      <m:t>9</m:t>
                                    </m:r>
                                  </m:sup>
                                </m:sSup>
                              </m:e>
                              <m:e>
                                <m:r>
                                  <a:rPr lang="ru-RU" sz="2200" i="0">
                                    <a:latin typeface="Cambria Math" panose="02040503050406030204" pitchFamily="18" charset="0"/>
                                  </a:rPr>
                                  <m:t>−3.93×</m:t>
                                </m:r>
                                <m:sSup>
                                  <m:sSupPr>
                                    <m:ctrlPr>
                                      <a:rPr lang="ru-RU" sz="2200" i="1">
                                        <a:solidFill>
                                          <a:srgbClr val="836967"/>
                                        </a:solidFill>
                                        <a:latin typeface="Cambria Math" panose="02040503050406030204" pitchFamily="18" charset="0"/>
                                      </a:rPr>
                                    </m:ctrlPr>
                                  </m:sSupPr>
                                  <m:e>
                                    <m:r>
                                      <a:rPr lang="ru-RU" sz="2200" i="0">
                                        <a:latin typeface="Cambria Math" panose="02040503050406030204" pitchFamily="18" charset="0"/>
                                      </a:rPr>
                                      <m:t>10</m:t>
                                    </m:r>
                                  </m:e>
                                  <m:sup>
                                    <m:r>
                                      <a:rPr lang="ru-RU" sz="2200" i="0">
                                        <a:latin typeface="Cambria Math" panose="02040503050406030204" pitchFamily="18" charset="0"/>
                                      </a:rPr>
                                      <m:t>9</m:t>
                                    </m:r>
                                  </m:sup>
                                </m:sSup>
                              </m:e>
                            </m:mr>
                            <m:mr>
                              <m:e>
                                <m:r>
                                  <a:rPr lang="ru-RU" sz="2200" i="0">
                                    <a:latin typeface="Cambria Math" panose="02040503050406030204" pitchFamily="18" charset="0"/>
                                  </a:rPr>
                                  <m:t>−5.96×</m:t>
                                </m:r>
                                <m:sSup>
                                  <m:sSupPr>
                                    <m:ctrlPr>
                                      <a:rPr lang="ru-RU" sz="2200" i="1">
                                        <a:solidFill>
                                          <a:srgbClr val="836967"/>
                                        </a:solidFill>
                                        <a:latin typeface="Cambria Math" panose="02040503050406030204" pitchFamily="18" charset="0"/>
                                      </a:rPr>
                                    </m:ctrlPr>
                                  </m:sSupPr>
                                  <m:e>
                                    <m:r>
                                      <a:rPr lang="ru-RU" sz="2200" i="0">
                                        <a:latin typeface="Cambria Math" panose="02040503050406030204" pitchFamily="18" charset="0"/>
                                      </a:rPr>
                                      <m:t>10</m:t>
                                    </m:r>
                                  </m:e>
                                  <m:sup>
                                    <m:r>
                                      <a:rPr lang="ru-RU" sz="2200" i="0">
                                        <a:latin typeface="Cambria Math" panose="02040503050406030204" pitchFamily="18" charset="0"/>
                                      </a:rPr>
                                      <m:t>−7</m:t>
                                    </m:r>
                                  </m:sup>
                                </m:sSup>
                              </m:e>
                              <m:e>
                                <m:r>
                                  <a:rPr lang="ru-RU" sz="2200" i="0">
                                    <a:latin typeface="Cambria Math" panose="02040503050406030204" pitchFamily="18" charset="0"/>
                                  </a:rPr>
                                  <m:t>3.83×</m:t>
                                </m:r>
                                <m:sSup>
                                  <m:sSupPr>
                                    <m:ctrlPr>
                                      <a:rPr lang="ru-RU" sz="2200" i="1">
                                        <a:solidFill>
                                          <a:srgbClr val="836967"/>
                                        </a:solidFill>
                                        <a:latin typeface="Cambria Math" panose="02040503050406030204" pitchFamily="18" charset="0"/>
                                      </a:rPr>
                                    </m:ctrlPr>
                                  </m:sSupPr>
                                  <m:e>
                                    <m:r>
                                      <a:rPr lang="ru-RU" sz="2200" i="0">
                                        <a:latin typeface="Cambria Math" panose="02040503050406030204" pitchFamily="18" charset="0"/>
                                      </a:rPr>
                                      <m:t>10</m:t>
                                    </m:r>
                                  </m:e>
                                  <m:sup>
                                    <m:r>
                                      <a:rPr lang="ru-RU" sz="2200" i="0">
                                        <a:latin typeface="Cambria Math" panose="02040503050406030204" pitchFamily="18" charset="0"/>
                                      </a:rPr>
                                      <m:t>−8</m:t>
                                    </m:r>
                                  </m:sup>
                                </m:sSup>
                              </m:e>
                            </m:mr>
                          </m:m>
                        </m:e>
                      </m:d>
                    </m:oMath>
                  </m:oMathPara>
                </a14:m>
                <a:endParaRPr lang="ru-RU" sz="2200" dirty="0"/>
              </a:p>
            </p:txBody>
          </p:sp>
        </mc:Choice>
        <mc:Fallback>
          <p:sp>
            <p:nvSpPr>
              <p:cNvPr id="15" name="TextBox 14">
                <a:extLst>
                  <a:ext uri="{FF2B5EF4-FFF2-40B4-BE49-F238E27FC236}">
                    <a16:creationId xmlns:a16="http://schemas.microsoft.com/office/drawing/2014/main" id="{ED9C88A0-1436-4FD3-B8D0-8D17163B578A}"/>
                  </a:ext>
                </a:extLst>
              </p:cNvPr>
              <p:cNvSpPr txBox="1">
                <a:spLocks noRot="1" noChangeAspect="1" noMove="1" noResize="1" noEditPoints="1" noAdjustHandles="1" noChangeArrowheads="1" noChangeShapeType="1" noTextEdit="1"/>
              </p:cNvSpPr>
              <p:nvPr/>
            </p:nvSpPr>
            <p:spPr>
              <a:xfrm>
                <a:off x="3047999" y="5074601"/>
                <a:ext cx="6096000" cy="1030923"/>
              </a:xfrm>
              <a:prstGeom prst="rect">
                <a:avLst/>
              </a:prstGeom>
              <a:blipFill>
                <a:blip r:embed="rId5"/>
                <a:stretch>
                  <a:fillRect/>
                </a:stretch>
              </a:blipFill>
            </p:spPr>
            <p:txBody>
              <a:bodyPr/>
              <a:lstStyle/>
              <a:p>
                <a:r>
                  <a:rPr lang="ru-RU">
                    <a:noFill/>
                  </a:rPr>
                  <a:t> </a:t>
                </a:r>
              </a:p>
            </p:txBody>
          </p:sp>
        </mc:Fallback>
      </mc:AlternateContent>
      <p:sp>
        <p:nvSpPr>
          <p:cNvPr id="17" name="Блок-схема: узел 16">
            <a:extLst>
              <a:ext uri="{FF2B5EF4-FFF2-40B4-BE49-F238E27FC236}">
                <a16:creationId xmlns:a16="http://schemas.microsoft.com/office/drawing/2014/main" id="{C1E36E13-44FA-43F4-8E03-445BBD4E0527}"/>
              </a:ext>
            </a:extLst>
          </p:cNvPr>
          <p:cNvSpPr/>
          <p:nvPr/>
        </p:nvSpPr>
        <p:spPr>
          <a:xfrm>
            <a:off x="11393850" y="6067424"/>
            <a:ext cx="720000" cy="720000"/>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solidFill>
                  <a:schemeClr val="tx1"/>
                </a:solidFill>
                <a:latin typeface="Times New Roman" panose="02020603050405020304" pitchFamily="18" charset="0"/>
                <a:cs typeface="Times New Roman" panose="02020603050405020304" pitchFamily="18" charset="0"/>
              </a:rPr>
              <a:t>10</a:t>
            </a:r>
          </a:p>
        </p:txBody>
      </p:sp>
    </p:spTree>
    <p:extLst>
      <p:ext uri="{BB962C8B-B14F-4D97-AF65-F5344CB8AC3E}">
        <p14:creationId xmlns:p14="http://schemas.microsoft.com/office/powerpoint/2010/main" val="35950204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Заголовок 1">
            <a:extLst>
              <a:ext uri="{FF2B5EF4-FFF2-40B4-BE49-F238E27FC236}">
                <a16:creationId xmlns:a16="http://schemas.microsoft.com/office/drawing/2014/main" id="{27FEBC28-C3A3-434E-9A9B-B4A61AA75570}"/>
              </a:ext>
            </a:extLst>
          </p:cNvPr>
          <p:cNvSpPr txBox="1">
            <a:spLocks/>
          </p:cNvSpPr>
          <p:nvPr/>
        </p:nvSpPr>
        <p:spPr>
          <a:xfrm>
            <a:off x="285749" y="307976"/>
            <a:ext cx="2505075" cy="4445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ru-RU" sz="3200" b="1" dirty="0">
                <a:latin typeface="Times New Roman" panose="02020603050405020304" pitchFamily="18" charset="0"/>
                <a:cs typeface="Times New Roman" panose="02020603050405020304" pitchFamily="18" charset="0"/>
              </a:rPr>
              <a:t>Реализация</a:t>
            </a:r>
          </a:p>
        </p:txBody>
      </p:sp>
      <p:pic>
        <p:nvPicPr>
          <p:cNvPr id="11" name="Рисунок 10">
            <a:extLst>
              <a:ext uri="{FF2B5EF4-FFF2-40B4-BE49-F238E27FC236}">
                <a16:creationId xmlns:a16="http://schemas.microsoft.com/office/drawing/2014/main" id="{ABEAE86F-D2F7-4622-ACA8-63398E861747}"/>
              </a:ext>
            </a:extLst>
          </p:cNvPr>
          <p:cNvPicPr>
            <a:picLocks noChangeAspect="1"/>
          </p:cNvPicPr>
          <p:nvPr/>
        </p:nvPicPr>
        <p:blipFill>
          <a:blip r:embed="rId2"/>
          <a:stretch>
            <a:fillRect/>
          </a:stretch>
        </p:blipFill>
        <p:spPr>
          <a:xfrm>
            <a:off x="2562226" y="1604723"/>
            <a:ext cx="6429375" cy="609600"/>
          </a:xfrm>
          <a:prstGeom prst="rect">
            <a:avLst/>
          </a:prstGeom>
        </p:spPr>
      </p:pic>
      <p:sp>
        <p:nvSpPr>
          <p:cNvPr id="12" name="TextBox 11">
            <a:extLst>
              <a:ext uri="{FF2B5EF4-FFF2-40B4-BE49-F238E27FC236}">
                <a16:creationId xmlns:a16="http://schemas.microsoft.com/office/drawing/2014/main" id="{1F40A55C-F409-48A7-83D2-E9D520F3A2E8}"/>
              </a:ext>
            </a:extLst>
          </p:cNvPr>
          <p:cNvSpPr txBox="1"/>
          <p:nvPr/>
        </p:nvSpPr>
        <p:spPr>
          <a:xfrm>
            <a:off x="1190626" y="952500"/>
            <a:ext cx="1371600" cy="430887"/>
          </a:xfrm>
          <a:prstGeom prst="rect">
            <a:avLst/>
          </a:prstGeom>
          <a:noFill/>
        </p:spPr>
        <p:txBody>
          <a:bodyPr wrap="square" rtlCol="0">
            <a:spAutoFit/>
          </a:bodyPr>
          <a:lstStyle/>
          <a:p>
            <a:r>
              <a:rPr lang="ru-RU" sz="2200" dirty="0">
                <a:latin typeface="Times New Roman" panose="02020603050405020304" pitchFamily="18" charset="0"/>
                <a:cs typeface="Times New Roman" panose="02020603050405020304" pitchFamily="18" charset="0"/>
              </a:rPr>
              <a:t>Проекция</a:t>
            </a:r>
          </a:p>
        </p:txBody>
      </p:sp>
      <p:pic>
        <p:nvPicPr>
          <p:cNvPr id="14" name="Рисунок 13">
            <a:extLst>
              <a:ext uri="{FF2B5EF4-FFF2-40B4-BE49-F238E27FC236}">
                <a16:creationId xmlns:a16="http://schemas.microsoft.com/office/drawing/2014/main" id="{51FB22F8-8BA2-4CAC-A704-C0CAA5E6F4E8}"/>
              </a:ext>
            </a:extLst>
          </p:cNvPr>
          <p:cNvPicPr>
            <a:picLocks noChangeAspect="1"/>
          </p:cNvPicPr>
          <p:nvPr/>
        </p:nvPicPr>
        <p:blipFill>
          <a:blip r:embed="rId3"/>
          <a:stretch>
            <a:fillRect/>
          </a:stretch>
        </p:blipFill>
        <p:spPr>
          <a:xfrm>
            <a:off x="1466847" y="3169563"/>
            <a:ext cx="8620125" cy="628650"/>
          </a:xfrm>
          <a:prstGeom prst="rect">
            <a:avLst/>
          </a:prstGeom>
        </p:spPr>
      </p:pic>
      <p:pic>
        <p:nvPicPr>
          <p:cNvPr id="16" name="Рисунок 15">
            <a:extLst>
              <a:ext uri="{FF2B5EF4-FFF2-40B4-BE49-F238E27FC236}">
                <a16:creationId xmlns:a16="http://schemas.microsoft.com/office/drawing/2014/main" id="{DAE5D1E0-2197-4A83-8B27-B7048648CF9C}"/>
              </a:ext>
            </a:extLst>
          </p:cNvPr>
          <p:cNvPicPr>
            <a:picLocks noChangeAspect="1"/>
          </p:cNvPicPr>
          <p:nvPr/>
        </p:nvPicPr>
        <p:blipFill>
          <a:blip r:embed="rId4"/>
          <a:stretch>
            <a:fillRect/>
          </a:stretch>
        </p:blipFill>
        <p:spPr>
          <a:xfrm>
            <a:off x="3905248" y="4958002"/>
            <a:ext cx="3743325" cy="590550"/>
          </a:xfrm>
          <a:prstGeom prst="rect">
            <a:avLst/>
          </a:prstGeom>
        </p:spPr>
      </p:pic>
      <p:sp>
        <p:nvSpPr>
          <p:cNvPr id="17" name="TextBox 16">
            <a:extLst>
              <a:ext uri="{FF2B5EF4-FFF2-40B4-BE49-F238E27FC236}">
                <a16:creationId xmlns:a16="http://schemas.microsoft.com/office/drawing/2014/main" id="{A960871D-653B-4BC1-A42C-CECCA6100F69}"/>
              </a:ext>
            </a:extLst>
          </p:cNvPr>
          <p:cNvSpPr txBox="1"/>
          <p:nvPr/>
        </p:nvSpPr>
        <p:spPr>
          <a:xfrm>
            <a:off x="1190626" y="2500312"/>
            <a:ext cx="6810374" cy="430887"/>
          </a:xfrm>
          <a:prstGeom prst="rect">
            <a:avLst/>
          </a:prstGeom>
          <a:noFill/>
        </p:spPr>
        <p:txBody>
          <a:bodyPr wrap="square" rtlCol="0">
            <a:spAutoFit/>
          </a:bodyPr>
          <a:lstStyle/>
          <a:p>
            <a:r>
              <a:rPr lang="ru-RU" sz="2200" dirty="0">
                <a:latin typeface="Times New Roman" panose="02020603050405020304" pitchFamily="18" charset="0"/>
                <a:cs typeface="Times New Roman" panose="02020603050405020304" pitchFamily="18" charset="0"/>
              </a:rPr>
              <a:t>Получение собственных сингулярных векторов</a:t>
            </a:r>
          </a:p>
        </p:txBody>
      </p:sp>
      <p:sp>
        <p:nvSpPr>
          <p:cNvPr id="18" name="TextBox 17">
            <a:extLst>
              <a:ext uri="{FF2B5EF4-FFF2-40B4-BE49-F238E27FC236}">
                <a16:creationId xmlns:a16="http://schemas.microsoft.com/office/drawing/2014/main" id="{3D9D7887-7FBC-4598-BB42-68962AF3EAB1}"/>
              </a:ext>
            </a:extLst>
          </p:cNvPr>
          <p:cNvSpPr txBox="1"/>
          <p:nvPr/>
        </p:nvSpPr>
        <p:spPr>
          <a:xfrm>
            <a:off x="1190626" y="4200764"/>
            <a:ext cx="6810374" cy="430887"/>
          </a:xfrm>
          <a:prstGeom prst="rect">
            <a:avLst/>
          </a:prstGeom>
          <a:noFill/>
        </p:spPr>
        <p:txBody>
          <a:bodyPr wrap="square" rtlCol="0">
            <a:spAutoFit/>
          </a:bodyPr>
          <a:lstStyle/>
          <a:p>
            <a:r>
              <a:rPr lang="ru-RU" sz="2200" dirty="0">
                <a:latin typeface="Times New Roman" panose="02020603050405020304" pitchFamily="18" charset="0"/>
                <a:cs typeface="Times New Roman" panose="02020603050405020304" pitchFamily="18" charset="0"/>
              </a:rPr>
              <a:t>Получение собственных сингулярных значений</a:t>
            </a:r>
          </a:p>
        </p:txBody>
      </p:sp>
      <p:sp>
        <p:nvSpPr>
          <p:cNvPr id="19" name="Блок-схема: узел 18">
            <a:extLst>
              <a:ext uri="{FF2B5EF4-FFF2-40B4-BE49-F238E27FC236}">
                <a16:creationId xmlns:a16="http://schemas.microsoft.com/office/drawing/2014/main" id="{13084BA1-1973-4F61-802F-0CA9FB1901E7}"/>
              </a:ext>
            </a:extLst>
          </p:cNvPr>
          <p:cNvSpPr/>
          <p:nvPr/>
        </p:nvSpPr>
        <p:spPr>
          <a:xfrm>
            <a:off x="11393850" y="6067424"/>
            <a:ext cx="720000" cy="720000"/>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solidFill>
                  <a:schemeClr val="tx1"/>
                </a:solidFill>
                <a:latin typeface="Times New Roman" panose="02020603050405020304" pitchFamily="18" charset="0"/>
                <a:cs typeface="Times New Roman" panose="02020603050405020304" pitchFamily="18" charset="0"/>
              </a:rPr>
              <a:t>11</a:t>
            </a:r>
          </a:p>
        </p:txBody>
      </p:sp>
    </p:spTree>
    <p:extLst>
      <p:ext uri="{BB962C8B-B14F-4D97-AF65-F5344CB8AC3E}">
        <p14:creationId xmlns:p14="http://schemas.microsoft.com/office/powerpoint/2010/main" val="19758072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Заголовок 1">
            <a:extLst>
              <a:ext uri="{FF2B5EF4-FFF2-40B4-BE49-F238E27FC236}">
                <a16:creationId xmlns:a16="http://schemas.microsoft.com/office/drawing/2014/main" id="{27FEBC28-C3A3-434E-9A9B-B4A61AA75570}"/>
              </a:ext>
            </a:extLst>
          </p:cNvPr>
          <p:cNvSpPr txBox="1">
            <a:spLocks/>
          </p:cNvSpPr>
          <p:nvPr/>
        </p:nvSpPr>
        <p:spPr>
          <a:xfrm>
            <a:off x="285749" y="307976"/>
            <a:ext cx="2505075" cy="4445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ru-RU" sz="3200" b="1" dirty="0">
                <a:latin typeface="Times New Roman" panose="02020603050405020304" pitchFamily="18" charset="0"/>
                <a:cs typeface="Times New Roman" panose="02020603050405020304" pitchFamily="18" charset="0"/>
              </a:rPr>
              <a:t>Реализация</a:t>
            </a:r>
          </a:p>
        </p:txBody>
      </p:sp>
      <p:pic>
        <p:nvPicPr>
          <p:cNvPr id="3" name="Рисунок 2">
            <a:extLst>
              <a:ext uri="{FF2B5EF4-FFF2-40B4-BE49-F238E27FC236}">
                <a16:creationId xmlns:a16="http://schemas.microsoft.com/office/drawing/2014/main" id="{72D287C9-E838-43A9-A576-6A365BC16D50}"/>
              </a:ext>
            </a:extLst>
          </p:cNvPr>
          <p:cNvPicPr>
            <a:picLocks noChangeAspect="1"/>
          </p:cNvPicPr>
          <p:nvPr/>
        </p:nvPicPr>
        <p:blipFill>
          <a:blip r:embed="rId2"/>
          <a:stretch>
            <a:fillRect/>
          </a:stretch>
        </p:blipFill>
        <p:spPr>
          <a:xfrm>
            <a:off x="331225" y="752476"/>
            <a:ext cx="5764775" cy="5875333"/>
          </a:xfrm>
          <a:prstGeom prst="rect">
            <a:avLst/>
          </a:prstGeom>
        </p:spPr>
      </p:pic>
      <p:pic>
        <p:nvPicPr>
          <p:cNvPr id="7" name="Рисунок 6">
            <a:extLst>
              <a:ext uri="{FF2B5EF4-FFF2-40B4-BE49-F238E27FC236}">
                <a16:creationId xmlns:a16="http://schemas.microsoft.com/office/drawing/2014/main" id="{40948F16-3B1A-4495-B429-606BFE9FA5BE}"/>
              </a:ext>
            </a:extLst>
          </p:cNvPr>
          <p:cNvPicPr>
            <a:picLocks noChangeAspect="1"/>
          </p:cNvPicPr>
          <p:nvPr/>
        </p:nvPicPr>
        <p:blipFill>
          <a:blip r:embed="rId3"/>
          <a:stretch>
            <a:fillRect/>
          </a:stretch>
        </p:blipFill>
        <p:spPr>
          <a:xfrm>
            <a:off x="6386171" y="756864"/>
            <a:ext cx="4887007" cy="5870945"/>
          </a:xfrm>
          <a:prstGeom prst="rect">
            <a:avLst/>
          </a:prstGeom>
        </p:spPr>
      </p:pic>
      <p:sp>
        <p:nvSpPr>
          <p:cNvPr id="15" name="Блок-схема: узел 14">
            <a:extLst>
              <a:ext uri="{FF2B5EF4-FFF2-40B4-BE49-F238E27FC236}">
                <a16:creationId xmlns:a16="http://schemas.microsoft.com/office/drawing/2014/main" id="{03DB8E70-A04E-4498-8118-62105D080D77}"/>
              </a:ext>
            </a:extLst>
          </p:cNvPr>
          <p:cNvSpPr/>
          <p:nvPr/>
        </p:nvSpPr>
        <p:spPr>
          <a:xfrm>
            <a:off x="11393850" y="6067424"/>
            <a:ext cx="720000" cy="720000"/>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solidFill>
                  <a:schemeClr val="tx1"/>
                </a:solidFill>
                <a:latin typeface="Times New Roman" panose="02020603050405020304" pitchFamily="18" charset="0"/>
                <a:cs typeface="Times New Roman" panose="02020603050405020304" pitchFamily="18" charset="0"/>
              </a:rPr>
              <a:t>12</a:t>
            </a:r>
          </a:p>
        </p:txBody>
      </p:sp>
    </p:spTree>
    <p:extLst>
      <p:ext uri="{BB962C8B-B14F-4D97-AF65-F5344CB8AC3E}">
        <p14:creationId xmlns:p14="http://schemas.microsoft.com/office/powerpoint/2010/main" val="27880450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842D8E8-3198-45AC-9B77-A1F19F3BA9C3}"/>
              </a:ext>
            </a:extLst>
          </p:cNvPr>
          <p:cNvSpPr txBox="1">
            <a:spLocks/>
          </p:cNvSpPr>
          <p:nvPr/>
        </p:nvSpPr>
        <p:spPr>
          <a:xfrm>
            <a:off x="285750" y="307976"/>
            <a:ext cx="3771900" cy="4445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ru-RU" sz="3200" b="1" dirty="0">
                <a:latin typeface="Times New Roman" panose="02020603050405020304" pitchFamily="18" charset="0"/>
                <a:cs typeface="Times New Roman" panose="02020603050405020304" pitchFamily="18" charset="0"/>
              </a:rPr>
              <a:t>Степенной метод</a:t>
            </a:r>
          </a:p>
        </p:txBody>
      </p:sp>
      <p:sp>
        <p:nvSpPr>
          <p:cNvPr id="4" name="TextBox 3">
            <a:extLst>
              <a:ext uri="{FF2B5EF4-FFF2-40B4-BE49-F238E27FC236}">
                <a16:creationId xmlns:a16="http://schemas.microsoft.com/office/drawing/2014/main" id="{C4D31AC0-6584-402D-A1A1-8C0770FCAEB1}"/>
              </a:ext>
            </a:extLst>
          </p:cNvPr>
          <p:cNvSpPr txBox="1"/>
          <p:nvPr/>
        </p:nvSpPr>
        <p:spPr>
          <a:xfrm>
            <a:off x="609600" y="851238"/>
            <a:ext cx="11182350" cy="3307059"/>
          </a:xfrm>
          <a:prstGeom prst="rect">
            <a:avLst/>
          </a:prstGeom>
          <a:noFill/>
        </p:spPr>
        <p:txBody>
          <a:bodyPr wrap="square">
            <a:spAutoFit/>
          </a:bodyPr>
          <a:lstStyle/>
          <a:p>
            <a:pPr indent="450215" algn="just">
              <a:lnSpc>
                <a:spcPct val="120000"/>
              </a:lnSpc>
              <a:spcAft>
                <a:spcPts val="800"/>
              </a:spcAft>
            </a:pPr>
            <a:r>
              <a:rPr lang="ru-RU" sz="2200" dirty="0">
                <a:effectLst/>
                <a:latin typeface="Times New Roman" panose="02020603050405020304" pitchFamily="18" charset="0"/>
                <a:ea typeface="Calibri" panose="020F0502020204030204" pitchFamily="34" charset="0"/>
              </a:rPr>
              <a:t>Как можно было заметить, предыдущий метод отыскивает абсолютно все значения для разложения, что может эффективно работать на маленьких размерах матрицы, где в конечном итоге будет показывать свою эффективность, но когда размерность будет значительно большой – хранить и использовать абсолютно все найденные значения не будет иметь никакого смысла, т.к. уже выяснили, главная задача – сократить данные, не потеряв при этом важные компоненты. Поэтому, если размеры велики, то для этого можно использовать степенные методы, которые не вычисляют абсолютно все сингулярные числа, а только те, которые несут в себе наибольшею значимость.</a:t>
            </a:r>
            <a:endParaRPr lang="ru-RU" sz="2200" dirty="0">
              <a:latin typeface="Times New Roman" panose="02020603050405020304" pitchFamily="18" charset="0"/>
              <a:cs typeface="Times New Roman" panose="02020603050405020304" pitchFamily="18" charset="0"/>
            </a:endParaRPr>
          </a:p>
        </p:txBody>
      </p:sp>
      <p:sp>
        <p:nvSpPr>
          <p:cNvPr id="5" name="Блок-схема: узел 4">
            <a:extLst>
              <a:ext uri="{FF2B5EF4-FFF2-40B4-BE49-F238E27FC236}">
                <a16:creationId xmlns:a16="http://schemas.microsoft.com/office/drawing/2014/main" id="{A09DE754-ABFB-4A17-9451-763172369F7D}"/>
              </a:ext>
            </a:extLst>
          </p:cNvPr>
          <p:cNvSpPr/>
          <p:nvPr/>
        </p:nvSpPr>
        <p:spPr>
          <a:xfrm>
            <a:off x="11393850" y="6067424"/>
            <a:ext cx="720000" cy="720000"/>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solidFill>
                  <a:schemeClr val="tx1"/>
                </a:solidFill>
                <a:latin typeface="Times New Roman" panose="02020603050405020304" pitchFamily="18" charset="0"/>
                <a:cs typeface="Times New Roman" panose="02020603050405020304" pitchFamily="18" charset="0"/>
              </a:rPr>
              <a:t>13</a:t>
            </a:r>
          </a:p>
        </p:txBody>
      </p:sp>
    </p:spTree>
    <p:extLst>
      <p:ext uri="{BB962C8B-B14F-4D97-AF65-F5344CB8AC3E}">
        <p14:creationId xmlns:p14="http://schemas.microsoft.com/office/powerpoint/2010/main" val="10825106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842D8E8-3198-45AC-9B77-A1F19F3BA9C3}"/>
              </a:ext>
            </a:extLst>
          </p:cNvPr>
          <p:cNvSpPr txBox="1">
            <a:spLocks/>
          </p:cNvSpPr>
          <p:nvPr/>
        </p:nvSpPr>
        <p:spPr>
          <a:xfrm>
            <a:off x="285750" y="307976"/>
            <a:ext cx="3771900" cy="4445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ru-RU" sz="3200" b="1" dirty="0">
                <a:latin typeface="Times New Roman" panose="02020603050405020304" pitchFamily="18" charset="0"/>
                <a:cs typeface="Times New Roman" panose="02020603050405020304" pitchFamily="18" charset="0"/>
              </a:rPr>
              <a:t>Степенной метод</a:t>
            </a:r>
          </a:p>
        </p:txBody>
      </p:sp>
      <p:sp>
        <p:nvSpPr>
          <p:cNvPr id="5" name="Блок-схема: узел 4">
            <a:extLst>
              <a:ext uri="{FF2B5EF4-FFF2-40B4-BE49-F238E27FC236}">
                <a16:creationId xmlns:a16="http://schemas.microsoft.com/office/drawing/2014/main" id="{A09DE754-ABFB-4A17-9451-763172369F7D}"/>
              </a:ext>
            </a:extLst>
          </p:cNvPr>
          <p:cNvSpPr/>
          <p:nvPr/>
        </p:nvSpPr>
        <p:spPr>
          <a:xfrm>
            <a:off x="11393850" y="6067424"/>
            <a:ext cx="720000" cy="720000"/>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solidFill>
                  <a:schemeClr val="tx1"/>
                </a:solidFill>
                <a:latin typeface="Times New Roman" panose="02020603050405020304" pitchFamily="18" charset="0"/>
                <a:cs typeface="Times New Roman" panose="02020603050405020304" pitchFamily="18" charset="0"/>
              </a:rPr>
              <a:t>14</a:t>
            </a:r>
          </a:p>
        </p:txBody>
      </p:sp>
      <p:sp>
        <p:nvSpPr>
          <p:cNvPr id="6" name="Заголовок 1">
            <a:extLst>
              <a:ext uri="{FF2B5EF4-FFF2-40B4-BE49-F238E27FC236}">
                <a16:creationId xmlns:a16="http://schemas.microsoft.com/office/drawing/2014/main" id="{27002FD1-CB4A-4259-A928-64066BDF8FDB}"/>
              </a:ext>
            </a:extLst>
          </p:cNvPr>
          <p:cNvSpPr txBox="1">
            <a:spLocks/>
          </p:cNvSpPr>
          <p:nvPr/>
        </p:nvSpPr>
        <p:spPr>
          <a:xfrm>
            <a:off x="876300" y="831851"/>
            <a:ext cx="3238500" cy="4445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ru-RU" sz="2400" b="1" dirty="0">
                <a:latin typeface="Times New Roman" panose="02020603050405020304" pitchFamily="18" charset="0"/>
                <a:cs typeface="Times New Roman" panose="02020603050405020304" pitchFamily="18" charset="0"/>
              </a:rPr>
              <a:t>Алгоритм</a:t>
            </a: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2AB0F33C-3B7D-4CE4-B89C-1C38F40F6815}"/>
                  </a:ext>
                </a:extLst>
              </p:cNvPr>
              <p:cNvSpPr txBox="1"/>
              <p:nvPr/>
            </p:nvSpPr>
            <p:spPr>
              <a:xfrm>
                <a:off x="876300" y="1447801"/>
                <a:ext cx="9705975" cy="3477427"/>
              </a:xfrm>
              <a:prstGeom prst="rect">
                <a:avLst/>
              </a:prstGeom>
              <a:noFill/>
            </p:spPr>
            <p:txBody>
              <a:bodyPr wrap="square" rtlCol="0">
                <a:spAutoFit/>
              </a:bodyPr>
              <a:lstStyle/>
              <a:p>
                <a:pPr marL="342900" lvl="0" indent="-342900" algn="just">
                  <a:lnSpc>
                    <a:spcPct val="150000"/>
                  </a:lnSpc>
                  <a:spcAft>
                    <a:spcPts val="800"/>
                  </a:spcAft>
                  <a:buFont typeface="+mj-lt"/>
                  <a:buAutoNum type="arabicPeriod"/>
                </a:pPr>
                <a:r>
                  <a:rPr lang="ru-RU" sz="2200" dirty="0">
                    <a:effectLst/>
                    <a:latin typeface="Times New Roman" panose="02020603050405020304" pitchFamily="18" charset="0"/>
                    <a:ea typeface="Calibri" panose="020F0502020204030204" pitchFamily="34" charset="0"/>
                    <a:cs typeface="Times New Roman" panose="02020603050405020304" pitchFamily="18" charset="0"/>
                  </a:rPr>
                  <a:t>Генерируется случайны вектор </a:t>
                </a:r>
                <a14:m>
                  <m:oMath xmlns:m="http://schemas.openxmlformats.org/officeDocument/2006/math">
                    <m:sSub>
                      <m:sSubPr>
                        <m:ctrlPr>
                          <a:rPr lang="ru-RU" sz="22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200" i="1">
                            <a:effectLst/>
                            <a:latin typeface="Cambria Math" panose="02040503050406030204" pitchFamily="18" charset="0"/>
                            <a:ea typeface="Calibri" panose="020F0502020204030204" pitchFamily="34" charset="0"/>
                            <a:cs typeface="Times New Roman" panose="02020603050405020304" pitchFamily="18" charset="0"/>
                          </a:rPr>
                          <m:t>𝑏</m:t>
                        </m:r>
                      </m:e>
                      <m:sub>
                        <m:r>
                          <a:rPr lang="ru-RU" sz="2200" i="1">
                            <a:effectLst/>
                            <a:latin typeface="Cambria Math" panose="02040503050406030204" pitchFamily="18" charset="0"/>
                            <a:ea typeface="Calibri" panose="020F0502020204030204" pitchFamily="34" charset="0"/>
                            <a:cs typeface="Times New Roman" panose="02020603050405020304" pitchFamily="18" charset="0"/>
                          </a:rPr>
                          <m:t>0</m:t>
                        </m:r>
                      </m:sub>
                    </m:sSub>
                  </m:oMath>
                </a14:m>
                <a:r>
                  <a:rPr lang="ru-RU" sz="2200" dirty="0">
                    <a:effectLst/>
                    <a:latin typeface="Times New Roman" panose="02020603050405020304" pitchFamily="18" charset="0"/>
                    <a:ea typeface="Calibri" panose="020F0502020204030204" pitchFamily="34" charset="0"/>
                    <a:cs typeface="Times New Roman" panose="02020603050405020304" pitchFamily="18" charset="0"/>
                  </a:rPr>
                  <a:t>.</a:t>
                </a:r>
              </a:p>
              <a:p>
                <a:pPr marL="342900" lvl="0" indent="-342900" algn="just">
                  <a:lnSpc>
                    <a:spcPct val="150000"/>
                  </a:lnSpc>
                  <a:spcAft>
                    <a:spcPts val="800"/>
                  </a:spcAft>
                  <a:buFont typeface="+mj-lt"/>
                  <a:buAutoNum type="arabicPeriod"/>
                </a:pPr>
                <a:r>
                  <a:rPr lang="ru-RU" sz="2200" dirty="0">
                    <a:effectLst/>
                    <a:latin typeface="Times New Roman" panose="02020603050405020304" pitchFamily="18" charset="0"/>
                    <a:ea typeface="Calibri" panose="020F0502020204030204" pitchFamily="34" charset="0"/>
                    <a:cs typeface="Times New Roman" panose="02020603050405020304" pitchFamily="18" charset="0"/>
                  </a:rPr>
                  <a:t>Вычисляется собственный вектор </a:t>
                </a:r>
                <a14:m>
                  <m:oMath xmlns:m="http://schemas.openxmlformats.org/officeDocument/2006/math">
                    <m:sSub>
                      <m:sSubPr>
                        <m:ctrlPr>
                          <a:rPr lang="ru-RU" sz="2200" i="1">
                            <a:effectLst/>
                            <a:latin typeface="Cambria Math" panose="02040503050406030204" pitchFamily="18" charset="0"/>
                            <a:ea typeface="Calibri" panose="020F0502020204030204" pitchFamily="34" charset="0"/>
                            <a:cs typeface="Times New Roman" panose="02020603050405020304" pitchFamily="18" charset="0"/>
                          </a:rPr>
                        </m:ctrlPr>
                      </m:sSubPr>
                      <m:e>
                        <m:r>
                          <a:rPr lang="ru-RU" sz="2200" i="1">
                            <a:effectLst/>
                            <a:latin typeface="Cambria Math" panose="02040503050406030204" pitchFamily="18" charset="0"/>
                            <a:ea typeface="Calibri" panose="020F0502020204030204" pitchFamily="34" charset="0"/>
                            <a:cs typeface="Times New Roman" panose="02020603050405020304" pitchFamily="18" charset="0"/>
                          </a:rPr>
                          <m:t>𝑏</m:t>
                        </m:r>
                      </m:e>
                      <m:sub>
                        <m:r>
                          <a:rPr lang="ru-RU" sz="2200" i="1">
                            <a:effectLst/>
                            <a:latin typeface="Cambria Math" panose="02040503050406030204" pitchFamily="18" charset="0"/>
                            <a:ea typeface="Calibri" panose="020F0502020204030204" pitchFamily="34" charset="0"/>
                            <a:cs typeface="Times New Roman" panose="02020603050405020304" pitchFamily="18" charset="0"/>
                          </a:rPr>
                          <m:t>𝑘</m:t>
                        </m:r>
                        <m:r>
                          <a:rPr lang="ru-RU" sz="2200" i="1">
                            <a:effectLst/>
                            <a:latin typeface="Cambria Math" panose="02040503050406030204" pitchFamily="18" charset="0"/>
                            <a:ea typeface="Calibri" panose="020F0502020204030204" pitchFamily="34" charset="0"/>
                            <a:cs typeface="Times New Roman" panose="02020603050405020304" pitchFamily="18" charset="0"/>
                          </a:rPr>
                          <m:t>+1</m:t>
                        </m:r>
                      </m:sub>
                    </m:sSub>
                    <m:r>
                      <a:rPr lang="ru-RU" sz="22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ru-RU" sz="2200" i="1">
                            <a:effectLst/>
                            <a:latin typeface="Cambria Math" panose="02040503050406030204" pitchFamily="18" charset="0"/>
                            <a:ea typeface="Calibri" panose="020F0502020204030204" pitchFamily="34" charset="0"/>
                            <a:cs typeface="Times New Roman" panose="02020603050405020304" pitchFamily="18" charset="0"/>
                          </a:rPr>
                        </m:ctrlPr>
                      </m:fPr>
                      <m:num>
                        <m:r>
                          <a:rPr lang="ru-RU" sz="2200" i="1">
                            <a:effectLst/>
                            <a:latin typeface="Cambria Math" panose="02040503050406030204" pitchFamily="18" charset="0"/>
                            <a:ea typeface="Calibri" panose="020F0502020204030204" pitchFamily="34" charset="0"/>
                            <a:cs typeface="Times New Roman" panose="02020603050405020304" pitchFamily="18" charset="0"/>
                          </a:rPr>
                          <m:t>𝐴</m:t>
                        </m:r>
                        <m:sSub>
                          <m:sSubPr>
                            <m:ctrlPr>
                              <a:rPr lang="ru-RU" sz="2200" i="1">
                                <a:effectLst/>
                                <a:latin typeface="Cambria Math" panose="02040503050406030204" pitchFamily="18" charset="0"/>
                                <a:ea typeface="Calibri" panose="020F0502020204030204" pitchFamily="34" charset="0"/>
                                <a:cs typeface="Times New Roman" panose="02020603050405020304" pitchFamily="18" charset="0"/>
                              </a:rPr>
                            </m:ctrlPr>
                          </m:sSubPr>
                          <m:e>
                            <m:r>
                              <a:rPr lang="ru-RU" sz="2200" i="1">
                                <a:effectLst/>
                                <a:latin typeface="Cambria Math" panose="02040503050406030204" pitchFamily="18" charset="0"/>
                                <a:ea typeface="Calibri" panose="020F0502020204030204" pitchFamily="34" charset="0"/>
                                <a:cs typeface="Times New Roman" panose="02020603050405020304" pitchFamily="18" charset="0"/>
                              </a:rPr>
                              <m:t>𝑏</m:t>
                            </m:r>
                          </m:e>
                          <m:sub>
                            <m:r>
                              <a:rPr lang="ru-RU" sz="2200" i="1">
                                <a:effectLst/>
                                <a:latin typeface="Cambria Math" panose="02040503050406030204" pitchFamily="18" charset="0"/>
                                <a:ea typeface="Calibri" panose="020F0502020204030204" pitchFamily="34" charset="0"/>
                                <a:cs typeface="Times New Roman" panose="02020603050405020304" pitchFamily="18" charset="0"/>
                              </a:rPr>
                              <m:t>𝑘</m:t>
                            </m:r>
                          </m:sub>
                        </m:sSub>
                      </m:num>
                      <m:den>
                        <m:d>
                          <m:dPr>
                            <m:begChr m:val="‖"/>
                            <m:endChr m:val="‖"/>
                            <m:ctrlPr>
                              <a:rPr lang="ru-RU" sz="2200" i="1">
                                <a:effectLst/>
                                <a:latin typeface="Cambria Math" panose="02040503050406030204" pitchFamily="18" charset="0"/>
                                <a:ea typeface="Calibri" panose="020F0502020204030204" pitchFamily="34" charset="0"/>
                                <a:cs typeface="Times New Roman" panose="02020603050405020304" pitchFamily="18" charset="0"/>
                              </a:rPr>
                            </m:ctrlPr>
                          </m:dPr>
                          <m:e>
                            <m:r>
                              <a:rPr lang="ru-RU" sz="2200" i="1">
                                <a:effectLst/>
                                <a:latin typeface="Cambria Math" panose="02040503050406030204" pitchFamily="18" charset="0"/>
                                <a:ea typeface="Calibri" panose="020F0502020204030204" pitchFamily="34" charset="0"/>
                                <a:cs typeface="Times New Roman" panose="02020603050405020304" pitchFamily="18" charset="0"/>
                              </a:rPr>
                              <m:t>𝐴</m:t>
                            </m:r>
                            <m:sSub>
                              <m:sSubPr>
                                <m:ctrlPr>
                                  <a:rPr lang="ru-RU" sz="2200" i="1">
                                    <a:effectLst/>
                                    <a:latin typeface="Cambria Math" panose="02040503050406030204" pitchFamily="18" charset="0"/>
                                    <a:ea typeface="Calibri" panose="020F0502020204030204" pitchFamily="34" charset="0"/>
                                    <a:cs typeface="Times New Roman" panose="02020603050405020304" pitchFamily="18" charset="0"/>
                                  </a:rPr>
                                </m:ctrlPr>
                              </m:sSubPr>
                              <m:e>
                                <m:r>
                                  <a:rPr lang="ru-RU" sz="2200" i="1">
                                    <a:effectLst/>
                                    <a:latin typeface="Cambria Math" panose="02040503050406030204" pitchFamily="18" charset="0"/>
                                    <a:ea typeface="Calibri" panose="020F0502020204030204" pitchFamily="34" charset="0"/>
                                    <a:cs typeface="Times New Roman" panose="02020603050405020304" pitchFamily="18" charset="0"/>
                                  </a:rPr>
                                  <m:t>𝑏</m:t>
                                </m:r>
                              </m:e>
                              <m:sub>
                                <m:r>
                                  <a:rPr lang="ru-RU" sz="2200" i="1">
                                    <a:effectLst/>
                                    <a:latin typeface="Cambria Math" panose="02040503050406030204" pitchFamily="18" charset="0"/>
                                    <a:ea typeface="Calibri" panose="020F0502020204030204" pitchFamily="34" charset="0"/>
                                    <a:cs typeface="Times New Roman" panose="02020603050405020304" pitchFamily="18" charset="0"/>
                                  </a:rPr>
                                  <m:t>𝑘</m:t>
                                </m:r>
                              </m:sub>
                            </m:sSub>
                          </m:e>
                        </m:d>
                      </m:den>
                    </m:f>
                  </m:oMath>
                </a14:m>
                <a:endParaRPr lang="ru-RU" sz="22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mj-lt"/>
                  <a:buAutoNum type="arabicPeriod"/>
                </a:pPr>
                <a:r>
                  <a:rPr lang="ru-RU" sz="2200" dirty="0">
                    <a:effectLst/>
                    <a:latin typeface="Times New Roman" panose="02020603050405020304" pitchFamily="18" charset="0"/>
                    <a:ea typeface="Times New Roman" panose="02020603050405020304" pitchFamily="18" charset="0"/>
                    <a:cs typeface="Times New Roman" panose="02020603050405020304" pitchFamily="18" charset="0"/>
                  </a:rPr>
                  <a:t>Вычисляется собственное значение </a:t>
                </a:r>
                <a14:m>
                  <m:oMath xmlns:m="http://schemas.openxmlformats.org/officeDocument/2006/math">
                    <m:sSub>
                      <m:sSubPr>
                        <m:ctrlPr>
                          <a:rPr lang="ru-RU" sz="22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ru-RU" sz="2200" i="1">
                            <a:effectLst/>
                            <a:latin typeface="Cambria Math" panose="02040503050406030204" pitchFamily="18" charset="0"/>
                            <a:ea typeface="Times New Roman" panose="02020603050405020304" pitchFamily="18" charset="0"/>
                            <a:cs typeface="Times New Roman" panose="02020603050405020304" pitchFamily="18" charset="0"/>
                          </a:rPr>
                          <m:t>𝜇</m:t>
                        </m:r>
                      </m:e>
                      <m:sub>
                        <m:r>
                          <a:rPr lang="en-US" sz="2200" i="1">
                            <a:effectLst/>
                            <a:latin typeface="Cambria Math" panose="02040503050406030204" pitchFamily="18" charset="0"/>
                            <a:ea typeface="Times New Roman" panose="02020603050405020304" pitchFamily="18" charset="0"/>
                            <a:cs typeface="Times New Roman" panose="02020603050405020304" pitchFamily="18" charset="0"/>
                          </a:rPr>
                          <m:t>𝑘</m:t>
                        </m:r>
                      </m:sub>
                    </m:sSub>
                    <m:r>
                      <a:rPr lang="ru-RU" sz="22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ru-RU" sz="2200" i="1">
                            <a:effectLst/>
                            <a:latin typeface="Cambria Math" panose="02040503050406030204" pitchFamily="18" charset="0"/>
                            <a:ea typeface="Times New Roman" panose="02020603050405020304" pitchFamily="18" charset="0"/>
                            <a:cs typeface="Times New Roman" panose="02020603050405020304" pitchFamily="18" charset="0"/>
                          </a:rPr>
                        </m:ctrlPr>
                      </m:fPr>
                      <m:num>
                        <m:d>
                          <m:dPr>
                            <m:begChr m:val="〈"/>
                            <m:endChr m:val="〉"/>
                            <m:ctrlPr>
                              <a:rPr lang="ru-RU" sz="2200" i="1">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ru-RU" sz="22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ru-RU" sz="2200" i="1">
                                    <a:effectLst/>
                                    <a:latin typeface="Cambria Math" panose="02040503050406030204" pitchFamily="18" charset="0"/>
                                    <a:ea typeface="Times New Roman" panose="02020603050405020304" pitchFamily="18" charset="0"/>
                                    <a:cs typeface="Times New Roman" panose="02020603050405020304" pitchFamily="18" charset="0"/>
                                  </a:rPr>
                                  <m:t>𝑏</m:t>
                                </m:r>
                              </m:e>
                              <m:sub>
                                <m:r>
                                  <a:rPr lang="ru-RU" sz="2200" i="1">
                                    <a:effectLst/>
                                    <a:latin typeface="Cambria Math" panose="02040503050406030204" pitchFamily="18" charset="0"/>
                                    <a:ea typeface="Times New Roman" panose="02020603050405020304" pitchFamily="18" charset="0"/>
                                    <a:cs typeface="Times New Roman" panose="02020603050405020304" pitchFamily="18" charset="0"/>
                                  </a:rPr>
                                  <m:t>𝑘</m:t>
                                </m:r>
                              </m:sub>
                            </m:sSub>
                            <m:r>
                              <a:rPr lang="ru-RU" sz="2200" i="1">
                                <a:effectLst/>
                                <a:latin typeface="Cambria Math" panose="02040503050406030204" pitchFamily="18" charset="0"/>
                                <a:ea typeface="Times New Roman" panose="02020603050405020304" pitchFamily="18" charset="0"/>
                                <a:cs typeface="Times New Roman" panose="02020603050405020304" pitchFamily="18" charset="0"/>
                              </a:rPr>
                              <m:t>,</m:t>
                            </m:r>
                            <m:r>
                              <a:rPr lang="ru-RU" sz="2200" i="1">
                                <a:effectLst/>
                                <a:latin typeface="Cambria Math" panose="02040503050406030204" pitchFamily="18" charset="0"/>
                                <a:ea typeface="Calibri" panose="020F0502020204030204" pitchFamily="34" charset="0"/>
                                <a:cs typeface="Times New Roman" panose="02020603050405020304" pitchFamily="18" charset="0"/>
                              </a:rPr>
                              <m:t>𝐴</m:t>
                            </m:r>
                            <m:sSub>
                              <m:sSubPr>
                                <m:ctrlPr>
                                  <a:rPr lang="ru-RU" sz="2200" i="1">
                                    <a:effectLst/>
                                    <a:latin typeface="Cambria Math" panose="02040503050406030204" pitchFamily="18" charset="0"/>
                                    <a:ea typeface="Calibri" panose="020F0502020204030204" pitchFamily="34" charset="0"/>
                                    <a:cs typeface="Times New Roman" panose="02020603050405020304" pitchFamily="18" charset="0"/>
                                  </a:rPr>
                                </m:ctrlPr>
                              </m:sSubPr>
                              <m:e>
                                <m:r>
                                  <a:rPr lang="ru-RU" sz="2200" i="1">
                                    <a:effectLst/>
                                    <a:latin typeface="Cambria Math" panose="02040503050406030204" pitchFamily="18" charset="0"/>
                                    <a:ea typeface="Calibri" panose="020F0502020204030204" pitchFamily="34" charset="0"/>
                                    <a:cs typeface="Times New Roman" panose="02020603050405020304" pitchFamily="18" charset="0"/>
                                  </a:rPr>
                                  <m:t>𝑏</m:t>
                                </m:r>
                              </m:e>
                              <m:sub>
                                <m:r>
                                  <a:rPr lang="ru-RU" sz="2200" i="1">
                                    <a:effectLst/>
                                    <a:latin typeface="Cambria Math" panose="02040503050406030204" pitchFamily="18" charset="0"/>
                                    <a:ea typeface="Calibri" panose="020F0502020204030204" pitchFamily="34" charset="0"/>
                                    <a:cs typeface="Times New Roman" panose="02020603050405020304" pitchFamily="18" charset="0"/>
                                  </a:rPr>
                                  <m:t>𝑘</m:t>
                                </m:r>
                              </m:sub>
                            </m:sSub>
                          </m:e>
                        </m:d>
                      </m:num>
                      <m:den>
                        <m:d>
                          <m:dPr>
                            <m:begChr m:val="〈"/>
                            <m:endChr m:val="〉"/>
                            <m:ctrlPr>
                              <a:rPr lang="ru-RU" sz="2200" i="1">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ru-RU" sz="22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ru-RU" sz="2200" i="1">
                                    <a:effectLst/>
                                    <a:latin typeface="Cambria Math" panose="02040503050406030204" pitchFamily="18" charset="0"/>
                                    <a:ea typeface="Times New Roman" panose="02020603050405020304" pitchFamily="18" charset="0"/>
                                    <a:cs typeface="Times New Roman" panose="02020603050405020304" pitchFamily="18" charset="0"/>
                                  </a:rPr>
                                  <m:t>𝑏</m:t>
                                </m:r>
                              </m:e>
                              <m:sub>
                                <m:r>
                                  <a:rPr lang="ru-RU" sz="2200" i="1">
                                    <a:effectLst/>
                                    <a:latin typeface="Cambria Math" panose="02040503050406030204" pitchFamily="18" charset="0"/>
                                    <a:ea typeface="Times New Roman" panose="02020603050405020304" pitchFamily="18" charset="0"/>
                                    <a:cs typeface="Times New Roman" panose="02020603050405020304" pitchFamily="18" charset="0"/>
                                  </a:rPr>
                                  <m:t>𝑘</m:t>
                                </m:r>
                              </m:sub>
                            </m:sSub>
                            <m:r>
                              <a:rPr lang="ru-RU" sz="2200" i="1">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ru-RU" sz="22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ru-RU" sz="2200" i="1">
                                    <a:effectLst/>
                                    <a:latin typeface="Cambria Math" panose="02040503050406030204" pitchFamily="18" charset="0"/>
                                    <a:ea typeface="Times New Roman" panose="02020603050405020304" pitchFamily="18" charset="0"/>
                                    <a:cs typeface="Times New Roman" panose="02020603050405020304" pitchFamily="18" charset="0"/>
                                  </a:rPr>
                                  <m:t>𝑏</m:t>
                                </m:r>
                              </m:e>
                              <m:sub>
                                <m:r>
                                  <a:rPr lang="ru-RU" sz="2200" i="1">
                                    <a:effectLst/>
                                    <a:latin typeface="Cambria Math" panose="02040503050406030204" pitchFamily="18" charset="0"/>
                                    <a:ea typeface="Times New Roman" panose="02020603050405020304" pitchFamily="18" charset="0"/>
                                    <a:cs typeface="Times New Roman" panose="02020603050405020304" pitchFamily="18" charset="0"/>
                                  </a:rPr>
                                  <m:t>𝑘</m:t>
                                </m:r>
                              </m:sub>
                            </m:sSub>
                          </m:e>
                        </m:d>
                      </m:den>
                    </m:f>
                  </m:oMath>
                </a14:m>
                <a:endParaRPr lang="ru-RU" sz="22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mj-lt"/>
                  <a:buAutoNum type="arabicPeriod"/>
                </a:pPr>
                <a:r>
                  <a:rPr lang="ru-RU" sz="2200" dirty="0">
                    <a:effectLst/>
                    <a:latin typeface="Times New Roman" panose="02020603050405020304" pitchFamily="18" charset="0"/>
                    <a:ea typeface="Times New Roman" panose="02020603050405020304" pitchFamily="18" charset="0"/>
                    <a:cs typeface="Times New Roman" panose="02020603050405020304" pitchFamily="18" charset="0"/>
                  </a:rPr>
                  <a:t>Если </a:t>
                </a:r>
                <a14:m>
                  <m:oMath xmlns:m="http://schemas.openxmlformats.org/officeDocument/2006/math">
                    <m:d>
                      <m:dPr>
                        <m:begChr m:val="‖"/>
                        <m:endChr m:val="‖"/>
                        <m:ctrlPr>
                          <a:rPr lang="ru-RU" sz="2200" i="1">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ru-RU" sz="2200" i="1">
                                <a:effectLst/>
                                <a:latin typeface="Cambria Math" panose="02040503050406030204" pitchFamily="18" charset="0"/>
                                <a:ea typeface="Calibri" panose="020F0502020204030204" pitchFamily="34" charset="0"/>
                                <a:cs typeface="Times New Roman" panose="02020603050405020304" pitchFamily="18" charset="0"/>
                              </a:rPr>
                            </m:ctrlPr>
                          </m:sSubPr>
                          <m:e>
                            <m:r>
                              <a:rPr lang="ru-RU" sz="2200" i="1">
                                <a:effectLst/>
                                <a:latin typeface="Cambria Math" panose="02040503050406030204" pitchFamily="18" charset="0"/>
                                <a:ea typeface="Times New Roman" panose="02020603050405020304" pitchFamily="18" charset="0"/>
                                <a:cs typeface="Times New Roman" panose="02020603050405020304" pitchFamily="18" charset="0"/>
                              </a:rPr>
                              <m:t>𝜇</m:t>
                            </m:r>
                          </m:e>
                          <m:sub>
                            <m:r>
                              <a:rPr lang="en-US" sz="2200" i="1">
                                <a:effectLst/>
                                <a:latin typeface="Cambria Math" panose="02040503050406030204" pitchFamily="18" charset="0"/>
                                <a:ea typeface="Calibri" panose="020F0502020204030204" pitchFamily="34" charset="0"/>
                                <a:cs typeface="Times New Roman" panose="02020603050405020304" pitchFamily="18" charset="0"/>
                              </a:rPr>
                              <m:t>𝑘</m:t>
                            </m:r>
                            <m:r>
                              <a:rPr lang="ru-RU" sz="2200" i="1">
                                <a:effectLst/>
                                <a:latin typeface="Cambria Math" panose="02040503050406030204" pitchFamily="18" charset="0"/>
                                <a:ea typeface="Calibri" panose="020F0502020204030204" pitchFamily="34" charset="0"/>
                                <a:cs typeface="Times New Roman" panose="02020603050405020304" pitchFamily="18" charset="0"/>
                              </a:rPr>
                              <m:t>+1</m:t>
                            </m:r>
                          </m:sub>
                        </m:sSub>
                        <m:r>
                          <a:rPr lang="ru-RU" sz="22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ru-RU" sz="2200" i="1">
                                <a:effectLst/>
                                <a:latin typeface="Cambria Math" panose="02040503050406030204" pitchFamily="18" charset="0"/>
                                <a:ea typeface="Calibri" panose="020F0502020204030204" pitchFamily="34" charset="0"/>
                                <a:cs typeface="Times New Roman" panose="02020603050405020304" pitchFamily="18" charset="0"/>
                              </a:rPr>
                            </m:ctrlPr>
                          </m:sSubPr>
                          <m:e>
                            <m:r>
                              <a:rPr lang="ru-RU" sz="2200" i="1">
                                <a:effectLst/>
                                <a:latin typeface="Cambria Math" panose="02040503050406030204" pitchFamily="18" charset="0"/>
                                <a:ea typeface="Times New Roman" panose="02020603050405020304" pitchFamily="18" charset="0"/>
                                <a:cs typeface="Times New Roman" panose="02020603050405020304" pitchFamily="18" charset="0"/>
                              </a:rPr>
                              <m:t>𝜇</m:t>
                            </m:r>
                          </m:e>
                          <m:sub>
                            <m:r>
                              <a:rPr lang="en-US" sz="2200" i="1">
                                <a:effectLst/>
                                <a:latin typeface="Cambria Math" panose="02040503050406030204" pitchFamily="18" charset="0"/>
                                <a:ea typeface="Calibri" panose="020F0502020204030204" pitchFamily="34" charset="0"/>
                                <a:cs typeface="Times New Roman" panose="02020603050405020304" pitchFamily="18" charset="0"/>
                              </a:rPr>
                              <m:t>𝑘</m:t>
                            </m:r>
                          </m:sub>
                        </m:sSub>
                      </m:e>
                    </m:d>
                    <m:r>
                      <a:rPr lang="ru-RU" sz="2200" i="1">
                        <a:effectLst/>
                        <a:latin typeface="Cambria Math" panose="02040503050406030204" pitchFamily="18" charset="0"/>
                        <a:ea typeface="Times New Roman" panose="02020603050405020304" pitchFamily="18" charset="0"/>
                        <a:cs typeface="Times New Roman" panose="02020603050405020304" pitchFamily="18" charset="0"/>
                      </a:rPr>
                      <m:t> &lt;</m:t>
                    </m:r>
                    <m:r>
                      <a:rPr lang="ru-RU" sz="2200" i="1">
                        <a:effectLst/>
                        <a:latin typeface="Cambria Math" panose="02040503050406030204" pitchFamily="18" charset="0"/>
                        <a:ea typeface="Times New Roman" panose="02020603050405020304" pitchFamily="18" charset="0"/>
                        <a:cs typeface="Times New Roman" panose="02020603050405020304" pitchFamily="18" charset="0"/>
                      </a:rPr>
                      <m:t>𝜀</m:t>
                    </m:r>
                  </m:oMath>
                </a14:m>
                <a:r>
                  <a:rPr lang="ru-RU" sz="2200" dirty="0">
                    <a:effectLst/>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r>
                      <a:rPr lang="ru-RU" sz="2200" i="1">
                        <a:effectLst/>
                        <a:latin typeface="Cambria Math" panose="02040503050406030204" pitchFamily="18" charset="0"/>
                        <a:ea typeface="Calibri" panose="020F0502020204030204" pitchFamily="34" charset="0"/>
                        <a:cs typeface="Times New Roman" panose="02020603050405020304" pitchFamily="18" charset="0"/>
                      </a:rPr>
                      <m:t>→</m:t>
                    </m:r>
                    <m:r>
                      <a:rPr lang="ru-RU" sz="2200" i="1">
                        <a:effectLst/>
                        <a:latin typeface="Cambria Math" panose="02040503050406030204" pitchFamily="18" charset="0"/>
                        <a:ea typeface="Times New Roman" panose="02020603050405020304" pitchFamily="18" charset="0"/>
                        <a:cs typeface="Times New Roman" panose="02020603050405020304" pitchFamily="18" charset="0"/>
                      </a:rPr>
                      <m:t>𝜇</m:t>
                    </m:r>
                    <m:r>
                      <a:rPr lang="ru-RU" sz="22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ru-RU" sz="2200" i="1">
                            <a:effectLst/>
                            <a:latin typeface="Cambria Math" panose="02040503050406030204" pitchFamily="18" charset="0"/>
                            <a:ea typeface="Calibri" panose="020F0502020204030204" pitchFamily="34" charset="0"/>
                            <a:cs typeface="Times New Roman" panose="02020603050405020304" pitchFamily="18" charset="0"/>
                          </a:rPr>
                        </m:ctrlPr>
                      </m:sSubPr>
                      <m:e>
                        <m:r>
                          <a:rPr lang="ru-RU" sz="2200" i="1">
                            <a:effectLst/>
                            <a:latin typeface="Cambria Math" panose="02040503050406030204" pitchFamily="18" charset="0"/>
                            <a:ea typeface="Times New Roman" panose="02020603050405020304" pitchFamily="18" charset="0"/>
                            <a:cs typeface="Times New Roman" panose="02020603050405020304" pitchFamily="18" charset="0"/>
                          </a:rPr>
                          <m:t>𝜇</m:t>
                        </m:r>
                      </m:e>
                      <m:sub>
                        <m:r>
                          <a:rPr lang="en-US" sz="2200" i="1">
                            <a:effectLst/>
                            <a:latin typeface="Cambria Math" panose="02040503050406030204" pitchFamily="18" charset="0"/>
                            <a:ea typeface="Calibri" panose="020F0502020204030204" pitchFamily="34" charset="0"/>
                            <a:cs typeface="Times New Roman" panose="02020603050405020304" pitchFamily="18" charset="0"/>
                          </a:rPr>
                          <m:t>𝑘</m:t>
                        </m:r>
                        <m:r>
                          <a:rPr lang="ru-RU" sz="2200" i="1">
                            <a:effectLst/>
                            <a:latin typeface="Cambria Math" panose="02040503050406030204" pitchFamily="18" charset="0"/>
                            <a:ea typeface="Calibri" panose="020F0502020204030204" pitchFamily="34" charset="0"/>
                            <a:cs typeface="Times New Roman" panose="02020603050405020304" pitchFamily="18" charset="0"/>
                          </a:rPr>
                          <m:t>+1</m:t>
                        </m:r>
                      </m:sub>
                    </m:sSub>
                  </m:oMath>
                </a14:m>
                <a:r>
                  <a:rPr lang="ru-RU" sz="2200" dirty="0">
                    <a:effectLst/>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r>
                      <a:rPr lang="ru-RU" sz="2200" i="1">
                        <a:effectLst/>
                        <a:latin typeface="Cambria Math" panose="02040503050406030204" pitchFamily="18" charset="0"/>
                        <a:ea typeface="Calibri" panose="020F0502020204030204" pitchFamily="34" charset="0"/>
                        <a:cs typeface="Times New Roman" panose="02020603050405020304" pitchFamily="18" charset="0"/>
                      </a:rPr>
                      <m:t>𝑏</m:t>
                    </m:r>
                    <m:r>
                      <a:rPr lang="ru-RU" sz="22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ru-RU" sz="2200" i="1">
                            <a:effectLst/>
                            <a:latin typeface="Cambria Math" panose="02040503050406030204" pitchFamily="18" charset="0"/>
                            <a:ea typeface="Calibri" panose="020F0502020204030204" pitchFamily="34" charset="0"/>
                            <a:cs typeface="Times New Roman" panose="02020603050405020304" pitchFamily="18" charset="0"/>
                          </a:rPr>
                        </m:ctrlPr>
                      </m:sSubPr>
                      <m:e>
                        <m:r>
                          <a:rPr lang="ru-RU" sz="2200" i="1">
                            <a:effectLst/>
                            <a:latin typeface="Cambria Math" panose="02040503050406030204" pitchFamily="18" charset="0"/>
                            <a:ea typeface="Calibri" panose="020F0502020204030204" pitchFamily="34" charset="0"/>
                            <a:cs typeface="Times New Roman" panose="02020603050405020304" pitchFamily="18" charset="0"/>
                          </a:rPr>
                          <m:t>𝑏</m:t>
                        </m:r>
                      </m:e>
                      <m:sub>
                        <m:r>
                          <a:rPr lang="ru-RU" sz="2200" i="1">
                            <a:effectLst/>
                            <a:latin typeface="Cambria Math" panose="02040503050406030204" pitchFamily="18" charset="0"/>
                            <a:ea typeface="Calibri" panose="020F0502020204030204" pitchFamily="34" charset="0"/>
                            <a:cs typeface="Times New Roman" panose="02020603050405020304" pitchFamily="18" charset="0"/>
                          </a:rPr>
                          <m:t>𝑘</m:t>
                        </m:r>
                        <m:r>
                          <a:rPr lang="ru-RU" sz="2200" i="1">
                            <a:effectLst/>
                            <a:latin typeface="Cambria Math" panose="02040503050406030204" pitchFamily="18" charset="0"/>
                            <a:ea typeface="Calibri" panose="020F0502020204030204" pitchFamily="34" charset="0"/>
                            <a:cs typeface="Times New Roman" panose="02020603050405020304" pitchFamily="18" charset="0"/>
                          </a:rPr>
                          <m:t>+1</m:t>
                        </m:r>
                      </m:sub>
                    </m:sSub>
                  </m:oMath>
                </a14:m>
                <a:r>
                  <a:rPr lang="ru-RU" sz="2200" dirty="0">
                    <a:effectLst/>
                    <a:latin typeface="Times New Roman" panose="02020603050405020304" pitchFamily="18" charset="0"/>
                    <a:ea typeface="Times New Roman" panose="02020603050405020304" pitchFamily="18" charset="0"/>
                    <a:cs typeface="Times New Roman" panose="02020603050405020304" pitchFamily="18" charset="0"/>
                  </a:rPr>
                  <a:t>, иначе возвращаемся на действие (2).</a:t>
                </a:r>
                <a:endParaRPr lang="ru-RU" sz="2200" dirty="0">
                  <a:effectLst/>
                  <a:latin typeface="Times New Roman" panose="02020603050405020304" pitchFamily="18" charset="0"/>
                  <a:ea typeface="Calibri" panose="020F0502020204030204" pitchFamily="34" charset="0"/>
                  <a:cs typeface="Times New Roman" panose="02020603050405020304" pitchFamily="18" charset="0"/>
                </a:endParaRPr>
              </a:p>
            </p:txBody>
          </p:sp>
        </mc:Choice>
        <mc:Fallback>
          <p:sp>
            <p:nvSpPr>
              <p:cNvPr id="3" name="TextBox 2">
                <a:extLst>
                  <a:ext uri="{FF2B5EF4-FFF2-40B4-BE49-F238E27FC236}">
                    <a16:creationId xmlns:a16="http://schemas.microsoft.com/office/drawing/2014/main" id="{2AB0F33C-3B7D-4CE4-B89C-1C38F40F6815}"/>
                  </a:ext>
                </a:extLst>
              </p:cNvPr>
              <p:cNvSpPr txBox="1">
                <a:spLocks noRot="1" noChangeAspect="1" noMove="1" noResize="1" noEditPoints="1" noAdjustHandles="1" noChangeArrowheads="1" noChangeShapeType="1" noTextEdit="1"/>
              </p:cNvSpPr>
              <p:nvPr/>
            </p:nvSpPr>
            <p:spPr>
              <a:xfrm>
                <a:off x="876300" y="1447801"/>
                <a:ext cx="9705975" cy="3477427"/>
              </a:xfrm>
              <a:prstGeom prst="rect">
                <a:avLst/>
              </a:prstGeom>
              <a:blipFill>
                <a:blip r:embed="rId2"/>
                <a:stretch>
                  <a:fillRect l="-691" r="-817" b="-2632"/>
                </a:stretch>
              </a:blipFill>
            </p:spPr>
            <p:txBody>
              <a:bodyPr/>
              <a:lstStyle/>
              <a:p>
                <a:r>
                  <a:rPr lang="ru-RU">
                    <a:noFill/>
                  </a:rPr>
                  <a:t> </a:t>
                </a:r>
              </a:p>
            </p:txBody>
          </p:sp>
        </mc:Fallback>
      </mc:AlternateContent>
    </p:spTree>
    <p:extLst>
      <p:ext uri="{BB962C8B-B14F-4D97-AF65-F5344CB8AC3E}">
        <p14:creationId xmlns:p14="http://schemas.microsoft.com/office/powerpoint/2010/main" val="21142313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2B0B32E-90AE-4322-B74F-86418474CEAD}"/>
              </a:ext>
            </a:extLst>
          </p:cNvPr>
          <p:cNvSpPr txBox="1">
            <a:spLocks/>
          </p:cNvSpPr>
          <p:nvPr/>
        </p:nvSpPr>
        <p:spPr>
          <a:xfrm>
            <a:off x="285750" y="307976"/>
            <a:ext cx="1762126" cy="4445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ru-RU" sz="3200" b="1" dirty="0">
                <a:latin typeface="Times New Roman" panose="02020603050405020304" pitchFamily="18" charset="0"/>
                <a:cs typeface="Times New Roman" panose="02020603050405020304" pitchFamily="18" charset="0"/>
              </a:rPr>
              <a:t>Пример</a:t>
            </a:r>
          </a:p>
        </p:txBody>
      </p:sp>
      <p:sp>
        <p:nvSpPr>
          <p:cNvPr id="11" name="TextBox 10">
            <a:extLst>
              <a:ext uri="{FF2B5EF4-FFF2-40B4-BE49-F238E27FC236}">
                <a16:creationId xmlns:a16="http://schemas.microsoft.com/office/drawing/2014/main" id="{153A3464-F5AF-40D5-8C60-E109EFB97CDA}"/>
              </a:ext>
            </a:extLst>
          </p:cNvPr>
          <p:cNvSpPr txBox="1"/>
          <p:nvPr/>
        </p:nvSpPr>
        <p:spPr>
          <a:xfrm>
            <a:off x="842961" y="1381505"/>
            <a:ext cx="9744076" cy="430887"/>
          </a:xfrm>
          <a:prstGeom prst="rect">
            <a:avLst/>
          </a:prstGeom>
          <a:noFill/>
        </p:spPr>
        <p:txBody>
          <a:bodyPr wrap="square">
            <a:spAutoFit/>
          </a:bodyPr>
          <a:lstStyle/>
          <a:p>
            <a:pPr algn="just"/>
            <a:r>
              <a:rPr lang="ru-RU" sz="2200" dirty="0">
                <a:effectLst/>
                <a:latin typeface="Times New Roman" panose="02020603050405020304" pitchFamily="18" charset="0"/>
                <a:ea typeface="Calibri" panose="020F0502020204030204" pitchFamily="34" charset="0"/>
              </a:rPr>
              <a:t>Используя данный алгоритм на матрице (7), получаем следующие результат:</a:t>
            </a:r>
            <a:endParaRPr lang="ru-RU" sz="2200" dirty="0"/>
          </a:p>
        </p:txBody>
      </p:sp>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8D1376DF-7BCF-41ED-BB2B-6EC69A7B9D56}"/>
                  </a:ext>
                </a:extLst>
              </p:cNvPr>
              <p:cNvSpPr txBox="1"/>
              <p:nvPr/>
            </p:nvSpPr>
            <p:spPr>
              <a:xfrm>
                <a:off x="1604962" y="1947632"/>
                <a:ext cx="8982075" cy="98757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ru-RU" sz="2200" i="1" smtClean="0">
                          <a:latin typeface="Cambria Math" panose="02040503050406030204" pitchFamily="18" charset="0"/>
                        </a:rPr>
                        <m:t>𝜆</m:t>
                      </m:r>
                      <m:r>
                        <a:rPr lang="ru-RU" sz="2200" i="0">
                          <a:latin typeface="Cambria Math" panose="02040503050406030204" pitchFamily="18" charset="0"/>
                        </a:rPr>
                        <m:t>=71.99999998095 </m:t>
                      </m:r>
                      <m:r>
                        <a:rPr lang="ru-RU" sz="2200" i="1">
                          <a:latin typeface="Cambria Math" panose="02040503050406030204" pitchFamily="18" charset="0"/>
                        </a:rPr>
                        <m:t>𝑈</m:t>
                      </m:r>
                      <m:r>
                        <a:rPr lang="ru-RU" sz="2200" i="0">
                          <a:latin typeface="Cambria Math" panose="02040503050406030204" pitchFamily="18" charset="0"/>
                        </a:rPr>
                        <m:t>=</m:t>
                      </m:r>
                      <m:d>
                        <m:dPr>
                          <m:ctrlPr>
                            <a:rPr lang="ru-RU" sz="2200" i="1">
                              <a:solidFill>
                                <a:srgbClr val="836967"/>
                              </a:solidFill>
                              <a:latin typeface="Cambria Math" panose="02040503050406030204" pitchFamily="18" charset="0"/>
                            </a:rPr>
                          </m:ctrlPr>
                        </m:dPr>
                        <m:e>
                          <m:m>
                            <m:mPr>
                              <m:plcHide m:val="on"/>
                              <m:mcs>
                                <m:mc>
                                  <m:mcPr>
                                    <m:count m:val="1"/>
                                    <m:mcJc m:val="center"/>
                                  </m:mcPr>
                                </m:mc>
                              </m:mcs>
                              <m:ctrlPr>
                                <a:rPr lang="ru-RU" sz="2200" i="1">
                                  <a:solidFill>
                                    <a:srgbClr val="836967"/>
                                  </a:solidFill>
                                  <a:latin typeface="Cambria Math" panose="02040503050406030204" pitchFamily="18" charset="0"/>
                                </a:rPr>
                              </m:ctrlPr>
                            </m:mPr>
                            <m:mr>
                              <m:e>
                                <m:r>
                                  <a:rPr lang="ru-RU" sz="2200" i="0">
                                    <a:latin typeface="Cambria Math" panose="02040503050406030204" pitchFamily="18" charset="0"/>
                                  </a:rPr>
                                  <m:t>0.666</m:t>
                                </m:r>
                              </m:e>
                            </m:mr>
                            <m:mr>
                              <m:e>
                                <m:r>
                                  <a:rPr lang="ru-RU" sz="2200" i="0">
                                    <a:latin typeface="Cambria Math" panose="02040503050406030204" pitchFamily="18" charset="0"/>
                                  </a:rPr>
                                  <m:t>0.666</m:t>
                                </m:r>
                              </m:e>
                            </m:mr>
                            <m:mr>
                              <m:e>
                                <m:r>
                                  <a:rPr lang="ru-RU" sz="2200" i="0">
                                    <a:latin typeface="Cambria Math" panose="02040503050406030204" pitchFamily="18" charset="0"/>
                                  </a:rPr>
                                  <m:t>−0.333</m:t>
                                </m:r>
                              </m:e>
                            </m:mr>
                          </m:m>
                        </m:e>
                      </m:d>
                      <m:r>
                        <a:rPr lang="ru-RU" sz="2200" i="0">
                          <a:latin typeface="Cambria Math" panose="02040503050406030204" pitchFamily="18" charset="0"/>
                        </a:rPr>
                        <m:t> </m:t>
                      </m:r>
                      <m:r>
                        <a:rPr lang="ru-RU" sz="2200" i="1">
                          <a:latin typeface="Cambria Math" panose="02040503050406030204" pitchFamily="18" charset="0"/>
                        </a:rPr>
                        <m:t>𝑉</m:t>
                      </m:r>
                      <m:r>
                        <a:rPr lang="ru-RU" sz="2200" i="0">
                          <a:latin typeface="Cambria Math" panose="02040503050406030204" pitchFamily="18" charset="0"/>
                        </a:rPr>
                        <m:t>=</m:t>
                      </m:r>
                      <m:d>
                        <m:dPr>
                          <m:ctrlPr>
                            <a:rPr lang="ru-RU" sz="2200" i="1">
                              <a:solidFill>
                                <a:srgbClr val="836967"/>
                              </a:solidFill>
                              <a:latin typeface="Cambria Math" panose="02040503050406030204" pitchFamily="18" charset="0"/>
                            </a:rPr>
                          </m:ctrlPr>
                        </m:dPr>
                        <m:e>
                          <m:m>
                            <m:mPr>
                              <m:plcHide m:val="on"/>
                              <m:mcs>
                                <m:mc>
                                  <m:mcPr>
                                    <m:count m:val="1"/>
                                    <m:mcJc m:val="center"/>
                                  </m:mcPr>
                                </m:mc>
                              </m:mcs>
                              <m:ctrlPr>
                                <a:rPr lang="ru-RU" sz="2200" i="1">
                                  <a:solidFill>
                                    <a:srgbClr val="836967"/>
                                  </a:solidFill>
                                  <a:latin typeface="Cambria Math" panose="02040503050406030204" pitchFamily="18" charset="0"/>
                                </a:rPr>
                              </m:ctrlPr>
                            </m:mPr>
                            <m:mr>
                              <m:e>
                                <m:r>
                                  <a:rPr lang="ru-RU" sz="2200" i="0">
                                    <a:latin typeface="Cambria Math" panose="02040503050406030204" pitchFamily="18" charset="0"/>
                                  </a:rPr>
                                  <m:t>0.707</m:t>
                                </m:r>
                              </m:e>
                            </m:mr>
                            <m:mr>
                              <m:e>
                                <m:r>
                                  <a:rPr lang="ru-RU" sz="2200" i="0">
                                    <a:latin typeface="Cambria Math" panose="02040503050406030204" pitchFamily="18" charset="0"/>
                                  </a:rPr>
                                  <m:t>0.707</m:t>
                                </m:r>
                              </m:e>
                            </m:mr>
                          </m:m>
                        </m:e>
                      </m:d>
                    </m:oMath>
                  </m:oMathPara>
                </a14:m>
                <a:endParaRPr lang="ru-RU" sz="2200" dirty="0"/>
              </a:p>
            </p:txBody>
          </p:sp>
        </mc:Choice>
        <mc:Fallback>
          <p:sp>
            <p:nvSpPr>
              <p:cNvPr id="13" name="TextBox 12">
                <a:extLst>
                  <a:ext uri="{FF2B5EF4-FFF2-40B4-BE49-F238E27FC236}">
                    <a16:creationId xmlns:a16="http://schemas.microsoft.com/office/drawing/2014/main" id="{8D1376DF-7BCF-41ED-BB2B-6EC69A7B9D56}"/>
                  </a:ext>
                </a:extLst>
              </p:cNvPr>
              <p:cNvSpPr txBox="1">
                <a:spLocks noRot="1" noChangeAspect="1" noMove="1" noResize="1" noEditPoints="1" noAdjustHandles="1" noChangeArrowheads="1" noChangeShapeType="1" noTextEdit="1"/>
              </p:cNvSpPr>
              <p:nvPr/>
            </p:nvSpPr>
            <p:spPr>
              <a:xfrm>
                <a:off x="1604962" y="1947632"/>
                <a:ext cx="8982075" cy="987578"/>
              </a:xfrm>
              <a:prstGeom prst="rect">
                <a:avLst/>
              </a:prstGeom>
              <a:blipFill>
                <a:blip r:embed="rId2"/>
                <a:stretch>
                  <a:fillRect/>
                </a:stretch>
              </a:blipFill>
            </p:spPr>
            <p:txBody>
              <a:bodyPr/>
              <a:lstStyle/>
              <a:p>
                <a:r>
                  <a:rPr lang="ru-RU">
                    <a:noFill/>
                  </a:rPr>
                  <a:t> </a:t>
                </a:r>
              </a:p>
            </p:txBody>
          </p:sp>
        </mc:Fallback>
      </mc:AlternateContent>
      <p:sp>
        <p:nvSpPr>
          <p:cNvPr id="15" name="Блок-схема: узел 14">
            <a:extLst>
              <a:ext uri="{FF2B5EF4-FFF2-40B4-BE49-F238E27FC236}">
                <a16:creationId xmlns:a16="http://schemas.microsoft.com/office/drawing/2014/main" id="{3245099B-04E5-4D4D-8DF1-B93F3C1E44DF}"/>
              </a:ext>
            </a:extLst>
          </p:cNvPr>
          <p:cNvSpPr/>
          <p:nvPr/>
        </p:nvSpPr>
        <p:spPr>
          <a:xfrm>
            <a:off x="11393850" y="6067424"/>
            <a:ext cx="720000" cy="720000"/>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solidFill>
                  <a:schemeClr val="tx1"/>
                </a:solidFill>
                <a:latin typeface="Times New Roman" panose="02020603050405020304" pitchFamily="18" charset="0"/>
                <a:cs typeface="Times New Roman" panose="02020603050405020304" pitchFamily="18" charset="0"/>
              </a:rPr>
              <a:t>15</a:t>
            </a:r>
          </a:p>
        </p:txBody>
      </p:sp>
    </p:spTree>
    <p:extLst>
      <p:ext uri="{BB962C8B-B14F-4D97-AF65-F5344CB8AC3E}">
        <p14:creationId xmlns:p14="http://schemas.microsoft.com/office/powerpoint/2010/main" val="4094760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Заголовок 1">
            <a:extLst>
              <a:ext uri="{FF2B5EF4-FFF2-40B4-BE49-F238E27FC236}">
                <a16:creationId xmlns:a16="http://schemas.microsoft.com/office/drawing/2014/main" id="{27FEBC28-C3A3-434E-9A9B-B4A61AA75570}"/>
              </a:ext>
            </a:extLst>
          </p:cNvPr>
          <p:cNvSpPr txBox="1">
            <a:spLocks/>
          </p:cNvSpPr>
          <p:nvPr/>
        </p:nvSpPr>
        <p:spPr>
          <a:xfrm>
            <a:off x="285749" y="307976"/>
            <a:ext cx="2505075" cy="4445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ru-RU" sz="3200" b="1" dirty="0">
                <a:latin typeface="Times New Roman" panose="02020603050405020304" pitchFamily="18" charset="0"/>
                <a:cs typeface="Times New Roman" panose="02020603050405020304" pitchFamily="18" charset="0"/>
              </a:rPr>
              <a:t>Реализация</a:t>
            </a:r>
          </a:p>
        </p:txBody>
      </p:sp>
      <p:pic>
        <p:nvPicPr>
          <p:cNvPr id="3" name="Рисунок 2">
            <a:extLst>
              <a:ext uri="{FF2B5EF4-FFF2-40B4-BE49-F238E27FC236}">
                <a16:creationId xmlns:a16="http://schemas.microsoft.com/office/drawing/2014/main" id="{2DBDFC32-C183-4084-97B9-02C79C6A6047}"/>
              </a:ext>
            </a:extLst>
          </p:cNvPr>
          <p:cNvPicPr>
            <a:picLocks noChangeAspect="1"/>
          </p:cNvPicPr>
          <p:nvPr/>
        </p:nvPicPr>
        <p:blipFill>
          <a:blip r:embed="rId2"/>
          <a:stretch>
            <a:fillRect/>
          </a:stretch>
        </p:blipFill>
        <p:spPr>
          <a:xfrm>
            <a:off x="1137927" y="2023866"/>
            <a:ext cx="4448796" cy="2810267"/>
          </a:xfrm>
          <a:prstGeom prst="rect">
            <a:avLst/>
          </a:prstGeom>
        </p:spPr>
      </p:pic>
      <p:pic>
        <p:nvPicPr>
          <p:cNvPr id="5" name="Рисунок 4">
            <a:extLst>
              <a:ext uri="{FF2B5EF4-FFF2-40B4-BE49-F238E27FC236}">
                <a16:creationId xmlns:a16="http://schemas.microsoft.com/office/drawing/2014/main" id="{BAD99624-4397-4E74-A41E-0EF6BD1E8734}"/>
              </a:ext>
            </a:extLst>
          </p:cNvPr>
          <p:cNvPicPr>
            <a:picLocks noChangeAspect="1"/>
          </p:cNvPicPr>
          <p:nvPr/>
        </p:nvPicPr>
        <p:blipFill>
          <a:blip r:embed="rId3"/>
          <a:stretch>
            <a:fillRect/>
          </a:stretch>
        </p:blipFill>
        <p:spPr>
          <a:xfrm>
            <a:off x="6519578" y="3119393"/>
            <a:ext cx="4067743" cy="619211"/>
          </a:xfrm>
          <a:prstGeom prst="rect">
            <a:avLst/>
          </a:prstGeom>
        </p:spPr>
      </p:pic>
      <p:sp>
        <p:nvSpPr>
          <p:cNvPr id="15" name="Блок-схема: узел 14">
            <a:extLst>
              <a:ext uri="{FF2B5EF4-FFF2-40B4-BE49-F238E27FC236}">
                <a16:creationId xmlns:a16="http://schemas.microsoft.com/office/drawing/2014/main" id="{1A669203-50E4-42B1-947D-F33F1F710A66}"/>
              </a:ext>
            </a:extLst>
          </p:cNvPr>
          <p:cNvSpPr/>
          <p:nvPr/>
        </p:nvSpPr>
        <p:spPr>
          <a:xfrm>
            <a:off x="11393850" y="6067424"/>
            <a:ext cx="720000" cy="720000"/>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solidFill>
                  <a:schemeClr val="tx1"/>
                </a:solidFill>
                <a:latin typeface="Times New Roman" panose="02020603050405020304" pitchFamily="18" charset="0"/>
                <a:cs typeface="Times New Roman" panose="02020603050405020304" pitchFamily="18" charset="0"/>
              </a:rPr>
              <a:t>16</a:t>
            </a:r>
          </a:p>
        </p:txBody>
      </p:sp>
    </p:spTree>
    <p:extLst>
      <p:ext uri="{BB962C8B-B14F-4D97-AF65-F5344CB8AC3E}">
        <p14:creationId xmlns:p14="http://schemas.microsoft.com/office/powerpoint/2010/main" val="41651999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842D8E8-3198-45AC-9B77-A1F19F3BA9C3}"/>
              </a:ext>
            </a:extLst>
          </p:cNvPr>
          <p:cNvSpPr txBox="1">
            <a:spLocks/>
          </p:cNvSpPr>
          <p:nvPr/>
        </p:nvSpPr>
        <p:spPr>
          <a:xfrm>
            <a:off x="285750" y="307976"/>
            <a:ext cx="5353050" cy="4445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ru-RU" sz="3200" b="1" dirty="0">
                <a:latin typeface="Times New Roman" panose="02020603050405020304" pitchFamily="18" charset="0"/>
                <a:cs typeface="Times New Roman" panose="02020603050405020304" pitchFamily="18" charset="0"/>
              </a:rPr>
              <a:t>Рандомизированный метод</a:t>
            </a:r>
          </a:p>
        </p:txBody>
      </p:sp>
      <p:sp>
        <p:nvSpPr>
          <p:cNvPr id="4" name="TextBox 3">
            <a:extLst>
              <a:ext uri="{FF2B5EF4-FFF2-40B4-BE49-F238E27FC236}">
                <a16:creationId xmlns:a16="http://schemas.microsoft.com/office/drawing/2014/main" id="{C4D31AC0-6584-402D-A1A1-8C0770FCAEB1}"/>
              </a:ext>
            </a:extLst>
          </p:cNvPr>
          <p:cNvSpPr txBox="1"/>
          <p:nvPr/>
        </p:nvSpPr>
        <p:spPr>
          <a:xfrm>
            <a:off x="609600" y="851238"/>
            <a:ext cx="11182350" cy="3307059"/>
          </a:xfrm>
          <a:prstGeom prst="rect">
            <a:avLst/>
          </a:prstGeom>
          <a:noFill/>
        </p:spPr>
        <p:txBody>
          <a:bodyPr wrap="square">
            <a:spAutoFit/>
          </a:bodyPr>
          <a:lstStyle/>
          <a:p>
            <a:pPr indent="450215" algn="just">
              <a:lnSpc>
                <a:spcPct val="120000"/>
              </a:lnSpc>
              <a:spcAft>
                <a:spcPts val="800"/>
              </a:spcAft>
            </a:pPr>
            <a:r>
              <a:rPr lang="ru-RU" sz="2200" dirty="0">
                <a:effectLst/>
                <a:latin typeface="Times New Roman" panose="02020603050405020304" pitchFamily="18" charset="0"/>
                <a:ea typeface="Calibri" panose="020F0502020204030204" pitchFamily="34" charset="0"/>
              </a:rPr>
              <a:t>Обращая внимания на вышеописанные методы, то в каждом есть как свои минуты, так и свои плюсы, тем самым, при решении задачи придется всегда проводить небольшой анализ для выбора лучшего метода, учитывать все за и против, что может повлечь за собой неоднозначность. Поэтому, был создан гибридный вариант, который может решать проблему памяти хранения, так и точности вычисления. Алгоритм </a:t>
            </a:r>
            <a:r>
              <a:rPr lang="ru-RU" sz="2200" dirty="0" err="1">
                <a:effectLst/>
                <a:latin typeface="Times New Roman" panose="02020603050405020304" pitchFamily="18" charset="0"/>
                <a:ea typeface="Calibri" panose="020F0502020204030204" pitchFamily="34" charset="0"/>
              </a:rPr>
              <a:t>Халко</a:t>
            </a:r>
            <a:r>
              <a:rPr lang="ru-RU" sz="2200" dirty="0">
                <a:effectLst/>
                <a:latin typeface="Times New Roman" panose="02020603050405020304" pitchFamily="18" charset="0"/>
                <a:ea typeface="Calibri" panose="020F0502020204030204" pitchFamily="34" charset="0"/>
              </a:rPr>
              <a:t>–</a:t>
            </a:r>
            <a:r>
              <a:rPr lang="ru-RU" sz="2200" dirty="0" err="1">
                <a:effectLst/>
                <a:latin typeface="Times New Roman" panose="02020603050405020304" pitchFamily="18" charset="0"/>
                <a:ea typeface="Calibri" panose="020F0502020204030204" pitchFamily="34" charset="0"/>
              </a:rPr>
              <a:t>Мартинассона</a:t>
            </a:r>
            <a:r>
              <a:rPr lang="ru-RU" sz="2200" dirty="0">
                <a:effectLst/>
                <a:latin typeface="Times New Roman" panose="02020603050405020304" pitchFamily="18" charset="0"/>
                <a:ea typeface="Calibri" panose="020F0502020204030204" pitchFamily="34" charset="0"/>
              </a:rPr>
              <a:t>–</a:t>
            </a:r>
            <a:r>
              <a:rPr lang="ru-RU" sz="2200" dirty="0" err="1">
                <a:effectLst/>
                <a:latin typeface="Times New Roman" panose="02020603050405020304" pitchFamily="18" charset="0"/>
                <a:ea typeface="Calibri" panose="020F0502020204030204" pitchFamily="34" charset="0"/>
              </a:rPr>
              <a:t>Троппа</a:t>
            </a:r>
            <a:r>
              <a:rPr lang="ru-RU" sz="2200" dirty="0">
                <a:effectLst/>
                <a:latin typeface="Times New Roman" panose="02020603050405020304" pitchFamily="18" charset="0"/>
                <a:ea typeface="Calibri" panose="020F0502020204030204" pitchFamily="34" charset="0"/>
              </a:rPr>
              <a:t>, который за счет случайной гауссовской матрицы проецирует части основной матрицы на ее пространства с меньшим размером путем ранжирования, получая меньшую матрицу, к которой можно применить стандартный </a:t>
            </a:r>
            <a:r>
              <a:rPr lang="en-US" sz="2200" dirty="0">
                <a:effectLst/>
                <a:latin typeface="Times New Roman" panose="02020603050405020304" pitchFamily="18" charset="0"/>
                <a:ea typeface="Calibri" panose="020F0502020204030204" pitchFamily="34" charset="0"/>
              </a:rPr>
              <a:t>SVD</a:t>
            </a:r>
            <a:r>
              <a:rPr lang="ru-RU" sz="2200" dirty="0">
                <a:effectLst/>
                <a:latin typeface="Times New Roman" panose="02020603050405020304" pitchFamily="18" charset="0"/>
                <a:ea typeface="Calibri" panose="020F0502020204030204" pitchFamily="34" charset="0"/>
              </a:rPr>
              <a:t>.</a:t>
            </a:r>
            <a:endParaRPr lang="ru-RU" sz="2200" dirty="0">
              <a:latin typeface="Times New Roman" panose="02020603050405020304" pitchFamily="18" charset="0"/>
              <a:cs typeface="Times New Roman" panose="02020603050405020304" pitchFamily="18" charset="0"/>
            </a:endParaRPr>
          </a:p>
        </p:txBody>
      </p:sp>
      <p:sp>
        <p:nvSpPr>
          <p:cNvPr id="5" name="Блок-схема: узел 4">
            <a:extLst>
              <a:ext uri="{FF2B5EF4-FFF2-40B4-BE49-F238E27FC236}">
                <a16:creationId xmlns:a16="http://schemas.microsoft.com/office/drawing/2014/main" id="{A09DE754-ABFB-4A17-9451-763172369F7D}"/>
              </a:ext>
            </a:extLst>
          </p:cNvPr>
          <p:cNvSpPr/>
          <p:nvPr/>
        </p:nvSpPr>
        <p:spPr>
          <a:xfrm>
            <a:off x="11393850" y="6067424"/>
            <a:ext cx="720000" cy="720000"/>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solidFill>
                  <a:schemeClr val="tx1"/>
                </a:solidFill>
                <a:latin typeface="Times New Roman" panose="02020603050405020304" pitchFamily="18" charset="0"/>
                <a:cs typeface="Times New Roman" panose="02020603050405020304" pitchFamily="18" charset="0"/>
              </a:rPr>
              <a:t>17</a:t>
            </a:r>
          </a:p>
        </p:txBody>
      </p:sp>
    </p:spTree>
    <p:extLst>
      <p:ext uri="{BB962C8B-B14F-4D97-AF65-F5344CB8AC3E}">
        <p14:creationId xmlns:p14="http://schemas.microsoft.com/office/powerpoint/2010/main" val="29253549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Блок-схема: узел 4">
            <a:extLst>
              <a:ext uri="{FF2B5EF4-FFF2-40B4-BE49-F238E27FC236}">
                <a16:creationId xmlns:a16="http://schemas.microsoft.com/office/drawing/2014/main" id="{A09DE754-ABFB-4A17-9451-763172369F7D}"/>
              </a:ext>
            </a:extLst>
          </p:cNvPr>
          <p:cNvSpPr/>
          <p:nvPr/>
        </p:nvSpPr>
        <p:spPr>
          <a:xfrm>
            <a:off x="11393850" y="6067424"/>
            <a:ext cx="720000" cy="720000"/>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solidFill>
                  <a:schemeClr val="tx1"/>
                </a:solidFill>
                <a:latin typeface="Times New Roman" panose="02020603050405020304" pitchFamily="18" charset="0"/>
                <a:cs typeface="Times New Roman" panose="02020603050405020304" pitchFamily="18" charset="0"/>
              </a:rPr>
              <a:t>18</a:t>
            </a:r>
          </a:p>
        </p:txBody>
      </p:sp>
      <p:sp>
        <p:nvSpPr>
          <p:cNvPr id="6" name="Заголовок 1">
            <a:extLst>
              <a:ext uri="{FF2B5EF4-FFF2-40B4-BE49-F238E27FC236}">
                <a16:creationId xmlns:a16="http://schemas.microsoft.com/office/drawing/2014/main" id="{27002FD1-CB4A-4259-A928-64066BDF8FDB}"/>
              </a:ext>
            </a:extLst>
          </p:cNvPr>
          <p:cNvSpPr txBox="1">
            <a:spLocks/>
          </p:cNvSpPr>
          <p:nvPr/>
        </p:nvSpPr>
        <p:spPr>
          <a:xfrm>
            <a:off x="876300" y="831851"/>
            <a:ext cx="3238500" cy="4445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ru-RU" sz="2400" b="1" dirty="0">
                <a:latin typeface="Times New Roman" panose="02020603050405020304" pitchFamily="18" charset="0"/>
                <a:cs typeface="Times New Roman" panose="02020603050405020304" pitchFamily="18" charset="0"/>
              </a:rPr>
              <a:t>Алгоритм</a:t>
            </a: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2AB0F33C-3B7D-4CE4-B89C-1C38F40F6815}"/>
                  </a:ext>
                </a:extLst>
              </p:cNvPr>
              <p:cNvSpPr txBox="1"/>
              <p:nvPr/>
            </p:nvSpPr>
            <p:spPr>
              <a:xfrm>
                <a:off x="876300" y="1447801"/>
                <a:ext cx="10810875" cy="3483005"/>
              </a:xfrm>
              <a:prstGeom prst="rect">
                <a:avLst/>
              </a:prstGeom>
              <a:noFill/>
            </p:spPr>
            <p:txBody>
              <a:bodyPr wrap="square" rtlCol="0">
                <a:spAutoFit/>
              </a:bodyPr>
              <a:lstStyle/>
              <a:p>
                <a:pPr marL="342900" lvl="0" indent="-342900" algn="just">
                  <a:lnSpc>
                    <a:spcPct val="150000"/>
                  </a:lnSpc>
                  <a:spcAft>
                    <a:spcPts val="800"/>
                  </a:spcAft>
                  <a:buFont typeface="+mj-lt"/>
                  <a:buAutoNum type="arabicPeriod"/>
                </a:pPr>
                <a:r>
                  <a:rPr lang="ru-RU" sz="2200" dirty="0">
                    <a:effectLst/>
                    <a:latin typeface="Times New Roman" panose="02020603050405020304" pitchFamily="18" charset="0"/>
                    <a:ea typeface="Calibri" panose="020F0502020204030204" pitchFamily="34" charset="0"/>
                    <a:cs typeface="Times New Roman" panose="02020603050405020304" pitchFamily="18" charset="0"/>
                  </a:rPr>
                  <a:t>Задается </a:t>
                </a:r>
                <a14:m>
                  <m:oMath xmlns:m="http://schemas.openxmlformats.org/officeDocument/2006/math">
                    <m:r>
                      <a:rPr lang="ru-RU" sz="2200" i="1">
                        <a:effectLst/>
                        <a:latin typeface="Cambria Math" panose="02040503050406030204" pitchFamily="18" charset="0"/>
                        <a:ea typeface="Calibri" panose="020F0502020204030204" pitchFamily="34" charset="0"/>
                        <a:cs typeface="Times New Roman" panose="02020603050405020304" pitchFamily="18" charset="0"/>
                      </a:rPr>
                      <m:t>𝑘</m:t>
                    </m:r>
                  </m:oMath>
                </a14:m>
                <a:r>
                  <a:rPr lang="ru-RU" sz="2200" dirty="0">
                    <a:effectLst/>
                    <a:latin typeface="Times New Roman" panose="02020603050405020304" pitchFamily="18" charset="0"/>
                    <a:ea typeface="Times New Roman" panose="02020603050405020304" pitchFamily="18" charset="0"/>
                    <a:cs typeface="Times New Roman" panose="02020603050405020304" pitchFamily="18" charset="0"/>
                  </a:rPr>
                  <a:t> – количество сингулярных чисел, </a:t>
                </a:r>
                <a14:m>
                  <m:oMath xmlns:m="http://schemas.openxmlformats.org/officeDocument/2006/math">
                    <m:r>
                      <a:rPr lang="ru-RU" sz="2200" i="1">
                        <a:effectLst/>
                        <a:latin typeface="Cambria Math" panose="02040503050406030204" pitchFamily="18" charset="0"/>
                        <a:ea typeface="Calibri" panose="020F0502020204030204" pitchFamily="34" charset="0"/>
                        <a:cs typeface="Times New Roman" panose="02020603050405020304" pitchFamily="18" charset="0"/>
                      </a:rPr>
                      <m:t>𝑝</m:t>
                    </m:r>
                  </m:oMath>
                </a14:m>
                <a:r>
                  <a:rPr lang="ru-RU" sz="2200" dirty="0">
                    <a:effectLst/>
                    <a:latin typeface="Times New Roman" panose="02020603050405020304" pitchFamily="18" charset="0"/>
                    <a:ea typeface="Times New Roman" panose="02020603050405020304" pitchFamily="18" charset="0"/>
                    <a:cs typeface="Times New Roman" panose="02020603050405020304" pitchFamily="18" charset="0"/>
                  </a:rPr>
                  <a:t> – параметр </a:t>
                </a:r>
                <a:r>
                  <a:rPr lang="ru-RU" sz="2200" dirty="0" err="1">
                    <a:effectLst/>
                    <a:latin typeface="Times New Roman" panose="02020603050405020304" pitchFamily="18" charset="0"/>
                    <a:ea typeface="Times New Roman" panose="02020603050405020304" pitchFamily="18" charset="0"/>
                    <a:cs typeface="Times New Roman" panose="02020603050405020304" pitchFamily="18" charset="0"/>
                  </a:rPr>
                  <a:t>передискретизации</a:t>
                </a:r>
                <a:r>
                  <a:rPr lang="ru-RU" sz="22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ru-RU" sz="22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mj-lt"/>
                  <a:buAutoNum type="arabicPeriod"/>
                </a:pPr>
                <a:r>
                  <a:rPr lang="ru-RU" sz="2200" dirty="0">
                    <a:effectLst/>
                    <a:latin typeface="Times New Roman" panose="02020603050405020304" pitchFamily="18" charset="0"/>
                    <a:ea typeface="Calibri" panose="020F0502020204030204" pitchFamily="34" charset="0"/>
                    <a:cs typeface="Times New Roman" panose="02020603050405020304" pitchFamily="18" charset="0"/>
                  </a:rPr>
                  <a:t>Генерируется гауссовская матрица </a:t>
                </a:r>
                <a14:m>
                  <m:oMath xmlns:m="http://schemas.openxmlformats.org/officeDocument/2006/math">
                    <m:r>
                      <a:rPr lang="ru-RU" sz="2200" i="1">
                        <a:effectLst/>
                        <a:latin typeface="Cambria Math" panose="02040503050406030204" pitchFamily="18" charset="0"/>
                        <a:ea typeface="Calibri" panose="020F0502020204030204" pitchFamily="34" charset="0"/>
                        <a:cs typeface="Times New Roman" panose="02020603050405020304" pitchFamily="18" charset="0"/>
                      </a:rPr>
                      <m:t>𝛺</m:t>
                    </m:r>
                  </m:oMath>
                </a14:m>
                <a:r>
                  <a:rPr lang="ru-RU" sz="2200" dirty="0">
                    <a:effectLst/>
                    <a:latin typeface="Times New Roman" panose="02020603050405020304" pitchFamily="18" charset="0"/>
                    <a:ea typeface="Times New Roman" panose="02020603050405020304" pitchFamily="18" charset="0"/>
                    <a:cs typeface="Times New Roman" panose="02020603050405020304" pitchFamily="18" charset="0"/>
                  </a:rPr>
                  <a:t> размера </a:t>
                </a:r>
                <a14:m>
                  <m:oMath xmlns:m="http://schemas.openxmlformats.org/officeDocument/2006/math">
                    <m:r>
                      <a:rPr lang="ru-RU" sz="2200" i="1">
                        <a:effectLst/>
                        <a:latin typeface="Cambria Math" panose="02040503050406030204" pitchFamily="18" charset="0"/>
                        <a:ea typeface="Times New Roman" panose="02020603050405020304" pitchFamily="18" charset="0"/>
                        <a:cs typeface="Times New Roman" panose="02020603050405020304" pitchFamily="18" charset="0"/>
                      </a:rPr>
                      <m:t>𝑛</m:t>
                    </m:r>
                    <m:r>
                      <a:rPr lang="ru-RU" sz="2200" i="1">
                        <a:effectLst/>
                        <a:latin typeface="Cambria Math" panose="02040503050406030204" pitchFamily="18" charset="0"/>
                        <a:ea typeface="Times New Roman" panose="02020603050405020304" pitchFamily="18" charset="0"/>
                        <a:cs typeface="Times New Roman" panose="02020603050405020304" pitchFamily="18" charset="0"/>
                      </a:rPr>
                      <m:t> ×</m:t>
                    </m:r>
                    <m:r>
                      <a:rPr lang="ru-RU" sz="2200" i="1">
                        <a:effectLst/>
                        <a:latin typeface="Cambria Math" panose="02040503050406030204" pitchFamily="18" charset="0"/>
                        <a:ea typeface="Times New Roman" panose="02020603050405020304" pitchFamily="18" charset="0"/>
                        <a:cs typeface="Times New Roman" panose="02020603050405020304" pitchFamily="18" charset="0"/>
                      </a:rPr>
                      <m:t>𝑘</m:t>
                    </m:r>
                    <m:r>
                      <a:rPr lang="ru-RU" sz="2200" i="1">
                        <a:effectLst/>
                        <a:latin typeface="Cambria Math" panose="02040503050406030204" pitchFamily="18" charset="0"/>
                        <a:ea typeface="Times New Roman" panose="02020603050405020304" pitchFamily="18" charset="0"/>
                        <a:cs typeface="Times New Roman" panose="02020603050405020304" pitchFamily="18" charset="0"/>
                      </a:rPr>
                      <m:t> + </m:t>
                    </m:r>
                    <m:r>
                      <a:rPr lang="ru-RU" sz="2200" i="1">
                        <a:effectLst/>
                        <a:latin typeface="Cambria Math" panose="02040503050406030204" pitchFamily="18" charset="0"/>
                        <a:ea typeface="Times New Roman" panose="02020603050405020304" pitchFamily="18" charset="0"/>
                        <a:cs typeface="Times New Roman" panose="02020603050405020304" pitchFamily="18" charset="0"/>
                      </a:rPr>
                      <m:t>𝑝</m:t>
                    </m:r>
                  </m:oMath>
                </a14:m>
                <a:r>
                  <a:rPr lang="ru-RU" sz="22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ru-RU" sz="22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mj-lt"/>
                  <a:buAutoNum type="arabicPeriod"/>
                </a:pPr>
                <a:r>
                  <a:rPr lang="ru-RU" sz="2200" dirty="0">
                    <a:effectLst/>
                    <a:latin typeface="Times New Roman" panose="02020603050405020304" pitchFamily="18" charset="0"/>
                    <a:ea typeface="Times New Roman" panose="02020603050405020304" pitchFamily="18" charset="0"/>
                    <a:cs typeface="Times New Roman" panose="02020603050405020304" pitchFamily="18" charset="0"/>
                  </a:rPr>
                  <a:t>Строится проекция </a:t>
                </a:r>
                <a14:m>
                  <m:oMath xmlns:m="http://schemas.openxmlformats.org/officeDocument/2006/math">
                    <m:r>
                      <a:rPr lang="ru-RU" sz="2200" i="1">
                        <a:effectLst/>
                        <a:latin typeface="Cambria Math" panose="02040503050406030204" pitchFamily="18" charset="0"/>
                        <a:ea typeface="Times New Roman" panose="02020603050405020304" pitchFamily="18" charset="0"/>
                        <a:cs typeface="Times New Roman" panose="02020603050405020304" pitchFamily="18" charset="0"/>
                      </a:rPr>
                      <m:t>𝑌</m:t>
                    </m:r>
                    <m:r>
                      <a:rPr lang="ru-RU" sz="2200" i="1">
                        <a:effectLst/>
                        <a:latin typeface="Cambria Math" panose="02040503050406030204" pitchFamily="18" charset="0"/>
                        <a:ea typeface="Times New Roman" panose="02020603050405020304" pitchFamily="18" charset="0"/>
                        <a:cs typeface="Times New Roman" panose="02020603050405020304" pitchFamily="18" charset="0"/>
                      </a:rPr>
                      <m:t>=</m:t>
                    </m:r>
                    <m:r>
                      <a:rPr lang="ru-RU" sz="2200" i="1">
                        <a:effectLst/>
                        <a:latin typeface="Cambria Math" panose="02040503050406030204" pitchFamily="18" charset="0"/>
                        <a:ea typeface="Times New Roman" panose="02020603050405020304" pitchFamily="18" charset="0"/>
                        <a:cs typeface="Times New Roman" panose="02020603050405020304" pitchFamily="18" charset="0"/>
                      </a:rPr>
                      <m:t>𝐴</m:t>
                    </m:r>
                    <m:r>
                      <m:rPr>
                        <m:sty m:val="p"/>
                      </m:rPr>
                      <a:rPr lang="ru-RU" sz="2200">
                        <a:effectLst/>
                        <a:latin typeface="Cambria Math" panose="02040503050406030204" pitchFamily="18" charset="0"/>
                        <a:ea typeface="Times New Roman" panose="02020603050405020304" pitchFamily="18" charset="0"/>
                        <a:cs typeface="Times New Roman" panose="02020603050405020304" pitchFamily="18" charset="0"/>
                      </a:rPr>
                      <m:t>Ω</m:t>
                    </m:r>
                  </m:oMath>
                </a14:m>
                <a:r>
                  <a:rPr lang="en-US" sz="22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ru-RU" sz="22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mj-lt"/>
                  <a:buAutoNum type="arabicPeriod"/>
                </a:pPr>
                <a:r>
                  <a:rPr lang="ru-RU" sz="2200" dirty="0">
                    <a:effectLst/>
                    <a:latin typeface="Times New Roman" panose="02020603050405020304" pitchFamily="18" charset="0"/>
                    <a:ea typeface="Times New Roman" panose="02020603050405020304" pitchFamily="18" charset="0"/>
                    <a:cs typeface="Times New Roman" panose="02020603050405020304" pitchFamily="18" charset="0"/>
                  </a:rPr>
                  <a:t>Ортогонализация </a:t>
                </a:r>
                <a:r>
                  <a:rPr lang="en-US" sz="2200" dirty="0">
                    <a:effectLst/>
                    <a:latin typeface="Times New Roman" panose="02020603050405020304" pitchFamily="18" charset="0"/>
                    <a:ea typeface="Times New Roman" panose="02020603050405020304" pitchFamily="18" charset="0"/>
                    <a:cs typeface="Times New Roman" panose="02020603050405020304" pitchFamily="18" charset="0"/>
                  </a:rPr>
                  <a:t>QR</a:t>
                </a:r>
                <a:r>
                  <a:rPr lang="ru-RU" sz="2200" dirty="0">
                    <a:effectLst/>
                    <a:latin typeface="Times New Roman" panose="02020603050405020304" pitchFamily="18" charset="0"/>
                    <a:ea typeface="Times New Roman" panose="02020603050405020304" pitchFamily="18" charset="0"/>
                    <a:cs typeface="Times New Roman" panose="02020603050405020304" pitchFamily="18" charset="0"/>
                  </a:rPr>
                  <a:t>–алгоритмом.</a:t>
                </a:r>
                <a:endParaRPr lang="ru-RU" sz="22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mj-lt"/>
                  <a:buAutoNum type="arabicPeriod"/>
                </a:pPr>
                <a:r>
                  <a:rPr lang="ru-RU" sz="2200" dirty="0">
                    <a:effectLst/>
                    <a:latin typeface="Times New Roman" panose="02020603050405020304" pitchFamily="18" charset="0"/>
                    <a:ea typeface="Times New Roman" panose="02020603050405020304" pitchFamily="18" charset="0"/>
                    <a:cs typeface="Times New Roman" panose="02020603050405020304" pitchFamily="18" charset="0"/>
                  </a:rPr>
                  <a:t>Проецирование </a:t>
                </a:r>
                <a14:m>
                  <m:oMath xmlns:m="http://schemas.openxmlformats.org/officeDocument/2006/math">
                    <m:r>
                      <a:rPr lang="ru-RU" sz="2200" i="1">
                        <a:effectLst/>
                        <a:latin typeface="Cambria Math" panose="02040503050406030204" pitchFamily="18" charset="0"/>
                        <a:ea typeface="Times New Roman" panose="02020603050405020304" pitchFamily="18" charset="0"/>
                        <a:cs typeface="Times New Roman" panose="02020603050405020304" pitchFamily="18" charset="0"/>
                      </a:rPr>
                      <m:t>𝐵</m:t>
                    </m:r>
                    <m:r>
                      <a:rPr lang="ru-RU" sz="2200" i="1">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ru-RU" sz="22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ru-RU" sz="2200" i="1">
                            <a:effectLst/>
                            <a:latin typeface="Cambria Math" panose="02040503050406030204" pitchFamily="18" charset="0"/>
                            <a:ea typeface="Times New Roman" panose="02020603050405020304" pitchFamily="18" charset="0"/>
                            <a:cs typeface="Times New Roman" panose="02020603050405020304" pitchFamily="18" charset="0"/>
                          </a:rPr>
                          <m:t>𝑄</m:t>
                        </m:r>
                      </m:e>
                      <m:sup>
                        <m:r>
                          <a:rPr lang="ru-RU" sz="2200" i="1">
                            <a:effectLst/>
                            <a:latin typeface="Cambria Math" panose="02040503050406030204" pitchFamily="18" charset="0"/>
                            <a:ea typeface="Times New Roman" panose="02020603050405020304" pitchFamily="18" charset="0"/>
                            <a:cs typeface="Times New Roman" panose="02020603050405020304" pitchFamily="18" charset="0"/>
                          </a:rPr>
                          <m:t>𝑇</m:t>
                        </m:r>
                      </m:sup>
                    </m:sSup>
                    <m:r>
                      <a:rPr lang="ru-RU" sz="2200" i="1">
                        <a:effectLst/>
                        <a:latin typeface="Cambria Math" panose="02040503050406030204" pitchFamily="18" charset="0"/>
                        <a:ea typeface="Times New Roman" panose="02020603050405020304" pitchFamily="18" charset="0"/>
                        <a:cs typeface="Times New Roman" panose="02020603050405020304" pitchFamily="18" charset="0"/>
                      </a:rPr>
                      <m:t>𝐴</m:t>
                    </m:r>
                  </m:oMath>
                </a14:m>
                <a:r>
                  <a:rPr lang="ru-RU" sz="22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ru-RU" sz="22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indent="-342900">
                  <a:buFont typeface="+mj-lt"/>
                  <a:buAutoNum type="arabicPeriod"/>
                </a:pPr>
                <a:r>
                  <a:rPr lang="ru-RU" sz="2200" dirty="0">
                    <a:effectLst/>
                    <a:latin typeface="Times New Roman" panose="02020603050405020304" pitchFamily="18" charset="0"/>
                    <a:ea typeface="Times New Roman" panose="02020603050405020304" pitchFamily="18" charset="0"/>
                    <a:cs typeface="Times New Roman" panose="02020603050405020304" pitchFamily="18" charset="0"/>
                  </a:rPr>
                  <a:t>Применение </a:t>
                </a:r>
                <a:r>
                  <a:rPr lang="en-US" sz="2200" dirty="0">
                    <a:effectLst/>
                    <a:latin typeface="Times New Roman" panose="02020603050405020304" pitchFamily="18" charset="0"/>
                    <a:ea typeface="Times New Roman" panose="02020603050405020304" pitchFamily="18" charset="0"/>
                    <a:cs typeface="Times New Roman" panose="02020603050405020304" pitchFamily="18" charset="0"/>
                  </a:rPr>
                  <a:t>SVD </a:t>
                </a:r>
                <a:r>
                  <a:rPr lang="ru-RU" sz="2200" dirty="0">
                    <a:effectLst/>
                    <a:latin typeface="Times New Roman" panose="02020603050405020304" pitchFamily="18" charset="0"/>
                    <a:ea typeface="Times New Roman" panose="02020603050405020304" pitchFamily="18" charset="0"/>
                    <a:cs typeface="Times New Roman" panose="02020603050405020304" pitchFamily="18" charset="0"/>
                  </a:rPr>
                  <a:t>к </a:t>
                </a:r>
                <a14:m>
                  <m:oMath xmlns:m="http://schemas.openxmlformats.org/officeDocument/2006/math">
                    <m:r>
                      <a:rPr lang="ru-RU" sz="2200" i="1">
                        <a:effectLst/>
                        <a:latin typeface="Cambria Math" panose="02040503050406030204" pitchFamily="18" charset="0"/>
                        <a:ea typeface="Times New Roman" panose="02020603050405020304" pitchFamily="18" charset="0"/>
                        <a:cs typeface="Times New Roman" panose="02020603050405020304" pitchFamily="18" charset="0"/>
                      </a:rPr>
                      <m:t>𝐵</m:t>
                    </m:r>
                  </m:oMath>
                </a14:m>
                <a:r>
                  <a:rPr lang="en-US" sz="22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ru-RU" sz="2200" dirty="0">
                  <a:effectLst/>
                  <a:latin typeface="Times New Roman" panose="02020603050405020304" pitchFamily="18" charset="0"/>
                  <a:ea typeface="Calibri" panose="020F0502020204030204" pitchFamily="34" charset="0"/>
                  <a:cs typeface="Times New Roman" panose="02020603050405020304" pitchFamily="18" charset="0"/>
                </a:endParaRPr>
              </a:p>
            </p:txBody>
          </p:sp>
        </mc:Choice>
        <mc:Fallback>
          <p:sp>
            <p:nvSpPr>
              <p:cNvPr id="3" name="TextBox 2">
                <a:extLst>
                  <a:ext uri="{FF2B5EF4-FFF2-40B4-BE49-F238E27FC236}">
                    <a16:creationId xmlns:a16="http://schemas.microsoft.com/office/drawing/2014/main" id="{2AB0F33C-3B7D-4CE4-B89C-1C38F40F6815}"/>
                  </a:ext>
                </a:extLst>
              </p:cNvPr>
              <p:cNvSpPr txBox="1">
                <a:spLocks noRot="1" noChangeAspect="1" noMove="1" noResize="1" noEditPoints="1" noAdjustHandles="1" noChangeArrowheads="1" noChangeShapeType="1" noTextEdit="1"/>
              </p:cNvSpPr>
              <p:nvPr/>
            </p:nvSpPr>
            <p:spPr>
              <a:xfrm>
                <a:off x="876300" y="1447801"/>
                <a:ext cx="10810875" cy="3483005"/>
              </a:xfrm>
              <a:prstGeom prst="rect">
                <a:avLst/>
              </a:prstGeom>
              <a:blipFill>
                <a:blip r:embed="rId2"/>
                <a:stretch>
                  <a:fillRect l="-620" b="-2627"/>
                </a:stretch>
              </a:blipFill>
            </p:spPr>
            <p:txBody>
              <a:bodyPr/>
              <a:lstStyle/>
              <a:p>
                <a:r>
                  <a:rPr lang="ru-RU">
                    <a:noFill/>
                  </a:rPr>
                  <a:t> </a:t>
                </a:r>
              </a:p>
            </p:txBody>
          </p:sp>
        </mc:Fallback>
      </mc:AlternateContent>
      <p:sp>
        <p:nvSpPr>
          <p:cNvPr id="7" name="Заголовок 1">
            <a:extLst>
              <a:ext uri="{FF2B5EF4-FFF2-40B4-BE49-F238E27FC236}">
                <a16:creationId xmlns:a16="http://schemas.microsoft.com/office/drawing/2014/main" id="{EA2B93DF-E517-4B39-A534-F9D46747CE2F}"/>
              </a:ext>
            </a:extLst>
          </p:cNvPr>
          <p:cNvSpPr txBox="1">
            <a:spLocks/>
          </p:cNvSpPr>
          <p:nvPr/>
        </p:nvSpPr>
        <p:spPr>
          <a:xfrm>
            <a:off x="285750" y="307976"/>
            <a:ext cx="5353050" cy="4445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ru-RU" sz="3200" b="1" dirty="0">
                <a:latin typeface="Times New Roman" panose="02020603050405020304" pitchFamily="18" charset="0"/>
                <a:cs typeface="Times New Roman" panose="02020603050405020304" pitchFamily="18" charset="0"/>
              </a:rPr>
              <a:t>Рандомизированный метод</a:t>
            </a:r>
          </a:p>
        </p:txBody>
      </p:sp>
    </p:spTree>
    <p:extLst>
      <p:ext uri="{BB962C8B-B14F-4D97-AF65-F5344CB8AC3E}">
        <p14:creationId xmlns:p14="http://schemas.microsoft.com/office/powerpoint/2010/main" val="25858899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Заголовок 1">
            <a:extLst>
              <a:ext uri="{FF2B5EF4-FFF2-40B4-BE49-F238E27FC236}">
                <a16:creationId xmlns:a16="http://schemas.microsoft.com/office/drawing/2014/main" id="{27FEBC28-C3A3-434E-9A9B-B4A61AA75570}"/>
              </a:ext>
            </a:extLst>
          </p:cNvPr>
          <p:cNvSpPr txBox="1">
            <a:spLocks/>
          </p:cNvSpPr>
          <p:nvPr/>
        </p:nvSpPr>
        <p:spPr>
          <a:xfrm>
            <a:off x="285749" y="307976"/>
            <a:ext cx="2505075" cy="4445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ru-RU" sz="3200" b="1" dirty="0">
                <a:latin typeface="Times New Roman" panose="02020603050405020304" pitchFamily="18" charset="0"/>
                <a:cs typeface="Times New Roman" panose="02020603050405020304" pitchFamily="18" charset="0"/>
              </a:rPr>
              <a:t>Реализация</a:t>
            </a:r>
          </a:p>
        </p:txBody>
      </p:sp>
      <p:pic>
        <p:nvPicPr>
          <p:cNvPr id="4" name="Рисунок 3">
            <a:extLst>
              <a:ext uri="{FF2B5EF4-FFF2-40B4-BE49-F238E27FC236}">
                <a16:creationId xmlns:a16="http://schemas.microsoft.com/office/drawing/2014/main" id="{2D3B000B-D917-4B60-B9EF-24778AF66CD5}"/>
              </a:ext>
            </a:extLst>
          </p:cNvPr>
          <p:cNvPicPr>
            <a:picLocks noChangeAspect="1"/>
          </p:cNvPicPr>
          <p:nvPr/>
        </p:nvPicPr>
        <p:blipFill>
          <a:blip r:embed="rId2"/>
          <a:stretch>
            <a:fillRect/>
          </a:stretch>
        </p:blipFill>
        <p:spPr>
          <a:xfrm>
            <a:off x="981074" y="752476"/>
            <a:ext cx="4789117" cy="5929782"/>
          </a:xfrm>
          <a:prstGeom prst="rect">
            <a:avLst/>
          </a:prstGeom>
        </p:spPr>
      </p:pic>
      <p:pic>
        <p:nvPicPr>
          <p:cNvPr id="7" name="Рисунок 6">
            <a:extLst>
              <a:ext uri="{FF2B5EF4-FFF2-40B4-BE49-F238E27FC236}">
                <a16:creationId xmlns:a16="http://schemas.microsoft.com/office/drawing/2014/main" id="{9F035804-8826-4EBE-A7F5-3E57A8BD4EBA}"/>
              </a:ext>
            </a:extLst>
          </p:cNvPr>
          <p:cNvPicPr>
            <a:picLocks noChangeAspect="1"/>
          </p:cNvPicPr>
          <p:nvPr/>
        </p:nvPicPr>
        <p:blipFill>
          <a:blip r:embed="rId3"/>
          <a:stretch>
            <a:fillRect/>
          </a:stretch>
        </p:blipFill>
        <p:spPr>
          <a:xfrm>
            <a:off x="7429262" y="752476"/>
            <a:ext cx="3410426" cy="5353797"/>
          </a:xfrm>
          <a:prstGeom prst="rect">
            <a:avLst/>
          </a:prstGeom>
        </p:spPr>
      </p:pic>
      <p:sp>
        <p:nvSpPr>
          <p:cNvPr id="9" name="Блок-схема: узел 8">
            <a:extLst>
              <a:ext uri="{FF2B5EF4-FFF2-40B4-BE49-F238E27FC236}">
                <a16:creationId xmlns:a16="http://schemas.microsoft.com/office/drawing/2014/main" id="{54FCDCDB-8D0E-494F-A99B-4CDD981BDE68}"/>
              </a:ext>
            </a:extLst>
          </p:cNvPr>
          <p:cNvSpPr/>
          <p:nvPr/>
        </p:nvSpPr>
        <p:spPr>
          <a:xfrm>
            <a:off x="11393850" y="6067424"/>
            <a:ext cx="720000" cy="720000"/>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solidFill>
                  <a:schemeClr val="tx1"/>
                </a:solidFill>
                <a:latin typeface="Times New Roman" panose="02020603050405020304" pitchFamily="18" charset="0"/>
                <a:cs typeface="Times New Roman" panose="02020603050405020304" pitchFamily="18" charset="0"/>
              </a:rPr>
              <a:t>19</a:t>
            </a:r>
          </a:p>
        </p:txBody>
      </p:sp>
    </p:spTree>
    <p:extLst>
      <p:ext uri="{BB962C8B-B14F-4D97-AF65-F5344CB8AC3E}">
        <p14:creationId xmlns:p14="http://schemas.microsoft.com/office/powerpoint/2010/main" val="6464372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5256ADA-DC63-4863-9D47-A4C176E6E375}"/>
              </a:ext>
            </a:extLst>
          </p:cNvPr>
          <p:cNvSpPr txBox="1">
            <a:spLocks/>
          </p:cNvSpPr>
          <p:nvPr/>
        </p:nvSpPr>
        <p:spPr>
          <a:xfrm>
            <a:off x="285749" y="307976"/>
            <a:ext cx="4733926" cy="4445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ru-RU" sz="3200" b="1" dirty="0">
                <a:effectLst/>
                <a:latin typeface="Times New Roman" panose="02020603050405020304" pitchFamily="18" charset="0"/>
                <a:ea typeface="Calibri" panose="020F0502020204030204" pitchFamily="34" charset="0"/>
              </a:rPr>
              <a:t>Оценка методов</a:t>
            </a:r>
            <a:endParaRPr lang="ru-RU" sz="32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2AB070BF-998B-4893-9BB4-CCE747BAEC67}"/>
              </a:ext>
            </a:extLst>
          </p:cNvPr>
          <p:cNvSpPr txBox="1"/>
          <p:nvPr/>
        </p:nvSpPr>
        <p:spPr>
          <a:xfrm>
            <a:off x="657224" y="944689"/>
            <a:ext cx="10963275" cy="4299126"/>
          </a:xfrm>
          <a:prstGeom prst="rect">
            <a:avLst/>
          </a:prstGeom>
          <a:noFill/>
        </p:spPr>
        <p:txBody>
          <a:bodyPr wrap="square">
            <a:spAutoFit/>
          </a:bodyPr>
          <a:lstStyle/>
          <a:p>
            <a:pPr indent="450215" algn="just">
              <a:lnSpc>
                <a:spcPct val="120000"/>
              </a:lnSpc>
              <a:spcAft>
                <a:spcPts val="800"/>
              </a:spcAft>
            </a:pPr>
            <a:r>
              <a:rPr lang="ru-RU" sz="2200" dirty="0">
                <a:latin typeface="Times New Roman" panose="02020603050405020304" pitchFamily="18" charset="0"/>
                <a:ea typeface="Calibri" panose="020F0502020204030204" pitchFamily="34" charset="0"/>
              </a:rPr>
              <a:t>Выше были описаны основные методы, которые лежат в основе, как идеи, так и реализации, современных методов. Описать абсолютное все довольно трудно, но сравнить их и оценить, используя фреймворки языка </a:t>
            </a:r>
            <a:r>
              <a:rPr lang="en-US" sz="2200" dirty="0">
                <a:latin typeface="Times New Roman" panose="02020603050405020304" pitchFamily="18" charset="0"/>
                <a:ea typeface="Calibri" panose="020F0502020204030204" pitchFamily="34" charset="0"/>
              </a:rPr>
              <a:t>Python</a:t>
            </a:r>
            <a:r>
              <a:rPr lang="ru-RU" sz="2200" dirty="0">
                <a:latin typeface="Times New Roman" panose="02020603050405020304" pitchFamily="18" charset="0"/>
                <a:ea typeface="Calibri" panose="020F0502020204030204" pitchFamily="34" charset="0"/>
              </a:rPr>
              <a:t>, который направлен и предназначен на задачи </a:t>
            </a:r>
            <a:r>
              <a:rPr lang="en-US" sz="2200" dirty="0">
                <a:latin typeface="Times New Roman" panose="02020603050405020304" pitchFamily="18" charset="0"/>
                <a:ea typeface="Calibri" panose="020F0502020204030204" pitchFamily="34" charset="0"/>
              </a:rPr>
              <a:t>Data Science</a:t>
            </a:r>
            <a:r>
              <a:rPr lang="ru-RU" sz="2200" dirty="0">
                <a:latin typeface="Times New Roman" panose="02020603050405020304" pitchFamily="18" charset="0"/>
                <a:ea typeface="Calibri" panose="020F0502020204030204" pitchFamily="34" charset="0"/>
              </a:rPr>
              <a:t>, </a:t>
            </a:r>
            <a:r>
              <a:rPr lang="en-US" sz="2200" dirty="0">
                <a:latin typeface="Times New Roman" panose="02020603050405020304" pitchFamily="18" charset="0"/>
                <a:ea typeface="Calibri" panose="020F0502020204030204" pitchFamily="34" charset="0"/>
              </a:rPr>
              <a:t>Machine Learning</a:t>
            </a:r>
            <a:r>
              <a:rPr lang="ru-RU" sz="2200" dirty="0">
                <a:latin typeface="Times New Roman" panose="02020603050405020304" pitchFamily="18" charset="0"/>
                <a:ea typeface="Calibri" panose="020F0502020204030204" pitchFamily="34" charset="0"/>
              </a:rPr>
              <a:t> и т.п. можно. В качестве библиотек были использованы следующие</a:t>
            </a:r>
            <a:r>
              <a:rPr lang="en-US" sz="2200" dirty="0">
                <a:latin typeface="Times New Roman" panose="02020603050405020304" pitchFamily="18" charset="0"/>
                <a:ea typeface="Calibri" panose="020F0502020204030204" pitchFamily="34" charset="0"/>
              </a:rPr>
              <a:t>:</a:t>
            </a:r>
            <a:endParaRPr lang="ru-RU" sz="2200" dirty="0">
              <a:latin typeface="Times New Roman" panose="02020603050405020304" pitchFamily="18" charset="0"/>
              <a:ea typeface="Calibri" panose="020F0502020204030204" pitchFamily="34" charset="0"/>
            </a:endParaRPr>
          </a:p>
          <a:p>
            <a:pPr marL="900000" indent="360000" algn="just">
              <a:lnSpc>
                <a:spcPct val="120000"/>
              </a:lnSpc>
              <a:buFont typeface="Arial" panose="020B0604020202020204" pitchFamily="34" charset="0"/>
              <a:buChar char="•"/>
              <a:tabLst>
                <a:tab pos="630555" algn="l"/>
              </a:tabLst>
            </a:pPr>
            <a:r>
              <a:rPr lang="en-US" sz="2200" dirty="0" err="1">
                <a:latin typeface="Times New Roman" panose="02020603050405020304" pitchFamily="18" charset="0"/>
                <a:cs typeface="Times New Roman" panose="02020603050405020304" pitchFamily="18" charset="0"/>
              </a:rPr>
              <a:t>Scipy</a:t>
            </a:r>
            <a:r>
              <a:rPr lang="en-US" sz="2200" dirty="0">
                <a:latin typeface="Times New Roman" panose="02020603050405020304" pitchFamily="18" charset="0"/>
                <a:cs typeface="Times New Roman" panose="02020603050405020304" pitchFamily="18" charset="0"/>
              </a:rPr>
              <a:t>.</a:t>
            </a:r>
            <a:endParaRPr lang="ru-RU" sz="2200" dirty="0">
              <a:latin typeface="Times New Roman" panose="02020603050405020304" pitchFamily="18" charset="0"/>
              <a:cs typeface="Times New Roman" panose="02020603050405020304" pitchFamily="18" charset="0"/>
            </a:endParaRPr>
          </a:p>
          <a:p>
            <a:pPr marL="900000" indent="360000" algn="just">
              <a:lnSpc>
                <a:spcPct val="120000"/>
              </a:lnSpc>
              <a:buFont typeface="Arial" panose="020B0604020202020204" pitchFamily="34" charset="0"/>
              <a:buChar char="•"/>
              <a:tabLst>
                <a:tab pos="630555" algn="l"/>
              </a:tabLst>
            </a:pPr>
            <a:r>
              <a:rPr lang="en-US" sz="2200" dirty="0" err="1">
                <a:latin typeface="Times New Roman" panose="02020603050405020304" pitchFamily="18" charset="0"/>
                <a:cs typeface="Times New Roman" panose="02020603050405020304" pitchFamily="18" charset="0"/>
              </a:rPr>
              <a:t>Sklearn</a:t>
            </a:r>
            <a:r>
              <a:rPr lang="en-US" sz="2200" dirty="0">
                <a:latin typeface="Times New Roman" panose="02020603050405020304" pitchFamily="18" charset="0"/>
                <a:cs typeface="Times New Roman" panose="02020603050405020304" pitchFamily="18" charset="0"/>
              </a:rPr>
              <a:t>.</a:t>
            </a:r>
            <a:endParaRPr lang="ru-RU" sz="2200" dirty="0">
              <a:latin typeface="Times New Roman" panose="02020603050405020304" pitchFamily="18" charset="0"/>
              <a:cs typeface="Times New Roman" panose="02020603050405020304" pitchFamily="18" charset="0"/>
            </a:endParaRPr>
          </a:p>
          <a:p>
            <a:pPr marL="900000" indent="360000" algn="just">
              <a:lnSpc>
                <a:spcPct val="120000"/>
              </a:lnSpc>
              <a:buFont typeface="Arial" panose="020B0604020202020204" pitchFamily="34" charset="0"/>
              <a:buChar char="•"/>
              <a:tabLst>
                <a:tab pos="630555" algn="l"/>
              </a:tabLst>
            </a:pPr>
            <a:r>
              <a:rPr lang="en-US" sz="2200" dirty="0">
                <a:latin typeface="Times New Roman" panose="02020603050405020304" pitchFamily="18" charset="0"/>
                <a:cs typeface="Times New Roman" panose="02020603050405020304" pitchFamily="18" charset="0"/>
              </a:rPr>
              <a:t>Torch.</a:t>
            </a:r>
            <a:endParaRPr lang="ru-RU" sz="2200" dirty="0">
              <a:latin typeface="Times New Roman" panose="02020603050405020304" pitchFamily="18" charset="0"/>
              <a:cs typeface="Times New Roman" panose="02020603050405020304" pitchFamily="18" charset="0"/>
            </a:endParaRPr>
          </a:p>
          <a:p>
            <a:pPr marL="900000" indent="360000" algn="just">
              <a:lnSpc>
                <a:spcPct val="120000"/>
              </a:lnSpc>
              <a:spcAft>
                <a:spcPts val="600"/>
              </a:spcAft>
              <a:buFont typeface="Arial" panose="020B0604020202020204" pitchFamily="34" charset="0"/>
              <a:buChar char="•"/>
              <a:tabLst>
                <a:tab pos="630555" algn="l"/>
              </a:tabLst>
            </a:pPr>
            <a:r>
              <a:rPr lang="en-US" sz="2200" dirty="0" err="1">
                <a:latin typeface="Times New Roman" panose="02020603050405020304" pitchFamily="18" charset="0"/>
                <a:cs typeface="Times New Roman" panose="02020603050405020304" pitchFamily="18" charset="0"/>
              </a:rPr>
              <a:t>Tensorflow</a:t>
            </a:r>
            <a:r>
              <a:rPr lang="en-US" sz="2200" dirty="0">
                <a:latin typeface="Times New Roman" panose="02020603050405020304" pitchFamily="18" charset="0"/>
                <a:cs typeface="Times New Roman" panose="02020603050405020304" pitchFamily="18" charset="0"/>
              </a:rPr>
              <a:t>.</a:t>
            </a:r>
            <a:endParaRPr lang="ru-RU" sz="2200" dirty="0">
              <a:latin typeface="Times New Roman" panose="02020603050405020304" pitchFamily="18" charset="0"/>
              <a:cs typeface="Times New Roman" panose="02020603050405020304" pitchFamily="18" charset="0"/>
            </a:endParaRPr>
          </a:p>
          <a:p>
            <a:pPr marL="900000" indent="360000" algn="just">
              <a:lnSpc>
                <a:spcPct val="120000"/>
              </a:lnSpc>
              <a:spcAft>
                <a:spcPts val="600"/>
              </a:spcAft>
              <a:buFont typeface="Arial" panose="020B0604020202020204" pitchFamily="34" charset="0"/>
              <a:buChar char="•"/>
              <a:tabLst>
                <a:tab pos="630555" algn="l"/>
              </a:tabLst>
            </a:pPr>
            <a:r>
              <a:rPr lang="en-US" sz="2200" dirty="0" err="1">
                <a:latin typeface="Times New Roman" panose="02020603050405020304" pitchFamily="18" charset="0"/>
                <a:cs typeface="Times New Roman" panose="02020603050405020304" pitchFamily="18" charset="0"/>
              </a:rPr>
              <a:t>Skimage</a:t>
            </a:r>
            <a:r>
              <a:rPr lang="en-US" sz="2200" dirty="0">
                <a:latin typeface="Times New Roman" panose="02020603050405020304" pitchFamily="18" charset="0"/>
                <a:cs typeface="Times New Roman" panose="02020603050405020304" pitchFamily="18" charset="0"/>
              </a:rPr>
              <a:t>.</a:t>
            </a:r>
            <a:endParaRPr lang="ru-RU" sz="2200" dirty="0">
              <a:latin typeface="Times New Roman" panose="02020603050405020304" pitchFamily="18" charset="0"/>
              <a:cs typeface="Times New Roman" panose="02020603050405020304" pitchFamily="18" charset="0"/>
            </a:endParaRPr>
          </a:p>
        </p:txBody>
      </p:sp>
      <p:sp>
        <p:nvSpPr>
          <p:cNvPr id="5" name="Блок-схема: узел 4">
            <a:extLst>
              <a:ext uri="{FF2B5EF4-FFF2-40B4-BE49-F238E27FC236}">
                <a16:creationId xmlns:a16="http://schemas.microsoft.com/office/drawing/2014/main" id="{34767322-672B-4A4B-8C8A-089C1EC8172A}"/>
              </a:ext>
            </a:extLst>
          </p:cNvPr>
          <p:cNvSpPr/>
          <p:nvPr/>
        </p:nvSpPr>
        <p:spPr>
          <a:xfrm>
            <a:off x="11393850" y="6067424"/>
            <a:ext cx="720000" cy="720000"/>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solidFill>
                  <a:schemeClr val="tx1"/>
                </a:solidFill>
                <a:latin typeface="Times New Roman" panose="02020603050405020304" pitchFamily="18" charset="0"/>
                <a:cs typeface="Times New Roman" panose="02020603050405020304" pitchFamily="18" charset="0"/>
              </a:rPr>
              <a:t>20</a:t>
            </a:r>
          </a:p>
        </p:txBody>
      </p:sp>
    </p:spTree>
    <p:extLst>
      <p:ext uri="{BB962C8B-B14F-4D97-AF65-F5344CB8AC3E}">
        <p14:creationId xmlns:p14="http://schemas.microsoft.com/office/powerpoint/2010/main" val="8902700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a:extLst>
              <a:ext uri="{FF2B5EF4-FFF2-40B4-BE49-F238E27FC236}">
                <a16:creationId xmlns:a16="http://schemas.microsoft.com/office/drawing/2014/main" id="{4B3CE30B-6ADB-4026-ADF2-9900A8EDE376}"/>
              </a:ext>
            </a:extLst>
          </p:cNvPr>
          <p:cNvPicPr>
            <a:picLocks noChangeAspect="1"/>
          </p:cNvPicPr>
          <p:nvPr/>
        </p:nvPicPr>
        <p:blipFill>
          <a:blip r:embed="rId2"/>
          <a:stretch>
            <a:fillRect/>
          </a:stretch>
        </p:blipFill>
        <p:spPr>
          <a:xfrm>
            <a:off x="2486025" y="987638"/>
            <a:ext cx="7219950" cy="4882723"/>
          </a:xfrm>
          <a:prstGeom prst="rect">
            <a:avLst/>
          </a:prstGeom>
        </p:spPr>
      </p:pic>
      <p:sp>
        <p:nvSpPr>
          <p:cNvPr id="5" name="Блок-схема: узел 4">
            <a:extLst>
              <a:ext uri="{FF2B5EF4-FFF2-40B4-BE49-F238E27FC236}">
                <a16:creationId xmlns:a16="http://schemas.microsoft.com/office/drawing/2014/main" id="{B12C5D00-4D2C-4057-B599-ECE2A39F6334}"/>
              </a:ext>
            </a:extLst>
          </p:cNvPr>
          <p:cNvSpPr/>
          <p:nvPr/>
        </p:nvSpPr>
        <p:spPr>
          <a:xfrm>
            <a:off x="11393850" y="6067424"/>
            <a:ext cx="720000" cy="720000"/>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solidFill>
                  <a:schemeClr val="tx1"/>
                </a:solidFill>
                <a:latin typeface="Times New Roman" panose="02020603050405020304" pitchFamily="18" charset="0"/>
                <a:cs typeface="Times New Roman" panose="02020603050405020304" pitchFamily="18" charset="0"/>
              </a:rPr>
              <a:t>21</a:t>
            </a:r>
          </a:p>
        </p:txBody>
      </p:sp>
      <p:sp>
        <p:nvSpPr>
          <p:cNvPr id="6" name="Заголовок 1">
            <a:extLst>
              <a:ext uri="{FF2B5EF4-FFF2-40B4-BE49-F238E27FC236}">
                <a16:creationId xmlns:a16="http://schemas.microsoft.com/office/drawing/2014/main" id="{140CBF82-92F9-4D1F-AF62-9CD49E59BA3F}"/>
              </a:ext>
            </a:extLst>
          </p:cNvPr>
          <p:cNvSpPr txBox="1">
            <a:spLocks/>
          </p:cNvSpPr>
          <p:nvPr/>
        </p:nvSpPr>
        <p:spPr>
          <a:xfrm>
            <a:off x="285749" y="307976"/>
            <a:ext cx="4733926" cy="4445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ru-RU" sz="3200" b="1" dirty="0">
                <a:effectLst/>
                <a:latin typeface="Times New Roman" panose="02020603050405020304" pitchFamily="18" charset="0"/>
                <a:ea typeface="Calibri" panose="020F0502020204030204" pitchFamily="34" charset="0"/>
              </a:rPr>
              <a:t>Оценка методов</a:t>
            </a:r>
            <a:endParaRPr lang="ru-RU"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853715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id="{B2C1CA9A-57C4-47EC-AE97-3804F4934958}"/>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25892" y="806448"/>
            <a:ext cx="9340215" cy="5743576"/>
          </a:xfrm>
          <a:prstGeom prst="rect">
            <a:avLst/>
          </a:prstGeom>
          <a:noFill/>
          <a:ln>
            <a:noFill/>
          </a:ln>
        </p:spPr>
      </p:pic>
      <p:sp>
        <p:nvSpPr>
          <p:cNvPr id="4" name="Блок-схема: узел 3">
            <a:extLst>
              <a:ext uri="{FF2B5EF4-FFF2-40B4-BE49-F238E27FC236}">
                <a16:creationId xmlns:a16="http://schemas.microsoft.com/office/drawing/2014/main" id="{E5BC3787-0C27-481A-9A88-DE6955709E5E}"/>
              </a:ext>
            </a:extLst>
          </p:cNvPr>
          <p:cNvSpPr/>
          <p:nvPr/>
        </p:nvSpPr>
        <p:spPr>
          <a:xfrm>
            <a:off x="11393850" y="6067424"/>
            <a:ext cx="720000" cy="720000"/>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solidFill>
                  <a:schemeClr val="tx1"/>
                </a:solidFill>
                <a:latin typeface="Times New Roman" panose="02020603050405020304" pitchFamily="18" charset="0"/>
                <a:cs typeface="Times New Roman" panose="02020603050405020304" pitchFamily="18" charset="0"/>
              </a:rPr>
              <a:t>22</a:t>
            </a:r>
          </a:p>
        </p:txBody>
      </p:sp>
      <p:sp>
        <p:nvSpPr>
          <p:cNvPr id="5" name="Заголовок 1">
            <a:extLst>
              <a:ext uri="{FF2B5EF4-FFF2-40B4-BE49-F238E27FC236}">
                <a16:creationId xmlns:a16="http://schemas.microsoft.com/office/drawing/2014/main" id="{62524971-56CF-4878-956A-00A18041B371}"/>
              </a:ext>
            </a:extLst>
          </p:cNvPr>
          <p:cNvSpPr txBox="1">
            <a:spLocks/>
          </p:cNvSpPr>
          <p:nvPr/>
        </p:nvSpPr>
        <p:spPr>
          <a:xfrm>
            <a:off x="285749" y="307976"/>
            <a:ext cx="4733926" cy="4445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ru-RU" sz="3200" b="1" dirty="0">
                <a:effectLst/>
                <a:latin typeface="Times New Roman" panose="02020603050405020304" pitchFamily="18" charset="0"/>
                <a:ea typeface="Calibri" panose="020F0502020204030204" pitchFamily="34" charset="0"/>
              </a:rPr>
              <a:t>Оценка методов</a:t>
            </a:r>
            <a:endParaRPr lang="ru-RU"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7142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Таблица 1">
            <a:extLst>
              <a:ext uri="{FF2B5EF4-FFF2-40B4-BE49-F238E27FC236}">
                <a16:creationId xmlns:a16="http://schemas.microsoft.com/office/drawing/2014/main" id="{D3011ADE-80A1-402E-AB11-AAE33C403C96}"/>
              </a:ext>
            </a:extLst>
          </p:cNvPr>
          <p:cNvGraphicFramePr>
            <a:graphicFrameLocks noGrp="1"/>
          </p:cNvGraphicFramePr>
          <p:nvPr>
            <p:extLst>
              <p:ext uri="{D42A27DB-BD31-4B8C-83A1-F6EECF244321}">
                <p14:modId xmlns:p14="http://schemas.microsoft.com/office/powerpoint/2010/main" val="3788753944"/>
              </p:ext>
            </p:extLst>
          </p:nvPr>
        </p:nvGraphicFramePr>
        <p:xfrm>
          <a:off x="817563" y="1217436"/>
          <a:ext cx="10556874" cy="4423127"/>
        </p:xfrm>
        <a:graphic>
          <a:graphicData uri="http://schemas.openxmlformats.org/drawingml/2006/table">
            <a:tbl>
              <a:tblPr firstRow="1" firstCol="1" bandRow="1">
                <a:tableStyleId>{5C22544A-7EE6-4342-B048-85BDC9FD1C3A}</a:tableStyleId>
              </a:tblPr>
              <a:tblGrid>
                <a:gridCol w="3381680">
                  <a:extLst>
                    <a:ext uri="{9D8B030D-6E8A-4147-A177-3AD203B41FA5}">
                      <a16:colId xmlns:a16="http://schemas.microsoft.com/office/drawing/2014/main" val="3040777275"/>
                    </a:ext>
                  </a:extLst>
                </a:gridCol>
                <a:gridCol w="1065838">
                  <a:extLst>
                    <a:ext uri="{9D8B030D-6E8A-4147-A177-3AD203B41FA5}">
                      <a16:colId xmlns:a16="http://schemas.microsoft.com/office/drawing/2014/main" val="2602978673"/>
                    </a:ext>
                  </a:extLst>
                </a:gridCol>
                <a:gridCol w="1120218">
                  <a:extLst>
                    <a:ext uri="{9D8B030D-6E8A-4147-A177-3AD203B41FA5}">
                      <a16:colId xmlns:a16="http://schemas.microsoft.com/office/drawing/2014/main" val="3480121301"/>
                    </a:ext>
                  </a:extLst>
                </a:gridCol>
                <a:gridCol w="963605">
                  <a:extLst>
                    <a:ext uri="{9D8B030D-6E8A-4147-A177-3AD203B41FA5}">
                      <a16:colId xmlns:a16="http://schemas.microsoft.com/office/drawing/2014/main" val="3995199119"/>
                    </a:ext>
                  </a:extLst>
                </a:gridCol>
                <a:gridCol w="1070914">
                  <a:extLst>
                    <a:ext uri="{9D8B030D-6E8A-4147-A177-3AD203B41FA5}">
                      <a16:colId xmlns:a16="http://schemas.microsoft.com/office/drawing/2014/main" val="375569967"/>
                    </a:ext>
                  </a:extLst>
                </a:gridCol>
                <a:gridCol w="1018709">
                  <a:extLst>
                    <a:ext uri="{9D8B030D-6E8A-4147-A177-3AD203B41FA5}">
                      <a16:colId xmlns:a16="http://schemas.microsoft.com/office/drawing/2014/main" val="2243042820"/>
                    </a:ext>
                  </a:extLst>
                </a:gridCol>
                <a:gridCol w="1017984">
                  <a:extLst>
                    <a:ext uri="{9D8B030D-6E8A-4147-A177-3AD203B41FA5}">
                      <a16:colId xmlns:a16="http://schemas.microsoft.com/office/drawing/2014/main" val="3996072681"/>
                    </a:ext>
                  </a:extLst>
                </a:gridCol>
                <a:gridCol w="917926">
                  <a:extLst>
                    <a:ext uri="{9D8B030D-6E8A-4147-A177-3AD203B41FA5}">
                      <a16:colId xmlns:a16="http://schemas.microsoft.com/office/drawing/2014/main" val="314047519"/>
                    </a:ext>
                  </a:extLst>
                </a:gridCol>
              </a:tblGrid>
              <a:tr h="1051677">
                <a:tc>
                  <a:txBody>
                    <a:bodyPr/>
                    <a:lstStyle/>
                    <a:p>
                      <a:pPr algn="just">
                        <a:lnSpc>
                          <a:spcPct val="107000"/>
                        </a:lnSpc>
                        <a:spcAft>
                          <a:spcPts val="800"/>
                        </a:spcAft>
                        <a:tabLst>
                          <a:tab pos="1461770" algn="l"/>
                        </a:tabLst>
                      </a:pPr>
                      <a:r>
                        <a:rPr lang="ru-RU" sz="1400">
                          <a:effectLst/>
                        </a:rPr>
                        <a:t>	Количество</a:t>
                      </a:r>
                      <a:endParaRPr lang="ru-RU" sz="1100">
                        <a:effectLst/>
                      </a:endParaRPr>
                    </a:p>
                    <a:p>
                      <a:pPr algn="just">
                        <a:lnSpc>
                          <a:spcPct val="107000"/>
                        </a:lnSpc>
                        <a:spcAft>
                          <a:spcPts val="800"/>
                        </a:spcAft>
                        <a:tabLst>
                          <a:tab pos="1642110" algn="l"/>
                        </a:tabLst>
                      </a:pPr>
                      <a:r>
                        <a:rPr lang="ru-RU" sz="1400">
                          <a:effectLst/>
                        </a:rPr>
                        <a:t>	компонент</a:t>
                      </a:r>
                      <a:endParaRPr lang="ru-RU" sz="1100">
                        <a:effectLst/>
                      </a:endParaRPr>
                    </a:p>
                    <a:p>
                      <a:pPr algn="just">
                        <a:lnSpc>
                          <a:spcPct val="150000"/>
                        </a:lnSpc>
                        <a:spcAft>
                          <a:spcPts val="800"/>
                        </a:spcAft>
                      </a:pPr>
                      <a:r>
                        <a:rPr lang="ru-RU" sz="1400">
                          <a:effectLst/>
                        </a:rPr>
                        <a:t>Метод</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Aft>
                          <a:spcPts val="800"/>
                        </a:spcAft>
                      </a:pPr>
                      <a:r>
                        <a:rPr lang="en-US" sz="1400">
                          <a:effectLst/>
                        </a:rPr>
                        <a:t>k = 5</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en-US" sz="1400">
                          <a:effectLst/>
                        </a:rPr>
                        <a:t>k = 15</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en-US" sz="1400">
                          <a:effectLst/>
                        </a:rPr>
                        <a:t>k = 30</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en-US" sz="1400">
                          <a:effectLst/>
                        </a:rPr>
                        <a:t>k = 50</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en-US" sz="1400">
                          <a:effectLst/>
                        </a:rPr>
                        <a:t>k = 70</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en-US" sz="1400">
                          <a:effectLst/>
                        </a:rPr>
                        <a:t>k = 100</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en-US" sz="1400">
                          <a:effectLst/>
                        </a:rPr>
                        <a:t>k = 200</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29785333"/>
                  </a:ext>
                </a:extLst>
              </a:tr>
              <a:tr h="674290">
                <a:tc>
                  <a:txBody>
                    <a:bodyPr/>
                    <a:lstStyle/>
                    <a:p>
                      <a:pPr algn="ctr">
                        <a:lnSpc>
                          <a:spcPct val="150000"/>
                        </a:lnSpc>
                        <a:spcAft>
                          <a:spcPts val="800"/>
                        </a:spcAft>
                      </a:pPr>
                      <a:r>
                        <a:rPr lang="ru-RU" sz="1400">
                          <a:effectLst/>
                        </a:rPr>
                        <a:t>np.linalg.svd</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effectLst/>
                        </a:rPr>
                        <a:t>26,59612</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effectLst/>
                        </a:rPr>
                        <a:t>15,73733</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effectLst/>
                        </a:rPr>
                        <a:t>10,48606</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effectLst/>
                        </a:rPr>
                        <a:t>7,414381</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effectLst/>
                        </a:rPr>
                        <a:t>5,585354</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effectLst/>
                        </a:rPr>
                        <a:t>3,817301</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effectLst/>
                        </a:rPr>
                        <a:t>0,994909</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793519324"/>
                  </a:ext>
                </a:extLst>
              </a:tr>
              <a:tr h="674290">
                <a:tc>
                  <a:txBody>
                    <a:bodyPr/>
                    <a:lstStyle/>
                    <a:p>
                      <a:pPr algn="ctr">
                        <a:lnSpc>
                          <a:spcPct val="150000"/>
                        </a:lnSpc>
                        <a:spcAft>
                          <a:spcPts val="800"/>
                        </a:spcAft>
                      </a:pPr>
                      <a:r>
                        <a:rPr lang="ru-RU" sz="1400">
                          <a:effectLst/>
                        </a:rPr>
                        <a:t>scipy.linalg.svd</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effectLst/>
                        </a:rPr>
                        <a:t>26,59612</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effectLst/>
                        </a:rPr>
                        <a:t>15,73733</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effectLst/>
                        </a:rPr>
                        <a:t>10,48606</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effectLst/>
                        </a:rPr>
                        <a:t>7,414381</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effectLst/>
                        </a:rPr>
                        <a:t>5,585354</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effectLst/>
                        </a:rPr>
                        <a:t>3,817301</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effectLst/>
                        </a:rPr>
                        <a:t>0,994909</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394446541"/>
                  </a:ext>
                </a:extLst>
              </a:tr>
              <a:tr h="674290">
                <a:tc>
                  <a:txBody>
                    <a:bodyPr/>
                    <a:lstStyle/>
                    <a:p>
                      <a:pPr algn="ctr">
                        <a:lnSpc>
                          <a:spcPct val="150000"/>
                        </a:lnSpc>
                        <a:spcAft>
                          <a:spcPts val="800"/>
                        </a:spcAft>
                      </a:pPr>
                      <a:r>
                        <a:rPr lang="ru-RU" sz="1400">
                          <a:effectLst/>
                        </a:rPr>
                        <a:t>sklearn.decomposition.randomized_svd</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effectLst/>
                        </a:rPr>
                        <a:t>26,59612</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effectLst/>
                        </a:rPr>
                        <a:t>15,73733</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effectLst/>
                        </a:rPr>
                        <a:t>10,48808</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effectLst/>
                        </a:rPr>
                        <a:t>7,420647</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effectLst/>
                        </a:rPr>
                        <a:t>5,591879</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effectLst/>
                        </a:rPr>
                        <a:t>3,823166</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effectLst/>
                        </a:rPr>
                        <a:t>0,997105</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560476188"/>
                  </a:ext>
                </a:extLst>
              </a:tr>
              <a:tr h="674290">
                <a:tc>
                  <a:txBody>
                    <a:bodyPr/>
                    <a:lstStyle/>
                    <a:p>
                      <a:pPr algn="ctr">
                        <a:lnSpc>
                          <a:spcPct val="150000"/>
                        </a:lnSpc>
                        <a:spcAft>
                          <a:spcPts val="800"/>
                        </a:spcAft>
                      </a:pPr>
                      <a:r>
                        <a:rPr lang="en-US" sz="1400">
                          <a:effectLst/>
                        </a:rPr>
                        <a:t>sklearn.utils.extmath.randomized_svd</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effectLst/>
                        </a:rPr>
                        <a:t>26,59612</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effectLst/>
                        </a:rPr>
                        <a:t>15,73733</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effectLst/>
                        </a:rPr>
                        <a:t>10,48825</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effectLst/>
                        </a:rPr>
                        <a:t>7,41828</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effectLst/>
                        </a:rPr>
                        <a:t>5,592023</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effectLst/>
                        </a:rPr>
                        <a:t>3,823171</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effectLst/>
                        </a:rPr>
                        <a:t>0,997939</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912334018"/>
                  </a:ext>
                </a:extLst>
              </a:tr>
              <a:tr h="674290">
                <a:tc>
                  <a:txBody>
                    <a:bodyPr/>
                    <a:lstStyle/>
                    <a:p>
                      <a:pPr algn="ctr">
                        <a:lnSpc>
                          <a:spcPct val="150000"/>
                        </a:lnSpc>
                        <a:spcAft>
                          <a:spcPts val="800"/>
                        </a:spcAft>
                      </a:pPr>
                      <a:r>
                        <a:rPr lang="ru-RU" sz="1400">
                          <a:effectLst/>
                        </a:rPr>
                        <a:t>torch.linalg.svd</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effectLst/>
                        </a:rPr>
                        <a:t>26,59612</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effectLst/>
                        </a:rPr>
                        <a:t>15,73733</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effectLst/>
                        </a:rPr>
                        <a:t>10,48606</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effectLst/>
                        </a:rPr>
                        <a:t>7,414381</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effectLst/>
                        </a:rPr>
                        <a:t>5,585354</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effectLst/>
                        </a:rPr>
                        <a:t>3,817301</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effectLst/>
                        </a:rPr>
                        <a:t>0,994909</a:t>
                      </a:r>
                      <a:endParaRPr lang="ru-RU"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927762502"/>
                  </a:ext>
                </a:extLst>
              </a:tr>
            </a:tbl>
          </a:graphicData>
        </a:graphic>
      </p:graphicFrame>
      <p:sp>
        <p:nvSpPr>
          <p:cNvPr id="4" name="Блок-схема: узел 3">
            <a:extLst>
              <a:ext uri="{FF2B5EF4-FFF2-40B4-BE49-F238E27FC236}">
                <a16:creationId xmlns:a16="http://schemas.microsoft.com/office/drawing/2014/main" id="{55008F5D-6DC6-44D0-934C-5EAE95252ED3}"/>
              </a:ext>
            </a:extLst>
          </p:cNvPr>
          <p:cNvSpPr/>
          <p:nvPr/>
        </p:nvSpPr>
        <p:spPr>
          <a:xfrm>
            <a:off x="11393850" y="6067424"/>
            <a:ext cx="720000" cy="720000"/>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solidFill>
                  <a:schemeClr val="tx1"/>
                </a:solidFill>
                <a:latin typeface="Times New Roman" panose="02020603050405020304" pitchFamily="18" charset="0"/>
                <a:cs typeface="Times New Roman" panose="02020603050405020304" pitchFamily="18" charset="0"/>
              </a:rPr>
              <a:t>23</a:t>
            </a:r>
          </a:p>
        </p:txBody>
      </p:sp>
      <p:sp>
        <p:nvSpPr>
          <p:cNvPr id="5" name="Заголовок 1">
            <a:extLst>
              <a:ext uri="{FF2B5EF4-FFF2-40B4-BE49-F238E27FC236}">
                <a16:creationId xmlns:a16="http://schemas.microsoft.com/office/drawing/2014/main" id="{8F4389D5-716F-4781-856E-759B9780040C}"/>
              </a:ext>
            </a:extLst>
          </p:cNvPr>
          <p:cNvSpPr txBox="1">
            <a:spLocks/>
          </p:cNvSpPr>
          <p:nvPr/>
        </p:nvSpPr>
        <p:spPr>
          <a:xfrm>
            <a:off x="285749" y="307976"/>
            <a:ext cx="4733926" cy="4445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ru-RU" sz="3200" b="1" dirty="0">
                <a:effectLst/>
                <a:latin typeface="Times New Roman" panose="02020603050405020304" pitchFamily="18" charset="0"/>
                <a:ea typeface="Calibri" panose="020F0502020204030204" pitchFamily="34" charset="0"/>
              </a:rPr>
              <a:t>Оценка методов</a:t>
            </a:r>
            <a:endParaRPr lang="ru-RU"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46636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id="{D8237C7A-F10B-4BC5-802A-7D0C0A008AB2}"/>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04415" y="1078774"/>
            <a:ext cx="7583170" cy="5708650"/>
          </a:xfrm>
          <a:prstGeom prst="rect">
            <a:avLst/>
          </a:prstGeom>
          <a:noFill/>
          <a:ln>
            <a:noFill/>
          </a:ln>
        </p:spPr>
      </p:pic>
      <p:sp>
        <p:nvSpPr>
          <p:cNvPr id="4" name="Блок-схема: узел 3">
            <a:extLst>
              <a:ext uri="{FF2B5EF4-FFF2-40B4-BE49-F238E27FC236}">
                <a16:creationId xmlns:a16="http://schemas.microsoft.com/office/drawing/2014/main" id="{BE3D0468-6A20-44B2-8199-A83FE180DF70}"/>
              </a:ext>
            </a:extLst>
          </p:cNvPr>
          <p:cNvSpPr/>
          <p:nvPr/>
        </p:nvSpPr>
        <p:spPr>
          <a:xfrm>
            <a:off x="11393850" y="6067424"/>
            <a:ext cx="720000" cy="720000"/>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solidFill>
                  <a:schemeClr val="tx1"/>
                </a:solidFill>
                <a:latin typeface="Times New Roman" panose="02020603050405020304" pitchFamily="18" charset="0"/>
                <a:cs typeface="Times New Roman" panose="02020603050405020304" pitchFamily="18" charset="0"/>
              </a:rPr>
              <a:t>24</a:t>
            </a:r>
          </a:p>
        </p:txBody>
      </p:sp>
      <p:sp>
        <p:nvSpPr>
          <p:cNvPr id="5" name="Заголовок 1">
            <a:extLst>
              <a:ext uri="{FF2B5EF4-FFF2-40B4-BE49-F238E27FC236}">
                <a16:creationId xmlns:a16="http://schemas.microsoft.com/office/drawing/2014/main" id="{0D0508AA-F659-4E41-AB52-489AD7755B53}"/>
              </a:ext>
            </a:extLst>
          </p:cNvPr>
          <p:cNvSpPr txBox="1">
            <a:spLocks/>
          </p:cNvSpPr>
          <p:nvPr/>
        </p:nvSpPr>
        <p:spPr>
          <a:xfrm>
            <a:off x="285749" y="307976"/>
            <a:ext cx="4733926" cy="4445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ru-RU" sz="3200" b="1" dirty="0">
                <a:effectLst/>
                <a:latin typeface="Times New Roman" panose="02020603050405020304" pitchFamily="18" charset="0"/>
                <a:ea typeface="Calibri" panose="020F0502020204030204" pitchFamily="34" charset="0"/>
              </a:rPr>
              <a:t>Оценка методов</a:t>
            </a:r>
            <a:endParaRPr lang="ru-RU" sz="32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CDA82C5D-627A-452F-956F-C8F9BBB3DC7C}"/>
              </a:ext>
            </a:extLst>
          </p:cNvPr>
          <p:cNvSpPr txBox="1"/>
          <p:nvPr/>
        </p:nvSpPr>
        <p:spPr>
          <a:xfrm>
            <a:off x="3843338" y="647887"/>
            <a:ext cx="4505323" cy="430887"/>
          </a:xfrm>
          <a:prstGeom prst="rect">
            <a:avLst/>
          </a:prstGeom>
          <a:noFill/>
        </p:spPr>
        <p:txBody>
          <a:bodyPr wrap="square">
            <a:spAutoFit/>
          </a:bodyPr>
          <a:lstStyle/>
          <a:p>
            <a:r>
              <a:rPr lang="ru-RU" sz="2200" dirty="0" err="1">
                <a:effectLst/>
                <a:latin typeface="Times New Roman" panose="02020603050405020304" pitchFamily="18" charset="0"/>
                <a:ea typeface="Calibri" panose="020F0502020204030204" pitchFamily="34" charset="0"/>
              </a:rPr>
              <a:t>sklearn.decomposition.TruncatedSVD</a:t>
            </a:r>
            <a:endParaRPr lang="ru-RU" sz="2200" dirty="0"/>
          </a:p>
        </p:txBody>
      </p:sp>
    </p:spTree>
    <p:extLst>
      <p:ext uri="{BB962C8B-B14F-4D97-AF65-F5344CB8AC3E}">
        <p14:creationId xmlns:p14="http://schemas.microsoft.com/office/powerpoint/2010/main" val="15850037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Таблица 1">
            <a:extLst>
              <a:ext uri="{FF2B5EF4-FFF2-40B4-BE49-F238E27FC236}">
                <a16:creationId xmlns:a16="http://schemas.microsoft.com/office/drawing/2014/main" id="{C9CE8B17-4E02-437F-9A27-7B7AAAC52695}"/>
              </a:ext>
            </a:extLst>
          </p:cNvPr>
          <p:cNvGraphicFramePr>
            <a:graphicFrameLocks noGrp="1"/>
          </p:cNvGraphicFramePr>
          <p:nvPr>
            <p:extLst>
              <p:ext uri="{D42A27DB-BD31-4B8C-83A1-F6EECF244321}">
                <p14:modId xmlns:p14="http://schemas.microsoft.com/office/powerpoint/2010/main" val="1405132091"/>
              </p:ext>
            </p:extLst>
          </p:nvPr>
        </p:nvGraphicFramePr>
        <p:xfrm>
          <a:off x="530224" y="997233"/>
          <a:ext cx="11242675" cy="5598924"/>
        </p:xfrm>
        <a:graphic>
          <a:graphicData uri="http://schemas.openxmlformats.org/drawingml/2006/table">
            <a:tbl>
              <a:tblPr firstRow="1" firstCol="1" bandRow="1">
                <a:tableStyleId>{5C22544A-7EE6-4342-B048-85BDC9FD1C3A}</a:tableStyleId>
              </a:tblPr>
              <a:tblGrid>
                <a:gridCol w="2248535">
                  <a:extLst>
                    <a:ext uri="{9D8B030D-6E8A-4147-A177-3AD203B41FA5}">
                      <a16:colId xmlns:a16="http://schemas.microsoft.com/office/drawing/2014/main" val="2325977005"/>
                    </a:ext>
                  </a:extLst>
                </a:gridCol>
                <a:gridCol w="2248535">
                  <a:extLst>
                    <a:ext uri="{9D8B030D-6E8A-4147-A177-3AD203B41FA5}">
                      <a16:colId xmlns:a16="http://schemas.microsoft.com/office/drawing/2014/main" val="2657643689"/>
                    </a:ext>
                  </a:extLst>
                </a:gridCol>
                <a:gridCol w="2248535">
                  <a:extLst>
                    <a:ext uri="{9D8B030D-6E8A-4147-A177-3AD203B41FA5}">
                      <a16:colId xmlns:a16="http://schemas.microsoft.com/office/drawing/2014/main" val="1338937014"/>
                    </a:ext>
                  </a:extLst>
                </a:gridCol>
                <a:gridCol w="2248535">
                  <a:extLst>
                    <a:ext uri="{9D8B030D-6E8A-4147-A177-3AD203B41FA5}">
                      <a16:colId xmlns:a16="http://schemas.microsoft.com/office/drawing/2014/main" val="518112998"/>
                    </a:ext>
                  </a:extLst>
                </a:gridCol>
                <a:gridCol w="2248535">
                  <a:extLst>
                    <a:ext uri="{9D8B030D-6E8A-4147-A177-3AD203B41FA5}">
                      <a16:colId xmlns:a16="http://schemas.microsoft.com/office/drawing/2014/main" val="1974277620"/>
                    </a:ext>
                  </a:extLst>
                </a:gridCol>
              </a:tblGrid>
              <a:tr h="619573">
                <a:tc>
                  <a:txBody>
                    <a:bodyPr/>
                    <a:lstStyle/>
                    <a:p>
                      <a:pPr algn="ctr">
                        <a:lnSpc>
                          <a:spcPct val="150000"/>
                        </a:lnSpc>
                        <a:spcAft>
                          <a:spcPts val="800"/>
                        </a:spcAft>
                      </a:pPr>
                      <a:r>
                        <a:rPr lang="ru-RU" sz="1400" dirty="0">
                          <a:effectLst/>
                          <a:latin typeface="Times New Roman" panose="02020603050405020304" pitchFamily="18" charset="0"/>
                          <a:cs typeface="Times New Roman" panose="02020603050405020304" pitchFamily="18" charset="0"/>
                        </a:rPr>
                        <a:t>Количество компонент</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effectLst/>
                          <a:latin typeface="Times New Roman" panose="02020603050405020304" pitchFamily="18" charset="0"/>
                          <a:cs typeface="Times New Roman" panose="02020603050405020304" pitchFamily="18" charset="0"/>
                        </a:rPr>
                        <a:t>Алгоритм</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err="1">
                          <a:effectLst/>
                          <a:latin typeface="Times New Roman" panose="02020603050405020304" pitchFamily="18" charset="0"/>
                          <a:cs typeface="Times New Roman" panose="02020603050405020304" pitchFamily="18" charset="0"/>
                        </a:rPr>
                        <a:t>Передискретизация</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effectLst/>
                          <a:latin typeface="Times New Roman" panose="02020603050405020304" pitchFamily="18" charset="0"/>
                          <a:cs typeface="Times New Roman" panose="02020603050405020304" pitchFamily="18" charset="0"/>
                        </a:rPr>
                        <a:t>Ортогонализация</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effectLst/>
                          <a:latin typeface="Times New Roman" panose="02020603050405020304" pitchFamily="18" charset="0"/>
                          <a:cs typeface="Times New Roman" panose="02020603050405020304" pitchFamily="18" charset="0"/>
                        </a:rPr>
                        <a:t>Ошибка</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296787977"/>
                  </a:ext>
                </a:extLst>
              </a:tr>
              <a:tr h="292903">
                <a:tc>
                  <a:txBody>
                    <a:bodyPr/>
                    <a:lstStyle/>
                    <a:p>
                      <a:pPr algn="ctr">
                        <a:lnSpc>
                          <a:spcPct val="150000"/>
                        </a:lnSpc>
                        <a:spcAft>
                          <a:spcPts val="800"/>
                        </a:spcAft>
                      </a:pPr>
                      <a:r>
                        <a:rPr lang="ru-RU" sz="1400" dirty="0">
                          <a:effectLst/>
                          <a:latin typeface="Times New Roman" panose="02020603050405020304" pitchFamily="18" charset="0"/>
                          <a:cs typeface="Times New Roman" panose="02020603050405020304" pitchFamily="18" charset="0"/>
                        </a:rPr>
                        <a:t>10</a:t>
                      </a:r>
                      <a:endParaRPr lang="ru-RU"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err="1">
                          <a:effectLst/>
                          <a:latin typeface="Times New Roman" panose="02020603050405020304" pitchFamily="18" charset="0"/>
                          <a:cs typeface="Times New Roman" panose="02020603050405020304" pitchFamily="18" charset="0"/>
                        </a:rPr>
                        <a:t>arpack</a:t>
                      </a:r>
                      <a:endParaRPr lang="ru-RU"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effectLst/>
                          <a:latin typeface="Times New Roman" panose="02020603050405020304" pitchFamily="18" charset="0"/>
                          <a:cs typeface="Times New Roman" panose="02020603050405020304" pitchFamily="18" charset="0"/>
                        </a:rPr>
                        <a:t>5</a:t>
                      </a:r>
                      <a:endParaRPr lang="ru-RU"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effectLst/>
                          <a:latin typeface="Times New Roman" panose="02020603050405020304" pitchFamily="18" charset="0"/>
                          <a:cs typeface="Times New Roman" panose="02020603050405020304" pitchFamily="18" charset="0"/>
                        </a:rPr>
                        <a:t>OR</a:t>
                      </a:r>
                      <a:endParaRPr lang="ru-RU"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effectLst/>
                          <a:latin typeface="Times New Roman" panose="02020603050405020304" pitchFamily="18" charset="0"/>
                          <a:cs typeface="Times New Roman" panose="02020603050405020304" pitchFamily="18" charset="0"/>
                        </a:rPr>
                        <a:t>19,34099</a:t>
                      </a:r>
                      <a:endParaRPr lang="ru-RU"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FF0000"/>
                    </a:solidFill>
                  </a:tcPr>
                </a:tc>
                <a:extLst>
                  <a:ext uri="{0D108BD9-81ED-4DB2-BD59-A6C34878D82A}">
                    <a16:rowId xmlns:a16="http://schemas.microsoft.com/office/drawing/2014/main" val="2431024367"/>
                  </a:ext>
                </a:extLst>
              </a:tr>
              <a:tr h="292903">
                <a:tc>
                  <a:txBody>
                    <a:bodyPr/>
                    <a:lstStyle/>
                    <a:p>
                      <a:pPr algn="ctr">
                        <a:lnSpc>
                          <a:spcPct val="150000"/>
                        </a:lnSpc>
                        <a:spcAft>
                          <a:spcPts val="800"/>
                        </a:spcAft>
                      </a:pPr>
                      <a:r>
                        <a:rPr lang="ru-RU" sz="1400" dirty="0">
                          <a:effectLst/>
                          <a:latin typeface="Times New Roman" panose="02020603050405020304" pitchFamily="18" charset="0"/>
                          <a:cs typeface="Times New Roman" panose="02020603050405020304" pitchFamily="18" charset="0"/>
                        </a:rPr>
                        <a:t>10</a:t>
                      </a:r>
                      <a:endParaRPr lang="ru-RU"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err="1">
                          <a:effectLst/>
                          <a:latin typeface="Times New Roman" panose="02020603050405020304" pitchFamily="18" charset="0"/>
                          <a:cs typeface="Times New Roman" panose="02020603050405020304" pitchFamily="18" charset="0"/>
                        </a:rPr>
                        <a:t>arpack</a:t>
                      </a:r>
                      <a:endParaRPr lang="ru-RU"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effectLst/>
                          <a:latin typeface="Times New Roman" panose="02020603050405020304" pitchFamily="18" charset="0"/>
                          <a:cs typeface="Times New Roman" panose="02020603050405020304" pitchFamily="18" charset="0"/>
                        </a:rPr>
                        <a:t>5</a:t>
                      </a:r>
                      <a:endParaRPr lang="ru-RU"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effectLst/>
                          <a:latin typeface="Times New Roman" panose="02020603050405020304" pitchFamily="18" charset="0"/>
                          <a:cs typeface="Times New Roman" panose="02020603050405020304" pitchFamily="18" charset="0"/>
                        </a:rPr>
                        <a:t>LU</a:t>
                      </a:r>
                      <a:endParaRPr lang="ru-RU"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effectLst/>
                          <a:latin typeface="Times New Roman" panose="02020603050405020304" pitchFamily="18" charset="0"/>
                          <a:cs typeface="Times New Roman" panose="02020603050405020304" pitchFamily="18" charset="0"/>
                        </a:rPr>
                        <a:t>19,34099</a:t>
                      </a:r>
                      <a:endParaRPr lang="ru-RU"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FF0000"/>
                    </a:solidFill>
                  </a:tcPr>
                </a:tc>
                <a:extLst>
                  <a:ext uri="{0D108BD9-81ED-4DB2-BD59-A6C34878D82A}">
                    <a16:rowId xmlns:a16="http://schemas.microsoft.com/office/drawing/2014/main" val="1841585223"/>
                  </a:ext>
                </a:extLst>
              </a:tr>
              <a:tr h="292903">
                <a:tc>
                  <a:txBody>
                    <a:bodyPr/>
                    <a:lstStyle/>
                    <a:p>
                      <a:pPr algn="ctr">
                        <a:lnSpc>
                          <a:spcPct val="150000"/>
                        </a:lnSpc>
                        <a:spcAft>
                          <a:spcPts val="800"/>
                        </a:spcAft>
                      </a:pPr>
                      <a:r>
                        <a:rPr lang="ru-RU" sz="1400">
                          <a:effectLst/>
                          <a:latin typeface="Times New Roman" panose="02020603050405020304" pitchFamily="18" charset="0"/>
                          <a:cs typeface="Times New Roman" panose="02020603050405020304" pitchFamily="18" charset="0"/>
                        </a:rPr>
                        <a:t>10</a:t>
                      </a:r>
                      <a:endParaRPr lang="ru-RU"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err="1">
                          <a:effectLst/>
                          <a:latin typeface="Times New Roman" panose="02020603050405020304" pitchFamily="18" charset="0"/>
                          <a:cs typeface="Times New Roman" panose="02020603050405020304" pitchFamily="18" charset="0"/>
                        </a:rPr>
                        <a:t>arpack</a:t>
                      </a:r>
                      <a:endParaRPr lang="ru-RU"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effectLst/>
                          <a:latin typeface="Times New Roman" panose="02020603050405020304" pitchFamily="18" charset="0"/>
                          <a:cs typeface="Times New Roman" panose="02020603050405020304" pitchFamily="18" charset="0"/>
                        </a:rPr>
                        <a:t>10</a:t>
                      </a:r>
                      <a:endParaRPr lang="ru-RU"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effectLst/>
                          <a:latin typeface="Times New Roman" panose="02020603050405020304" pitchFamily="18" charset="0"/>
                          <a:cs typeface="Times New Roman" panose="02020603050405020304" pitchFamily="18" charset="0"/>
                        </a:rPr>
                        <a:t>OR</a:t>
                      </a:r>
                      <a:endParaRPr lang="ru-RU"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effectLst/>
                          <a:latin typeface="Times New Roman" panose="02020603050405020304" pitchFamily="18" charset="0"/>
                          <a:cs typeface="Times New Roman" panose="02020603050405020304" pitchFamily="18" charset="0"/>
                        </a:rPr>
                        <a:t>19,34099</a:t>
                      </a:r>
                      <a:endParaRPr lang="ru-RU"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FF0000"/>
                    </a:solidFill>
                  </a:tcPr>
                </a:tc>
                <a:extLst>
                  <a:ext uri="{0D108BD9-81ED-4DB2-BD59-A6C34878D82A}">
                    <a16:rowId xmlns:a16="http://schemas.microsoft.com/office/drawing/2014/main" val="2839486870"/>
                  </a:ext>
                </a:extLst>
              </a:tr>
              <a:tr h="292903">
                <a:tc>
                  <a:txBody>
                    <a:bodyPr/>
                    <a:lstStyle/>
                    <a:p>
                      <a:pPr algn="ctr">
                        <a:lnSpc>
                          <a:spcPct val="150000"/>
                        </a:lnSpc>
                        <a:spcAft>
                          <a:spcPts val="800"/>
                        </a:spcAft>
                      </a:pPr>
                      <a:r>
                        <a:rPr lang="ru-RU" sz="1400" dirty="0">
                          <a:effectLst/>
                          <a:latin typeface="Times New Roman" panose="02020603050405020304" pitchFamily="18" charset="0"/>
                          <a:cs typeface="Times New Roman" panose="02020603050405020304" pitchFamily="18" charset="0"/>
                        </a:rPr>
                        <a:t>10</a:t>
                      </a:r>
                      <a:endParaRPr lang="ru-RU"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effectLst/>
                          <a:latin typeface="Times New Roman" panose="02020603050405020304" pitchFamily="18" charset="0"/>
                          <a:cs typeface="Times New Roman" panose="02020603050405020304" pitchFamily="18" charset="0"/>
                        </a:rPr>
                        <a:t>arpack</a:t>
                      </a:r>
                      <a:endParaRPr lang="ru-RU"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effectLst/>
                          <a:latin typeface="Times New Roman" panose="02020603050405020304" pitchFamily="18" charset="0"/>
                          <a:cs typeface="Times New Roman" panose="02020603050405020304" pitchFamily="18" charset="0"/>
                        </a:rPr>
                        <a:t>10</a:t>
                      </a:r>
                      <a:endParaRPr lang="ru-RU"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effectLst/>
                          <a:latin typeface="Times New Roman" panose="02020603050405020304" pitchFamily="18" charset="0"/>
                          <a:cs typeface="Times New Roman" panose="02020603050405020304" pitchFamily="18" charset="0"/>
                        </a:rPr>
                        <a:t>LU</a:t>
                      </a:r>
                      <a:endParaRPr lang="ru-RU"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effectLst/>
                          <a:latin typeface="Times New Roman" panose="02020603050405020304" pitchFamily="18" charset="0"/>
                          <a:cs typeface="Times New Roman" panose="02020603050405020304" pitchFamily="18" charset="0"/>
                        </a:rPr>
                        <a:t>19,34099</a:t>
                      </a:r>
                      <a:endParaRPr lang="ru-RU"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FF0000"/>
                    </a:solidFill>
                  </a:tcPr>
                </a:tc>
                <a:extLst>
                  <a:ext uri="{0D108BD9-81ED-4DB2-BD59-A6C34878D82A}">
                    <a16:rowId xmlns:a16="http://schemas.microsoft.com/office/drawing/2014/main" val="4054795481"/>
                  </a:ext>
                </a:extLst>
              </a:tr>
              <a:tr h="292903">
                <a:tc>
                  <a:txBody>
                    <a:bodyPr/>
                    <a:lstStyle/>
                    <a:p>
                      <a:pPr algn="ctr">
                        <a:lnSpc>
                          <a:spcPct val="150000"/>
                        </a:lnSpc>
                        <a:spcAft>
                          <a:spcPts val="800"/>
                        </a:spcAft>
                      </a:pPr>
                      <a:r>
                        <a:rPr lang="ru-RU" sz="1400" dirty="0">
                          <a:effectLst/>
                          <a:latin typeface="Times New Roman" panose="02020603050405020304" pitchFamily="18" charset="0"/>
                          <a:cs typeface="Times New Roman" panose="02020603050405020304" pitchFamily="18" charset="0"/>
                        </a:rPr>
                        <a:t>10</a:t>
                      </a:r>
                      <a:endParaRPr lang="ru-RU"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err="1">
                          <a:effectLst/>
                          <a:latin typeface="Times New Roman" panose="02020603050405020304" pitchFamily="18" charset="0"/>
                          <a:cs typeface="Times New Roman" panose="02020603050405020304" pitchFamily="18" charset="0"/>
                        </a:rPr>
                        <a:t>arpack</a:t>
                      </a:r>
                      <a:endParaRPr lang="ru-RU"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effectLst/>
                          <a:latin typeface="Times New Roman" panose="02020603050405020304" pitchFamily="18" charset="0"/>
                          <a:cs typeface="Times New Roman" panose="02020603050405020304" pitchFamily="18" charset="0"/>
                        </a:rPr>
                        <a:t>20</a:t>
                      </a:r>
                      <a:endParaRPr lang="ru-RU"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effectLst/>
                          <a:latin typeface="Times New Roman" panose="02020603050405020304" pitchFamily="18" charset="0"/>
                          <a:cs typeface="Times New Roman" panose="02020603050405020304" pitchFamily="18" charset="0"/>
                        </a:rPr>
                        <a:t>OR</a:t>
                      </a:r>
                      <a:endParaRPr lang="ru-RU"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effectLst/>
                          <a:latin typeface="Times New Roman" panose="02020603050405020304" pitchFamily="18" charset="0"/>
                          <a:cs typeface="Times New Roman" panose="02020603050405020304" pitchFamily="18" charset="0"/>
                        </a:rPr>
                        <a:t>19,34099</a:t>
                      </a:r>
                      <a:endParaRPr lang="ru-RU"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FF0000"/>
                    </a:solidFill>
                  </a:tcPr>
                </a:tc>
                <a:extLst>
                  <a:ext uri="{0D108BD9-81ED-4DB2-BD59-A6C34878D82A}">
                    <a16:rowId xmlns:a16="http://schemas.microsoft.com/office/drawing/2014/main" val="1118664240"/>
                  </a:ext>
                </a:extLst>
              </a:tr>
              <a:tr h="292903">
                <a:tc>
                  <a:txBody>
                    <a:bodyPr/>
                    <a:lstStyle/>
                    <a:p>
                      <a:pPr algn="ctr">
                        <a:lnSpc>
                          <a:spcPct val="150000"/>
                        </a:lnSpc>
                        <a:spcAft>
                          <a:spcPts val="800"/>
                        </a:spcAft>
                      </a:pPr>
                      <a:r>
                        <a:rPr lang="ru-RU" sz="1400" dirty="0">
                          <a:effectLst/>
                          <a:latin typeface="Times New Roman" panose="02020603050405020304" pitchFamily="18" charset="0"/>
                          <a:cs typeface="Times New Roman" panose="02020603050405020304" pitchFamily="18" charset="0"/>
                        </a:rPr>
                        <a:t>10</a:t>
                      </a:r>
                      <a:endParaRPr lang="ru-RU"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err="1">
                          <a:effectLst/>
                          <a:latin typeface="Times New Roman" panose="02020603050405020304" pitchFamily="18" charset="0"/>
                          <a:cs typeface="Times New Roman" panose="02020603050405020304" pitchFamily="18" charset="0"/>
                        </a:rPr>
                        <a:t>arpack</a:t>
                      </a:r>
                      <a:endParaRPr lang="ru-RU"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effectLst/>
                          <a:latin typeface="Times New Roman" panose="02020603050405020304" pitchFamily="18" charset="0"/>
                          <a:cs typeface="Times New Roman" panose="02020603050405020304" pitchFamily="18" charset="0"/>
                        </a:rPr>
                        <a:t>20</a:t>
                      </a:r>
                      <a:endParaRPr lang="ru-RU"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effectLst/>
                          <a:latin typeface="Times New Roman" panose="02020603050405020304" pitchFamily="18" charset="0"/>
                          <a:cs typeface="Times New Roman" panose="02020603050405020304" pitchFamily="18" charset="0"/>
                        </a:rPr>
                        <a:t>LU</a:t>
                      </a:r>
                      <a:endParaRPr lang="ru-RU"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effectLst/>
                          <a:latin typeface="Times New Roman" panose="02020603050405020304" pitchFamily="18" charset="0"/>
                          <a:cs typeface="Times New Roman" panose="02020603050405020304" pitchFamily="18" charset="0"/>
                        </a:rPr>
                        <a:t>19,34099</a:t>
                      </a:r>
                      <a:endParaRPr lang="ru-RU"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FF0000"/>
                    </a:solidFill>
                  </a:tcPr>
                </a:tc>
                <a:extLst>
                  <a:ext uri="{0D108BD9-81ED-4DB2-BD59-A6C34878D82A}">
                    <a16:rowId xmlns:a16="http://schemas.microsoft.com/office/drawing/2014/main" val="3759963803"/>
                  </a:ext>
                </a:extLst>
              </a:tr>
              <a:tr h="292903">
                <a:tc>
                  <a:txBody>
                    <a:bodyPr/>
                    <a:lstStyle/>
                    <a:p>
                      <a:pPr algn="ctr">
                        <a:lnSpc>
                          <a:spcPct val="150000"/>
                        </a:lnSpc>
                        <a:spcAft>
                          <a:spcPts val="800"/>
                        </a:spcAft>
                      </a:pPr>
                      <a:r>
                        <a:rPr lang="ru-RU" sz="1400" dirty="0">
                          <a:effectLst/>
                          <a:latin typeface="Times New Roman" panose="02020603050405020304" pitchFamily="18" charset="0"/>
                          <a:cs typeface="Times New Roman" panose="02020603050405020304" pitchFamily="18" charset="0"/>
                        </a:rPr>
                        <a:t>10</a:t>
                      </a:r>
                      <a:endParaRPr lang="ru-RU"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effectLst/>
                          <a:latin typeface="Times New Roman" panose="02020603050405020304" pitchFamily="18" charset="0"/>
                          <a:cs typeface="Times New Roman" panose="02020603050405020304" pitchFamily="18" charset="0"/>
                        </a:rPr>
                        <a:t>randomized</a:t>
                      </a:r>
                      <a:endParaRPr lang="ru-RU"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effectLst/>
                          <a:latin typeface="Times New Roman" panose="02020603050405020304" pitchFamily="18" charset="0"/>
                          <a:cs typeface="Times New Roman" panose="02020603050405020304" pitchFamily="18" charset="0"/>
                        </a:rPr>
                        <a:t>5</a:t>
                      </a:r>
                      <a:endParaRPr lang="ru-RU"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effectLst/>
                          <a:latin typeface="Times New Roman" panose="02020603050405020304" pitchFamily="18" charset="0"/>
                          <a:cs typeface="Times New Roman" panose="02020603050405020304" pitchFamily="18" charset="0"/>
                        </a:rPr>
                        <a:t>OR</a:t>
                      </a:r>
                      <a:endParaRPr lang="ru-RU"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effectLst/>
                          <a:latin typeface="Times New Roman" panose="02020603050405020304" pitchFamily="18" charset="0"/>
                          <a:cs typeface="Times New Roman" panose="02020603050405020304" pitchFamily="18" charset="0"/>
                        </a:rPr>
                        <a:t>19,35562</a:t>
                      </a:r>
                      <a:endParaRPr lang="ru-RU"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FF0000"/>
                    </a:solidFill>
                  </a:tcPr>
                </a:tc>
                <a:extLst>
                  <a:ext uri="{0D108BD9-81ED-4DB2-BD59-A6C34878D82A}">
                    <a16:rowId xmlns:a16="http://schemas.microsoft.com/office/drawing/2014/main" val="588667091"/>
                  </a:ext>
                </a:extLst>
              </a:tr>
              <a:tr h="292903">
                <a:tc>
                  <a:txBody>
                    <a:bodyPr/>
                    <a:lstStyle/>
                    <a:p>
                      <a:pPr marL="0" algn="ctr" defTabSz="914400" rtl="0" eaLnBrk="1" latinLnBrk="0" hangingPunct="1">
                        <a:lnSpc>
                          <a:spcPct val="150000"/>
                        </a:lnSpc>
                        <a:spcAft>
                          <a:spcPts val="800"/>
                        </a:spcAft>
                      </a:pPr>
                      <a:r>
                        <a:rPr lang="ru-RU" sz="1400" b="1" kern="1200" dirty="0">
                          <a:solidFill>
                            <a:schemeClr val="lt1"/>
                          </a:solidFill>
                          <a:effectLst/>
                          <a:latin typeface="Times New Roman" panose="02020603050405020304" pitchFamily="18" charset="0"/>
                          <a:ea typeface="+mn-ea"/>
                          <a:cs typeface="Times New Roman" panose="02020603050405020304" pitchFamily="18" charset="0"/>
                        </a:rPr>
                        <a:t>10</a:t>
                      </a: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randomized</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5</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LU</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19,34106</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FF0000"/>
                    </a:solidFill>
                  </a:tcPr>
                </a:tc>
                <a:extLst>
                  <a:ext uri="{0D108BD9-81ED-4DB2-BD59-A6C34878D82A}">
                    <a16:rowId xmlns:a16="http://schemas.microsoft.com/office/drawing/2014/main" val="2595260290"/>
                  </a:ext>
                </a:extLst>
              </a:tr>
              <a:tr h="292903">
                <a:tc>
                  <a:txBody>
                    <a:bodyPr/>
                    <a:lstStyle/>
                    <a:p>
                      <a:pPr marL="0" algn="ctr" defTabSz="914400" rtl="0" eaLnBrk="1" latinLnBrk="0" hangingPunct="1">
                        <a:lnSpc>
                          <a:spcPct val="150000"/>
                        </a:lnSpc>
                        <a:spcAft>
                          <a:spcPts val="800"/>
                        </a:spcAft>
                      </a:pPr>
                      <a:r>
                        <a:rPr lang="ru-RU" sz="1400" b="1" kern="1200" dirty="0">
                          <a:solidFill>
                            <a:schemeClr val="lt1"/>
                          </a:solidFill>
                          <a:effectLst/>
                          <a:latin typeface="Times New Roman" panose="02020603050405020304" pitchFamily="18" charset="0"/>
                          <a:ea typeface="+mn-ea"/>
                          <a:cs typeface="Times New Roman" panose="02020603050405020304" pitchFamily="18" charset="0"/>
                        </a:rPr>
                        <a:t>10</a:t>
                      </a: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randomized</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10</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OR</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19,34957</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FF0000"/>
                    </a:solidFill>
                  </a:tcPr>
                </a:tc>
                <a:extLst>
                  <a:ext uri="{0D108BD9-81ED-4DB2-BD59-A6C34878D82A}">
                    <a16:rowId xmlns:a16="http://schemas.microsoft.com/office/drawing/2014/main" val="3759316436"/>
                  </a:ext>
                </a:extLst>
              </a:tr>
              <a:tr h="292903">
                <a:tc>
                  <a:txBody>
                    <a:bodyPr/>
                    <a:lstStyle/>
                    <a:p>
                      <a:pPr marL="0" algn="ctr" defTabSz="914400" rtl="0" eaLnBrk="1" latinLnBrk="0" hangingPunct="1">
                        <a:lnSpc>
                          <a:spcPct val="150000"/>
                        </a:lnSpc>
                        <a:spcAft>
                          <a:spcPts val="800"/>
                        </a:spcAft>
                      </a:pPr>
                      <a:r>
                        <a:rPr lang="ru-RU" sz="1400" b="1" kern="1200">
                          <a:solidFill>
                            <a:schemeClr val="lt1"/>
                          </a:solidFill>
                          <a:effectLst/>
                          <a:latin typeface="Times New Roman" panose="02020603050405020304" pitchFamily="18" charset="0"/>
                          <a:ea typeface="+mn-ea"/>
                          <a:cs typeface="Times New Roman" panose="02020603050405020304" pitchFamily="18" charset="0"/>
                        </a:rPr>
                        <a:t>10</a:t>
                      </a:r>
                    </a:p>
                  </a:txBody>
                  <a:tcPr marL="68580" marR="68580" marT="0" marB="0" anchor="ctr"/>
                </a:tc>
                <a:tc>
                  <a:txBody>
                    <a:bodyPr/>
                    <a:lstStyle/>
                    <a:p>
                      <a:pPr algn="ctr">
                        <a:lnSpc>
                          <a:spcPct val="150000"/>
                        </a:lnSpc>
                        <a:spcAft>
                          <a:spcPts val="800"/>
                        </a:spcAft>
                      </a:pPr>
                      <a:r>
                        <a:rPr lang="ru-RU" sz="14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randomized</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10</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LU</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19,34099</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FF0000"/>
                    </a:solidFill>
                  </a:tcPr>
                </a:tc>
                <a:extLst>
                  <a:ext uri="{0D108BD9-81ED-4DB2-BD59-A6C34878D82A}">
                    <a16:rowId xmlns:a16="http://schemas.microsoft.com/office/drawing/2014/main" val="3079162603"/>
                  </a:ext>
                </a:extLst>
              </a:tr>
              <a:tr h="292903">
                <a:tc>
                  <a:txBody>
                    <a:bodyPr/>
                    <a:lstStyle/>
                    <a:p>
                      <a:pPr marL="0" algn="ctr" defTabSz="914400" rtl="0" eaLnBrk="1" latinLnBrk="0" hangingPunct="1">
                        <a:lnSpc>
                          <a:spcPct val="150000"/>
                        </a:lnSpc>
                        <a:spcAft>
                          <a:spcPts val="800"/>
                        </a:spcAft>
                      </a:pPr>
                      <a:r>
                        <a:rPr lang="ru-RU" sz="1400" b="1" kern="1200" dirty="0">
                          <a:solidFill>
                            <a:schemeClr val="lt1"/>
                          </a:solidFill>
                          <a:effectLst/>
                          <a:latin typeface="Times New Roman" panose="02020603050405020304" pitchFamily="18" charset="0"/>
                          <a:ea typeface="+mn-ea"/>
                          <a:cs typeface="Times New Roman" panose="02020603050405020304" pitchFamily="18" charset="0"/>
                        </a:rPr>
                        <a:t>10</a:t>
                      </a:r>
                    </a:p>
                  </a:txBody>
                  <a:tcPr marL="68580" marR="68580" marT="0" marB="0" anchor="ctr"/>
                </a:tc>
                <a:tc>
                  <a:txBody>
                    <a:bodyPr/>
                    <a:lstStyle/>
                    <a:p>
                      <a:pPr algn="ctr">
                        <a:lnSpc>
                          <a:spcPct val="150000"/>
                        </a:lnSpc>
                        <a:spcAft>
                          <a:spcPts val="800"/>
                        </a:spcAft>
                      </a:pPr>
                      <a:r>
                        <a:rPr lang="ru-RU" sz="14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randomized</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20</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OR</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19,34638</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FF0000"/>
                    </a:solidFill>
                  </a:tcPr>
                </a:tc>
                <a:extLst>
                  <a:ext uri="{0D108BD9-81ED-4DB2-BD59-A6C34878D82A}">
                    <a16:rowId xmlns:a16="http://schemas.microsoft.com/office/drawing/2014/main" val="1102558551"/>
                  </a:ext>
                </a:extLst>
              </a:tr>
              <a:tr h="292903">
                <a:tc>
                  <a:txBody>
                    <a:bodyPr/>
                    <a:lstStyle/>
                    <a:p>
                      <a:pPr marL="0" algn="ctr" defTabSz="914400" rtl="0" eaLnBrk="1" latinLnBrk="0" hangingPunct="1">
                        <a:lnSpc>
                          <a:spcPct val="150000"/>
                        </a:lnSpc>
                        <a:spcAft>
                          <a:spcPts val="800"/>
                        </a:spcAft>
                      </a:pPr>
                      <a:r>
                        <a:rPr lang="ru-RU" sz="1400" b="1" kern="1200" dirty="0">
                          <a:solidFill>
                            <a:schemeClr val="lt1"/>
                          </a:solidFill>
                          <a:effectLst/>
                          <a:latin typeface="Times New Roman" panose="02020603050405020304" pitchFamily="18" charset="0"/>
                          <a:ea typeface="+mn-ea"/>
                          <a:cs typeface="Times New Roman" panose="02020603050405020304" pitchFamily="18" charset="0"/>
                        </a:rPr>
                        <a:t>10</a:t>
                      </a: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randomized</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20</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LU</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19,34099</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FF0000"/>
                    </a:solidFill>
                  </a:tcPr>
                </a:tc>
                <a:extLst>
                  <a:ext uri="{0D108BD9-81ED-4DB2-BD59-A6C34878D82A}">
                    <a16:rowId xmlns:a16="http://schemas.microsoft.com/office/drawing/2014/main" val="2197365723"/>
                  </a:ext>
                </a:extLst>
              </a:tr>
              <a:tr h="292903">
                <a:tc>
                  <a:txBody>
                    <a:bodyPr/>
                    <a:lstStyle/>
                    <a:p>
                      <a:pPr marL="0" algn="ctr" defTabSz="914400" rtl="0" eaLnBrk="1" latinLnBrk="0" hangingPunct="1">
                        <a:lnSpc>
                          <a:spcPct val="150000"/>
                        </a:lnSpc>
                        <a:spcAft>
                          <a:spcPts val="800"/>
                        </a:spcAft>
                      </a:pPr>
                      <a:r>
                        <a:rPr lang="ru-RU" sz="1400" b="1" kern="1200" dirty="0">
                          <a:solidFill>
                            <a:schemeClr val="lt1"/>
                          </a:solidFill>
                          <a:effectLst/>
                          <a:latin typeface="Times New Roman" panose="02020603050405020304" pitchFamily="18" charset="0"/>
                          <a:ea typeface="+mn-ea"/>
                          <a:cs typeface="Times New Roman" panose="02020603050405020304" pitchFamily="18" charset="0"/>
                        </a:rPr>
                        <a:t>30</a:t>
                      </a: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arpack</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5</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OR</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10,48606</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FF9966"/>
                    </a:solidFill>
                  </a:tcPr>
                </a:tc>
                <a:extLst>
                  <a:ext uri="{0D108BD9-81ED-4DB2-BD59-A6C34878D82A}">
                    <a16:rowId xmlns:a16="http://schemas.microsoft.com/office/drawing/2014/main" val="2668704356"/>
                  </a:ext>
                </a:extLst>
              </a:tr>
              <a:tr h="292903">
                <a:tc>
                  <a:txBody>
                    <a:bodyPr/>
                    <a:lstStyle/>
                    <a:p>
                      <a:pPr marL="0" algn="ctr" defTabSz="914400" rtl="0" eaLnBrk="1" latinLnBrk="0" hangingPunct="1">
                        <a:lnSpc>
                          <a:spcPct val="150000"/>
                        </a:lnSpc>
                        <a:spcAft>
                          <a:spcPts val="800"/>
                        </a:spcAft>
                      </a:pPr>
                      <a:r>
                        <a:rPr lang="ru-RU" sz="1400" b="1" kern="1200" dirty="0">
                          <a:solidFill>
                            <a:schemeClr val="lt1"/>
                          </a:solidFill>
                          <a:effectLst/>
                          <a:latin typeface="Times New Roman" panose="02020603050405020304" pitchFamily="18" charset="0"/>
                          <a:ea typeface="+mn-ea"/>
                          <a:cs typeface="Times New Roman" panose="02020603050405020304" pitchFamily="18" charset="0"/>
                        </a:rPr>
                        <a:t>30</a:t>
                      </a: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arpack</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5</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LU</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10,48606</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FF9966"/>
                    </a:solidFill>
                  </a:tcPr>
                </a:tc>
                <a:extLst>
                  <a:ext uri="{0D108BD9-81ED-4DB2-BD59-A6C34878D82A}">
                    <a16:rowId xmlns:a16="http://schemas.microsoft.com/office/drawing/2014/main" val="928201130"/>
                  </a:ext>
                </a:extLst>
              </a:tr>
              <a:tr h="292903">
                <a:tc>
                  <a:txBody>
                    <a:bodyPr/>
                    <a:lstStyle/>
                    <a:p>
                      <a:pPr marL="0" algn="ctr" defTabSz="914400" rtl="0" eaLnBrk="1" latinLnBrk="0" hangingPunct="1">
                        <a:lnSpc>
                          <a:spcPct val="150000"/>
                        </a:lnSpc>
                        <a:spcAft>
                          <a:spcPts val="800"/>
                        </a:spcAft>
                      </a:pPr>
                      <a:r>
                        <a:rPr lang="ru-RU" sz="1400" b="1" kern="1200" dirty="0">
                          <a:solidFill>
                            <a:schemeClr val="lt1"/>
                          </a:solidFill>
                          <a:effectLst/>
                          <a:latin typeface="Times New Roman" panose="02020603050405020304" pitchFamily="18" charset="0"/>
                          <a:ea typeface="+mn-ea"/>
                          <a:cs typeface="Times New Roman" panose="02020603050405020304" pitchFamily="18" charset="0"/>
                        </a:rPr>
                        <a:t>30</a:t>
                      </a: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arpack</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10</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OR</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10,48606</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FF9966"/>
                    </a:solidFill>
                  </a:tcPr>
                </a:tc>
                <a:extLst>
                  <a:ext uri="{0D108BD9-81ED-4DB2-BD59-A6C34878D82A}">
                    <a16:rowId xmlns:a16="http://schemas.microsoft.com/office/drawing/2014/main" val="861385338"/>
                  </a:ext>
                </a:extLst>
              </a:tr>
              <a:tr h="292903">
                <a:tc>
                  <a:txBody>
                    <a:bodyPr/>
                    <a:lstStyle/>
                    <a:p>
                      <a:pPr marL="0" algn="ctr" defTabSz="914400" rtl="0" eaLnBrk="1" latinLnBrk="0" hangingPunct="1">
                        <a:lnSpc>
                          <a:spcPct val="150000"/>
                        </a:lnSpc>
                        <a:spcAft>
                          <a:spcPts val="800"/>
                        </a:spcAft>
                      </a:pPr>
                      <a:r>
                        <a:rPr lang="ru-RU" sz="1400" b="1" kern="1200" dirty="0">
                          <a:solidFill>
                            <a:schemeClr val="lt1"/>
                          </a:solidFill>
                          <a:effectLst/>
                          <a:latin typeface="Times New Roman" panose="02020603050405020304" pitchFamily="18" charset="0"/>
                          <a:ea typeface="+mn-ea"/>
                          <a:cs typeface="Times New Roman" panose="02020603050405020304" pitchFamily="18" charset="0"/>
                        </a:rPr>
                        <a:t>30</a:t>
                      </a: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arpack</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10</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LU</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10,48606</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FF9966"/>
                    </a:solidFill>
                  </a:tcPr>
                </a:tc>
                <a:extLst>
                  <a:ext uri="{0D108BD9-81ED-4DB2-BD59-A6C34878D82A}">
                    <a16:rowId xmlns:a16="http://schemas.microsoft.com/office/drawing/2014/main" val="4271228047"/>
                  </a:ext>
                </a:extLst>
              </a:tr>
              <a:tr h="292903">
                <a:tc>
                  <a:txBody>
                    <a:bodyPr/>
                    <a:lstStyle/>
                    <a:p>
                      <a:pPr marL="0" algn="ctr" defTabSz="914400" rtl="0" eaLnBrk="1" latinLnBrk="0" hangingPunct="1">
                        <a:lnSpc>
                          <a:spcPct val="150000"/>
                        </a:lnSpc>
                        <a:spcAft>
                          <a:spcPts val="800"/>
                        </a:spcAft>
                      </a:pPr>
                      <a:r>
                        <a:rPr lang="ru-RU" sz="1400" b="1" kern="1200" dirty="0">
                          <a:solidFill>
                            <a:schemeClr val="lt1"/>
                          </a:solidFill>
                          <a:effectLst/>
                          <a:latin typeface="Times New Roman" panose="02020603050405020304" pitchFamily="18" charset="0"/>
                          <a:ea typeface="+mn-ea"/>
                          <a:cs typeface="Times New Roman" panose="02020603050405020304" pitchFamily="18" charset="0"/>
                        </a:rPr>
                        <a:t>30</a:t>
                      </a: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arpack</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20</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OR</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10,48606</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FF9966"/>
                    </a:solidFill>
                  </a:tcPr>
                </a:tc>
                <a:extLst>
                  <a:ext uri="{0D108BD9-81ED-4DB2-BD59-A6C34878D82A}">
                    <a16:rowId xmlns:a16="http://schemas.microsoft.com/office/drawing/2014/main" val="4089933613"/>
                  </a:ext>
                </a:extLst>
              </a:tr>
            </a:tbl>
          </a:graphicData>
        </a:graphic>
      </p:graphicFrame>
      <p:sp>
        <p:nvSpPr>
          <p:cNvPr id="6" name="Блок-схема: узел 5">
            <a:extLst>
              <a:ext uri="{FF2B5EF4-FFF2-40B4-BE49-F238E27FC236}">
                <a16:creationId xmlns:a16="http://schemas.microsoft.com/office/drawing/2014/main" id="{5538C496-B9E0-4857-A4DE-52DF69101A8D}"/>
              </a:ext>
            </a:extLst>
          </p:cNvPr>
          <p:cNvSpPr/>
          <p:nvPr/>
        </p:nvSpPr>
        <p:spPr>
          <a:xfrm>
            <a:off x="11412899" y="32476"/>
            <a:ext cx="720000" cy="720000"/>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solidFill>
                  <a:schemeClr val="tx1"/>
                </a:solidFill>
                <a:latin typeface="Times New Roman" panose="02020603050405020304" pitchFamily="18" charset="0"/>
                <a:cs typeface="Times New Roman" panose="02020603050405020304" pitchFamily="18" charset="0"/>
              </a:rPr>
              <a:t>25</a:t>
            </a:r>
          </a:p>
        </p:txBody>
      </p:sp>
      <p:sp>
        <p:nvSpPr>
          <p:cNvPr id="7" name="Заголовок 1">
            <a:extLst>
              <a:ext uri="{FF2B5EF4-FFF2-40B4-BE49-F238E27FC236}">
                <a16:creationId xmlns:a16="http://schemas.microsoft.com/office/drawing/2014/main" id="{51BA6787-AD62-448D-B01C-1734A2043420}"/>
              </a:ext>
            </a:extLst>
          </p:cNvPr>
          <p:cNvSpPr txBox="1">
            <a:spLocks/>
          </p:cNvSpPr>
          <p:nvPr/>
        </p:nvSpPr>
        <p:spPr>
          <a:xfrm>
            <a:off x="285749" y="307976"/>
            <a:ext cx="4733926" cy="4445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ru-RU" sz="3200" b="1" dirty="0">
                <a:effectLst/>
                <a:latin typeface="Times New Roman" panose="02020603050405020304" pitchFamily="18" charset="0"/>
                <a:ea typeface="Calibri" panose="020F0502020204030204" pitchFamily="34" charset="0"/>
              </a:rPr>
              <a:t>Оценка методов</a:t>
            </a:r>
            <a:endParaRPr lang="ru-RU"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060860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Таблица 1">
            <a:extLst>
              <a:ext uri="{FF2B5EF4-FFF2-40B4-BE49-F238E27FC236}">
                <a16:creationId xmlns:a16="http://schemas.microsoft.com/office/drawing/2014/main" id="{C9CE8B17-4E02-437F-9A27-7B7AAAC52695}"/>
              </a:ext>
            </a:extLst>
          </p:cNvPr>
          <p:cNvGraphicFramePr>
            <a:graphicFrameLocks noGrp="1"/>
          </p:cNvGraphicFramePr>
          <p:nvPr>
            <p:extLst>
              <p:ext uri="{D42A27DB-BD31-4B8C-83A1-F6EECF244321}">
                <p14:modId xmlns:p14="http://schemas.microsoft.com/office/powerpoint/2010/main" val="3211366021"/>
              </p:ext>
            </p:extLst>
          </p:nvPr>
        </p:nvGraphicFramePr>
        <p:xfrm>
          <a:off x="530224" y="997233"/>
          <a:ext cx="11242675" cy="5598924"/>
        </p:xfrm>
        <a:graphic>
          <a:graphicData uri="http://schemas.openxmlformats.org/drawingml/2006/table">
            <a:tbl>
              <a:tblPr firstRow="1" firstCol="1" bandRow="1">
                <a:tableStyleId>{5C22544A-7EE6-4342-B048-85BDC9FD1C3A}</a:tableStyleId>
              </a:tblPr>
              <a:tblGrid>
                <a:gridCol w="2248535">
                  <a:extLst>
                    <a:ext uri="{9D8B030D-6E8A-4147-A177-3AD203B41FA5}">
                      <a16:colId xmlns:a16="http://schemas.microsoft.com/office/drawing/2014/main" val="2325977005"/>
                    </a:ext>
                  </a:extLst>
                </a:gridCol>
                <a:gridCol w="2248535">
                  <a:extLst>
                    <a:ext uri="{9D8B030D-6E8A-4147-A177-3AD203B41FA5}">
                      <a16:colId xmlns:a16="http://schemas.microsoft.com/office/drawing/2014/main" val="2657643689"/>
                    </a:ext>
                  </a:extLst>
                </a:gridCol>
                <a:gridCol w="2248535">
                  <a:extLst>
                    <a:ext uri="{9D8B030D-6E8A-4147-A177-3AD203B41FA5}">
                      <a16:colId xmlns:a16="http://schemas.microsoft.com/office/drawing/2014/main" val="1338937014"/>
                    </a:ext>
                  </a:extLst>
                </a:gridCol>
                <a:gridCol w="2248535">
                  <a:extLst>
                    <a:ext uri="{9D8B030D-6E8A-4147-A177-3AD203B41FA5}">
                      <a16:colId xmlns:a16="http://schemas.microsoft.com/office/drawing/2014/main" val="518112998"/>
                    </a:ext>
                  </a:extLst>
                </a:gridCol>
                <a:gridCol w="2248535">
                  <a:extLst>
                    <a:ext uri="{9D8B030D-6E8A-4147-A177-3AD203B41FA5}">
                      <a16:colId xmlns:a16="http://schemas.microsoft.com/office/drawing/2014/main" val="1974277620"/>
                    </a:ext>
                  </a:extLst>
                </a:gridCol>
              </a:tblGrid>
              <a:tr h="619573">
                <a:tc>
                  <a:txBody>
                    <a:bodyPr/>
                    <a:lstStyle/>
                    <a:p>
                      <a:pPr algn="ctr">
                        <a:lnSpc>
                          <a:spcPct val="150000"/>
                        </a:lnSpc>
                        <a:spcAft>
                          <a:spcPts val="800"/>
                        </a:spcAft>
                      </a:pPr>
                      <a:r>
                        <a:rPr lang="ru-RU" sz="1400" dirty="0">
                          <a:effectLst/>
                          <a:latin typeface="Times New Roman" panose="02020603050405020304" pitchFamily="18" charset="0"/>
                          <a:cs typeface="Times New Roman" panose="02020603050405020304" pitchFamily="18" charset="0"/>
                        </a:rPr>
                        <a:t>Количество компонент</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effectLst/>
                          <a:latin typeface="Times New Roman" panose="02020603050405020304" pitchFamily="18" charset="0"/>
                          <a:cs typeface="Times New Roman" panose="02020603050405020304" pitchFamily="18" charset="0"/>
                        </a:rPr>
                        <a:t>Алгоритм</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err="1">
                          <a:effectLst/>
                          <a:latin typeface="Times New Roman" panose="02020603050405020304" pitchFamily="18" charset="0"/>
                          <a:cs typeface="Times New Roman" panose="02020603050405020304" pitchFamily="18" charset="0"/>
                        </a:rPr>
                        <a:t>Передискретизация</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effectLst/>
                          <a:latin typeface="Times New Roman" panose="02020603050405020304" pitchFamily="18" charset="0"/>
                          <a:cs typeface="Times New Roman" panose="02020603050405020304" pitchFamily="18" charset="0"/>
                        </a:rPr>
                        <a:t>Ортогонализация</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effectLst/>
                          <a:latin typeface="Times New Roman" panose="02020603050405020304" pitchFamily="18" charset="0"/>
                          <a:cs typeface="Times New Roman" panose="02020603050405020304" pitchFamily="18" charset="0"/>
                        </a:rPr>
                        <a:t>Ошибка</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296787977"/>
                  </a:ext>
                </a:extLst>
              </a:tr>
              <a:tr h="292903">
                <a:tc>
                  <a:txBody>
                    <a:bodyPr/>
                    <a:lstStyle/>
                    <a:p>
                      <a:pPr marL="0" algn="ctr" defTabSz="914400" rtl="0" eaLnBrk="1" latinLnBrk="0" hangingPunct="1">
                        <a:lnSpc>
                          <a:spcPct val="150000"/>
                        </a:lnSpc>
                        <a:spcAft>
                          <a:spcPts val="800"/>
                        </a:spcAft>
                      </a:pPr>
                      <a:r>
                        <a:rPr lang="ru-RU" sz="1400" b="1" kern="1200" dirty="0">
                          <a:solidFill>
                            <a:schemeClr val="lt1"/>
                          </a:solidFill>
                          <a:effectLst/>
                          <a:latin typeface="Times New Roman" panose="02020603050405020304" pitchFamily="18" charset="0"/>
                          <a:ea typeface="+mn-ea"/>
                          <a:cs typeface="Times New Roman" panose="02020603050405020304" pitchFamily="18" charset="0"/>
                        </a:rPr>
                        <a:t>30</a:t>
                      </a: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arpack</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20</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LU</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10,48606</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FF9966"/>
                    </a:solidFill>
                  </a:tcPr>
                </a:tc>
                <a:extLst>
                  <a:ext uri="{0D108BD9-81ED-4DB2-BD59-A6C34878D82A}">
                    <a16:rowId xmlns:a16="http://schemas.microsoft.com/office/drawing/2014/main" val="2431024367"/>
                  </a:ext>
                </a:extLst>
              </a:tr>
              <a:tr h="292903">
                <a:tc>
                  <a:txBody>
                    <a:bodyPr/>
                    <a:lstStyle/>
                    <a:p>
                      <a:pPr marL="0" algn="ctr" defTabSz="914400" rtl="0" eaLnBrk="1" latinLnBrk="0" hangingPunct="1">
                        <a:lnSpc>
                          <a:spcPct val="150000"/>
                        </a:lnSpc>
                        <a:spcAft>
                          <a:spcPts val="800"/>
                        </a:spcAft>
                      </a:pPr>
                      <a:r>
                        <a:rPr lang="ru-RU" sz="1400" b="1" kern="1200">
                          <a:solidFill>
                            <a:schemeClr val="lt1"/>
                          </a:solidFill>
                          <a:effectLst/>
                          <a:latin typeface="Times New Roman" panose="02020603050405020304" pitchFamily="18" charset="0"/>
                          <a:ea typeface="+mn-ea"/>
                          <a:cs typeface="Times New Roman" panose="02020603050405020304" pitchFamily="18" charset="0"/>
                        </a:rPr>
                        <a:t>30</a:t>
                      </a: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randomized</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5</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OR</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17,49179</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CC6600"/>
                    </a:solidFill>
                  </a:tcPr>
                </a:tc>
                <a:extLst>
                  <a:ext uri="{0D108BD9-81ED-4DB2-BD59-A6C34878D82A}">
                    <a16:rowId xmlns:a16="http://schemas.microsoft.com/office/drawing/2014/main" val="1841585223"/>
                  </a:ext>
                </a:extLst>
              </a:tr>
              <a:tr h="292903">
                <a:tc>
                  <a:txBody>
                    <a:bodyPr/>
                    <a:lstStyle/>
                    <a:p>
                      <a:pPr marL="0" algn="ctr" defTabSz="914400" rtl="0" eaLnBrk="1" latinLnBrk="0" hangingPunct="1">
                        <a:lnSpc>
                          <a:spcPct val="150000"/>
                        </a:lnSpc>
                        <a:spcAft>
                          <a:spcPts val="800"/>
                        </a:spcAft>
                      </a:pPr>
                      <a:r>
                        <a:rPr lang="ru-RU" sz="1400" b="1" kern="1200" dirty="0">
                          <a:solidFill>
                            <a:schemeClr val="lt1"/>
                          </a:solidFill>
                          <a:effectLst/>
                          <a:latin typeface="Times New Roman" panose="02020603050405020304" pitchFamily="18" charset="0"/>
                          <a:ea typeface="+mn-ea"/>
                          <a:cs typeface="Times New Roman" panose="02020603050405020304" pitchFamily="18" charset="0"/>
                        </a:rPr>
                        <a:t>30</a:t>
                      </a:r>
                    </a:p>
                  </a:txBody>
                  <a:tcPr marL="68580" marR="68580" marT="0" marB="0" anchor="ctr"/>
                </a:tc>
                <a:tc>
                  <a:txBody>
                    <a:bodyPr/>
                    <a:lstStyle/>
                    <a:p>
                      <a:pPr algn="ctr">
                        <a:lnSpc>
                          <a:spcPct val="150000"/>
                        </a:lnSpc>
                        <a:spcAft>
                          <a:spcPts val="800"/>
                        </a:spcAft>
                      </a:pPr>
                      <a:r>
                        <a:rPr lang="ru-RU" sz="14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randomized</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5</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LU</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10,49652</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FF9966"/>
                    </a:solidFill>
                  </a:tcPr>
                </a:tc>
                <a:extLst>
                  <a:ext uri="{0D108BD9-81ED-4DB2-BD59-A6C34878D82A}">
                    <a16:rowId xmlns:a16="http://schemas.microsoft.com/office/drawing/2014/main" val="2839486870"/>
                  </a:ext>
                </a:extLst>
              </a:tr>
              <a:tr h="292903">
                <a:tc>
                  <a:txBody>
                    <a:bodyPr/>
                    <a:lstStyle/>
                    <a:p>
                      <a:pPr marL="0" algn="ctr" defTabSz="914400" rtl="0" eaLnBrk="1" latinLnBrk="0" hangingPunct="1">
                        <a:lnSpc>
                          <a:spcPct val="150000"/>
                        </a:lnSpc>
                        <a:spcAft>
                          <a:spcPts val="800"/>
                        </a:spcAft>
                      </a:pPr>
                      <a:r>
                        <a:rPr lang="ru-RU" sz="1400" b="1" kern="1200" dirty="0">
                          <a:solidFill>
                            <a:schemeClr val="lt1"/>
                          </a:solidFill>
                          <a:effectLst/>
                          <a:latin typeface="Times New Roman" panose="02020603050405020304" pitchFamily="18" charset="0"/>
                          <a:ea typeface="+mn-ea"/>
                          <a:cs typeface="Times New Roman" panose="02020603050405020304" pitchFamily="18" charset="0"/>
                        </a:rPr>
                        <a:t>30</a:t>
                      </a:r>
                    </a:p>
                  </a:txBody>
                  <a:tcPr marL="68580" marR="68580" marT="0" marB="0" anchor="ctr"/>
                </a:tc>
                <a:tc>
                  <a:txBody>
                    <a:bodyPr/>
                    <a:lstStyle/>
                    <a:p>
                      <a:pPr algn="ctr">
                        <a:lnSpc>
                          <a:spcPct val="150000"/>
                        </a:lnSpc>
                        <a:spcAft>
                          <a:spcPts val="800"/>
                        </a:spcAft>
                      </a:pPr>
                      <a:r>
                        <a:rPr lang="ru-RU" sz="14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randomized</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10</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OR</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16,71692</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CC6600"/>
                    </a:solidFill>
                  </a:tcPr>
                </a:tc>
                <a:extLst>
                  <a:ext uri="{0D108BD9-81ED-4DB2-BD59-A6C34878D82A}">
                    <a16:rowId xmlns:a16="http://schemas.microsoft.com/office/drawing/2014/main" val="4054795481"/>
                  </a:ext>
                </a:extLst>
              </a:tr>
              <a:tr h="292903">
                <a:tc>
                  <a:txBody>
                    <a:bodyPr/>
                    <a:lstStyle/>
                    <a:p>
                      <a:pPr marL="0" algn="ctr" defTabSz="914400" rtl="0" eaLnBrk="1" latinLnBrk="0" hangingPunct="1">
                        <a:lnSpc>
                          <a:spcPct val="150000"/>
                        </a:lnSpc>
                        <a:spcAft>
                          <a:spcPts val="800"/>
                        </a:spcAft>
                      </a:pPr>
                      <a:r>
                        <a:rPr lang="ru-RU" sz="1400" b="1" kern="1200" dirty="0">
                          <a:solidFill>
                            <a:schemeClr val="lt1"/>
                          </a:solidFill>
                          <a:effectLst/>
                          <a:latin typeface="Times New Roman" panose="02020603050405020304" pitchFamily="18" charset="0"/>
                          <a:ea typeface="+mn-ea"/>
                          <a:cs typeface="Times New Roman" panose="02020603050405020304" pitchFamily="18" charset="0"/>
                        </a:rPr>
                        <a:t>30</a:t>
                      </a: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randomized</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10</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LU</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10,48653</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FF9966"/>
                    </a:solidFill>
                  </a:tcPr>
                </a:tc>
                <a:extLst>
                  <a:ext uri="{0D108BD9-81ED-4DB2-BD59-A6C34878D82A}">
                    <a16:rowId xmlns:a16="http://schemas.microsoft.com/office/drawing/2014/main" val="1118664240"/>
                  </a:ext>
                </a:extLst>
              </a:tr>
              <a:tr h="292903">
                <a:tc>
                  <a:txBody>
                    <a:bodyPr/>
                    <a:lstStyle/>
                    <a:p>
                      <a:pPr marL="0" algn="ctr" defTabSz="914400" rtl="0" eaLnBrk="1" latinLnBrk="0" hangingPunct="1">
                        <a:lnSpc>
                          <a:spcPct val="150000"/>
                        </a:lnSpc>
                        <a:spcAft>
                          <a:spcPts val="800"/>
                        </a:spcAft>
                      </a:pPr>
                      <a:r>
                        <a:rPr lang="ru-RU" sz="1400" b="1" kern="1200">
                          <a:solidFill>
                            <a:schemeClr val="lt1"/>
                          </a:solidFill>
                          <a:effectLst/>
                          <a:latin typeface="Times New Roman" panose="02020603050405020304" pitchFamily="18" charset="0"/>
                          <a:ea typeface="+mn-ea"/>
                          <a:cs typeface="Times New Roman" panose="02020603050405020304" pitchFamily="18" charset="0"/>
                        </a:rPr>
                        <a:t>30</a:t>
                      </a: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randomized</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20</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OR</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16,45156</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CC6600"/>
                    </a:solidFill>
                  </a:tcPr>
                </a:tc>
                <a:extLst>
                  <a:ext uri="{0D108BD9-81ED-4DB2-BD59-A6C34878D82A}">
                    <a16:rowId xmlns:a16="http://schemas.microsoft.com/office/drawing/2014/main" val="3759963803"/>
                  </a:ext>
                </a:extLst>
              </a:tr>
              <a:tr h="292903">
                <a:tc>
                  <a:txBody>
                    <a:bodyPr/>
                    <a:lstStyle/>
                    <a:p>
                      <a:pPr marL="0" algn="ctr" defTabSz="914400" rtl="0" eaLnBrk="1" latinLnBrk="0" hangingPunct="1">
                        <a:lnSpc>
                          <a:spcPct val="150000"/>
                        </a:lnSpc>
                        <a:spcAft>
                          <a:spcPts val="800"/>
                        </a:spcAft>
                      </a:pPr>
                      <a:r>
                        <a:rPr lang="ru-RU" sz="1400" b="1" kern="1200" dirty="0">
                          <a:solidFill>
                            <a:schemeClr val="lt1"/>
                          </a:solidFill>
                          <a:effectLst/>
                          <a:latin typeface="Times New Roman" panose="02020603050405020304" pitchFamily="18" charset="0"/>
                          <a:ea typeface="+mn-ea"/>
                          <a:cs typeface="Times New Roman" panose="02020603050405020304" pitchFamily="18" charset="0"/>
                        </a:rPr>
                        <a:t>30</a:t>
                      </a: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randomized</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20</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LU</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10,48606</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FF9966"/>
                    </a:solidFill>
                  </a:tcPr>
                </a:tc>
                <a:extLst>
                  <a:ext uri="{0D108BD9-81ED-4DB2-BD59-A6C34878D82A}">
                    <a16:rowId xmlns:a16="http://schemas.microsoft.com/office/drawing/2014/main" val="588667091"/>
                  </a:ext>
                </a:extLst>
              </a:tr>
              <a:tr h="292903">
                <a:tc>
                  <a:txBody>
                    <a:bodyPr/>
                    <a:lstStyle/>
                    <a:p>
                      <a:pPr marL="0" algn="ctr" defTabSz="914400" rtl="0" eaLnBrk="1" latinLnBrk="0" hangingPunct="1">
                        <a:lnSpc>
                          <a:spcPct val="150000"/>
                        </a:lnSpc>
                        <a:spcAft>
                          <a:spcPts val="800"/>
                        </a:spcAft>
                      </a:pPr>
                      <a:r>
                        <a:rPr lang="ru-RU" sz="1400" b="1" kern="1200" dirty="0">
                          <a:solidFill>
                            <a:schemeClr val="lt1"/>
                          </a:solidFill>
                          <a:effectLst/>
                          <a:latin typeface="Times New Roman" panose="02020603050405020304" pitchFamily="18" charset="0"/>
                          <a:ea typeface="+mn-ea"/>
                          <a:cs typeface="Times New Roman" panose="02020603050405020304" pitchFamily="18" charset="0"/>
                        </a:rPr>
                        <a:t>70</a:t>
                      </a: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arpack</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5</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OR</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5,585354</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00B050"/>
                    </a:solidFill>
                  </a:tcPr>
                </a:tc>
                <a:extLst>
                  <a:ext uri="{0D108BD9-81ED-4DB2-BD59-A6C34878D82A}">
                    <a16:rowId xmlns:a16="http://schemas.microsoft.com/office/drawing/2014/main" val="2595260290"/>
                  </a:ext>
                </a:extLst>
              </a:tr>
              <a:tr h="292903">
                <a:tc>
                  <a:txBody>
                    <a:bodyPr/>
                    <a:lstStyle/>
                    <a:p>
                      <a:pPr marL="0" algn="ctr" defTabSz="914400" rtl="0" eaLnBrk="1" latinLnBrk="0" hangingPunct="1">
                        <a:lnSpc>
                          <a:spcPct val="150000"/>
                        </a:lnSpc>
                        <a:spcAft>
                          <a:spcPts val="800"/>
                        </a:spcAft>
                      </a:pPr>
                      <a:r>
                        <a:rPr lang="ru-RU" sz="1400" b="1" kern="1200" dirty="0">
                          <a:solidFill>
                            <a:schemeClr val="lt1"/>
                          </a:solidFill>
                          <a:effectLst/>
                          <a:latin typeface="Times New Roman" panose="02020603050405020304" pitchFamily="18" charset="0"/>
                          <a:ea typeface="+mn-ea"/>
                          <a:cs typeface="Times New Roman" panose="02020603050405020304" pitchFamily="18" charset="0"/>
                        </a:rPr>
                        <a:t>70</a:t>
                      </a: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arpack</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5</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LU</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5,585354</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00B050"/>
                    </a:solidFill>
                  </a:tcPr>
                </a:tc>
                <a:extLst>
                  <a:ext uri="{0D108BD9-81ED-4DB2-BD59-A6C34878D82A}">
                    <a16:rowId xmlns:a16="http://schemas.microsoft.com/office/drawing/2014/main" val="3759316436"/>
                  </a:ext>
                </a:extLst>
              </a:tr>
              <a:tr h="292903">
                <a:tc>
                  <a:txBody>
                    <a:bodyPr/>
                    <a:lstStyle/>
                    <a:p>
                      <a:pPr marL="0" algn="ctr" defTabSz="914400" rtl="0" eaLnBrk="1" latinLnBrk="0" hangingPunct="1">
                        <a:lnSpc>
                          <a:spcPct val="150000"/>
                        </a:lnSpc>
                        <a:spcAft>
                          <a:spcPts val="800"/>
                        </a:spcAft>
                      </a:pPr>
                      <a:r>
                        <a:rPr lang="ru-RU" sz="1400" b="1" kern="1200" dirty="0">
                          <a:solidFill>
                            <a:schemeClr val="lt1"/>
                          </a:solidFill>
                          <a:effectLst/>
                          <a:latin typeface="Times New Roman" panose="02020603050405020304" pitchFamily="18" charset="0"/>
                          <a:ea typeface="+mn-ea"/>
                          <a:cs typeface="Times New Roman" panose="02020603050405020304" pitchFamily="18" charset="0"/>
                        </a:rPr>
                        <a:t>70</a:t>
                      </a: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arpack</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10</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OR</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5,585354</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00B050"/>
                    </a:solidFill>
                  </a:tcPr>
                </a:tc>
                <a:extLst>
                  <a:ext uri="{0D108BD9-81ED-4DB2-BD59-A6C34878D82A}">
                    <a16:rowId xmlns:a16="http://schemas.microsoft.com/office/drawing/2014/main" val="3079162603"/>
                  </a:ext>
                </a:extLst>
              </a:tr>
              <a:tr h="292903">
                <a:tc>
                  <a:txBody>
                    <a:bodyPr/>
                    <a:lstStyle/>
                    <a:p>
                      <a:pPr marL="0" algn="ctr" defTabSz="914400" rtl="0" eaLnBrk="1" latinLnBrk="0" hangingPunct="1">
                        <a:lnSpc>
                          <a:spcPct val="150000"/>
                        </a:lnSpc>
                        <a:spcAft>
                          <a:spcPts val="800"/>
                        </a:spcAft>
                      </a:pPr>
                      <a:r>
                        <a:rPr lang="ru-RU" sz="1400" b="1" kern="1200" dirty="0">
                          <a:solidFill>
                            <a:schemeClr val="lt1"/>
                          </a:solidFill>
                          <a:effectLst/>
                          <a:latin typeface="Times New Roman" panose="02020603050405020304" pitchFamily="18" charset="0"/>
                          <a:ea typeface="+mn-ea"/>
                          <a:cs typeface="Times New Roman" panose="02020603050405020304" pitchFamily="18" charset="0"/>
                        </a:rPr>
                        <a:t>70</a:t>
                      </a: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arpack</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10</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LU</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5,585354</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00B050"/>
                    </a:solidFill>
                  </a:tcPr>
                </a:tc>
                <a:extLst>
                  <a:ext uri="{0D108BD9-81ED-4DB2-BD59-A6C34878D82A}">
                    <a16:rowId xmlns:a16="http://schemas.microsoft.com/office/drawing/2014/main" val="1102558551"/>
                  </a:ext>
                </a:extLst>
              </a:tr>
              <a:tr h="292903">
                <a:tc>
                  <a:txBody>
                    <a:bodyPr/>
                    <a:lstStyle/>
                    <a:p>
                      <a:pPr marL="0" algn="ctr" defTabSz="914400" rtl="0" eaLnBrk="1" latinLnBrk="0" hangingPunct="1">
                        <a:lnSpc>
                          <a:spcPct val="150000"/>
                        </a:lnSpc>
                        <a:spcAft>
                          <a:spcPts val="800"/>
                        </a:spcAft>
                      </a:pPr>
                      <a:r>
                        <a:rPr lang="ru-RU" sz="1400" b="1" kern="1200" dirty="0">
                          <a:solidFill>
                            <a:schemeClr val="lt1"/>
                          </a:solidFill>
                          <a:effectLst/>
                          <a:latin typeface="Times New Roman" panose="02020603050405020304" pitchFamily="18" charset="0"/>
                          <a:ea typeface="+mn-ea"/>
                          <a:cs typeface="Times New Roman" panose="02020603050405020304" pitchFamily="18" charset="0"/>
                        </a:rPr>
                        <a:t>70</a:t>
                      </a: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arpack</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20</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OR</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5,585354</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00B050"/>
                    </a:solidFill>
                  </a:tcPr>
                </a:tc>
                <a:extLst>
                  <a:ext uri="{0D108BD9-81ED-4DB2-BD59-A6C34878D82A}">
                    <a16:rowId xmlns:a16="http://schemas.microsoft.com/office/drawing/2014/main" val="2197365723"/>
                  </a:ext>
                </a:extLst>
              </a:tr>
              <a:tr h="292903">
                <a:tc>
                  <a:txBody>
                    <a:bodyPr/>
                    <a:lstStyle/>
                    <a:p>
                      <a:pPr marL="0" algn="ctr" defTabSz="914400" rtl="0" eaLnBrk="1" latinLnBrk="0" hangingPunct="1">
                        <a:lnSpc>
                          <a:spcPct val="150000"/>
                        </a:lnSpc>
                        <a:spcAft>
                          <a:spcPts val="800"/>
                        </a:spcAft>
                      </a:pPr>
                      <a:r>
                        <a:rPr lang="ru-RU" sz="1400" b="1" kern="1200" dirty="0">
                          <a:solidFill>
                            <a:schemeClr val="lt1"/>
                          </a:solidFill>
                          <a:effectLst/>
                          <a:latin typeface="Times New Roman" panose="02020603050405020304" pitchFamily="18" charset="0"/>
                          <a:ea typeface="+mn-ea"/>
                          <a:cs typeface="Times New Roman" panose="02020603050405020304" pitchFamily="18" charset="0"/>
                        </a:rPr>
                        <a:t>70</a:t>
                      </a: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arpack</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20</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LU</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5,585354</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00B050"/>
                    </a:solidFill>
                  </a:tcPr>
                </a:tc>
                <a:extLst>
                  <a:ext uri="{0D108BD9-81ED-4DB2-BD59-A6C34878D82A}">
                    <a16:rowId xmlns:a16="http://schemas.microsoft.com/office/drawing/2014/main" val="2668704356"/>
                  </a:ext>
                </a:extLst>
              </a:tr>
              <a:tr h="292903">
                <a:tc>
                  <a:txBody>
                    <a:bodyPr/>
                    <a:lstStyle/>
                    <a:p>
                      <a:pPr marL="0" algn="ctr" defTabSz="914400" rtl="0" eaLnBrk="1" latinLnBrk="0" hangingPunct="1">
                        <a:lnSpc>
                          <a:spcPct val="150000"/>
                        </a:lnSpc>
                        <a:spcAft>
                          <a:spcPts val="800"/>
                        </a:spcAft>
                      </a:pPr>
                      <a:r>
                        <a:rPr lang="ru-RU" sz="1400" b="1" kern="1200">
                          <a:solidFill>
                            <a:schemeClr val="lt1"/>
                          </a:solidFill>
                          <a:effectLst/>
                          <a:latin typeface="Times New Roman" panose="02020603050405020304" pitchFamily="18" charset="0"/>
                          <a:ea typeface="+mn-ea"/>
                          <a:cs typeface="Times New Roman" panose="02020603050405020304" pitchFamily="18" charset="0"/>
                        </a:rPr>
                        <a:t>70</a:t>
                      </a: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randomized</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5</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OR</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15,7039</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CC6600"/>
                    </a:solidFill>
                  </a:tcPr>
                </a:tc>
                <a:extLst>
                  <a:ext uri="{0D108BD9-81ED-4DB2-BD59-A6C34878D82A}">
                    <a16:rowId xmlns:a16="http://schemas.microsoft.com/office/drawing/2014/main" val="928201130"/>
                  </a:ext>
                </a:extLst>
              </a:tr>
              <a:tr h="292903">
                <a:tc>
                  <a:txBody>
                    <a:bodyPr/>
                    <a:lstStyle/>
                    <a:p>
                      <a:pPr marL="0" algn="ctr" defTabSz="914400" rtl="0" eaLnBrk="1" latinLnBrk="0" hangingPunct="1">
                        <a:lnSpc>
                          <a:spcPct val="150000"/>
                        </a:lnSpc>
                        <a:spcAft>
                          <a:spcPts val="800"/>
                        </a:spcAft>
                      </a:pPr>
                      <a:r>
                        <a:rPr lang="ru-RU" sz="1400" b="1" kern="1200" dirty="0">
                          <a:solidFill>
                            <a:schemeClr val="lt1"/>
                          </a:solidFill>
                          <a:effectLst/>
                          <a:latin typeface="Times New Roman" panose="02020603050405020304" pitchFamily="18" charset="0"/>
                          <a:ea typeface="+mn-ea"/>
                          <a:cs typeface="Times New Roman" panose="02020603050405020304" pitchFamily="18" charset="0"/>
                        </a:rPr>
                        <a:t>70</a:t>
                      </a: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randomized</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5</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LU</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5,594693</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00B050"/>
                    </a:solidFill>
                  </a:tcPr>
                </a:tc>
                <a:extLst>
                  <a:ext uri="{0D108BD9-81ED-4DB2-BD59-A6C34878D82A}">
                    <a16:rowId xmlns:a16="http://schemas.microsoft.com/office/drawing/2014/main" val="861385338"/>
                  </a:ext>
                </a:extLst>
              </a:tr>
              <a:tr h="292903">
                <a:tc>
                  <a:txBody>
                    <a:bodyPr/>
                    <a:lstStyle/>
                    <a:p>
                      <a:pPr marL="0" algn="ctr" defTabSz="914400" rtl="0" eaLnBrk="1" latinLnBrk="0" hangingPunct="1">
                        <a:lnSpc>
                          <a:spcPct val="150000"/>
                        </a:lnSpc>
                        <a:spcAft>
                          <a:spcPts val="800"/>
                        </a:spcAft>
                      </a:pPr>
                      <a:r>
                        <a:rPr lang="ru-RU" sz="1400" b="1" kern="1200" dirty="0">
                          <a:solidFill>
                            <a:schemeClr val="lt1"/>
                          </a:solidFill>
                          <a:effectLst/>
                          <a:latin typeface="Times New Roman" panose="02020603050405020304" pitchFamily="18" charset="0"/>
                          <a:ea typeface="+mn-ea"/>
                          <a:cs typeface="Times New Roman" panose="02020603050405020304" pitchFamily="18" charset="0"/>
                        </a:rPr>
                        <a:t>70</a:t>
                      </a: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randomized</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10</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OR</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15,59892</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CC6600"/>
                    </a:solidFill>
                  </a:tcPr>
                </a:tc>
                <a:extLst>
                  <a:ext uri="{0D108BD9-81ED-4DB2-BD59-A6C34878D82A}">
                    <a16:rowId xmlns:a16="http://schemas.microsoft.com/office/drawing/2014/main" val="4271228047"/>
                  </a:ext>
                </a:extLst>
              </a:tr>
              <a:tr h="292903">
                <a:tc>
                  <a:txBody>
                    <a:bodyPr/>
                    <a:lstStyle/>
                    <a:p>
                      <a:pPr marL="0" algn="ctr" defTabSz="914400" rtl="0" eaLnBrk="1" latinLnBrk="0" hangingPunct="1">
                        <a:lnSpc>
                          <a:spcPct val="150000"/>
                        </a:lnSpc>
                        <a:spcAft>
                          <a:spcPts val="800"/>
                        </a:spcAft>
                      </a:pPr>
                      <a:r>
                        <a:rPr lang="ru-RU" sz="1400" b="1" kern="1200" dirty="0">
                          <a:solidFill>
                            <a:schemeClr val="lt1"/>
                          </a:solidFill>
                          <a:effectLst/>
                          <a:latin typeface="Times New Roman" panose="02020603050405020304" pitchFamily="18" charset="0"/>
                          <a:ea typeface="+mn-ea"/>
                          <a:cs typeface="Times New Roman" panose="02020603050405020304" pitchFamily="18" charset="0"/>
                        </a:rPr>
                        <a:t>70</a:t>
                      </a: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randomized</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10</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LU</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5,587789</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00B050"/>
                    </a:solidFill>
                  </a:tcPr>
                </a:tc>
                <a:extLst>
                  <a:ext uri="{0D108BD9-81ED-4DB2-BD59-A6C34878D82A}">
                    <a16:rowId xmlns:a16="http://schemas.microsoft.com/office/drawing/2014/main" val="4089933613"/>
                  </a:ext>
                </a:extLst>
              </a:tr>
            </a:tbl>
          </a:graphicData>
        </a:graphic>
      </p:graphicFrame>
      <p:sp>
        <p:nvSpPr>
          <p:cNvPr id="4" name="Блок-схема: узел 3">
            <a:extLst>
              <a:ext uri="{FF2B5EF4-FFF2-40B4-BE49-F238E27FC236}">
                <a16:creationId xmlns:a16="http://schemas.microsoft.com/office/drawing/2014/main" id="{42BF7332-5DDC-44CC-B8A6-8FEE52E31FA7}"/>
              </a:ext>
            </a:extLst>
          </p:cNvPr>
          <p:cNvSpPr/>
          <p:nvPr/>
        </p:nvSpPr>
        <p:spPr>
          <a:xfrm>
            <a:off x="11412899" y="32476"/>
            <a:ext cx="720000" cy="720000"/>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solidFill>
                  <a:schemeClr val="tx1"/>
                </a:solidFill>
                <a:latin typeface="Times New Roman" panose="02020603050405020304" pitchFamily="18" charset="0"/>
                <a:cs typeface="Times New Roman" panose="02020603050405020304" pitchFamily="18" charset="0"/>
              </a:rPr>
              <a:t>26</a:t>
            </a:r>
          </a:p>
        </p:txBody>
      </p:sp>
      <p:sp>
        <p:nvSpPr>
          <p:cNvPr id="5" name="Заголовок 1">
            <a:extLst>
              <a:ext uri="{FF2B5EF4-FFF2-40B4-BE49-F238E27FC236}">
                <a16:creationId xmlns:a16="http://schemas.microsoft.com/office/drawing/2014/main" id="{D4792B3D-2A68-479F-BBE9-4A5D32BB4AC1}"/>
              </a:ext>
            </a:extLst>
          </p:cNvPr>
          <p:cNvSpPr txBox="1">
            <a:spLocks/>
          </p:cNvSpPr>
          <p:nvPr/>
        </p:nvSpPr>
        <p:spPr>
          <a:xfrm>
            <a:off x="285749" y="307976"/>
            <a:ext cx="4733926" cy="4445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ru-RU" sz="3200" b="1" dirty="0">
                <a:effectLst/>
                <a:latin typeface="Times New Roman" panose="02020603050405020304" pitchFamily="18" charset="0"/>
                <a:ea typeface="Calibri" panose="020F0502020204030204" pitchFamily="34" charset="0"/>
              </a:rPr>
              <a:t>Оценка методов</a:t>
            </a:r>
            <a:endParaRPr lang="ru-RU"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39031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Таблица 1">
            <a:extLst>
              <a:ext uri="{FF2B5EF4-FFF2-40B4-BE49-F238E27FC236}">
                <a16:creationId xmlns:a16="http://schemas.microsoft.com/office/drawing/2014/main" id="{C9CE8B17-4E02-437F-9A27-7B7AAAC52695}"/>
              </a:ext>
            </a:extLst>
          </p:cNvPr>
          <p:cNvGraphicFramePr>
            <a:graphicFrameLocks noGrp="1"/>
          </p:cNvGraphicFramePr>
          <p:nvPr>
            <p:extLst>
              <p:ext uri="{D42A27DB-BD31-4B8C-83A1-F6EECF244321}">
                <p14:modId xmlns:p14="http://schemas.microsoft.com/office/powerpoint/2010/main" val="2159331733"/>
              </p:ext>
            </p:extLst>
          </p:nvPr>
        </p:nvGraphicFramePr>
        <p:xfrm>
          <a:off x="530224" y="997233"/>
          <a:ext cx="11242675" cy="4709062"/>
        </p:xfrm>
        <a:graphic>
          <a:graphicData uri="http://schemas.openxmlformats.org/drawingml/2006/table">
            <a:tbl>
              <a:tblPr firstRow="1" firstCol="1" bandRow="1">
                <a:tableStyleId>{5C22544A-7EE6-4342-B048-85BDC9FD1C3A}</a:tableStyleId>
              </a:tblPr>
              <a:tblGrid>
                <a:gridCol w="2248535">
                  <a:extLst>
                    <a:ext uri="{9D8B030D-6E8A-4147-A177-3AD203B41FA5}">
                      <a16:colId xmlns:a16="http://schemas.microsoft.com/office/drawing/2014/main" val="2325977005"/>
                    </a:ext>
                  </a:extLst>
                </a:gridCol>
                <a:gridCol w="2248535">
                  <a:extLst>
                    <a:ext uri="{9D8B030D-6E8A-4147-A177-3AD203B41FA5}">
                      <a16:colId xmlns:a16="http://schemas.microsoft.com/office/drawing/2014/main" val="2657643689"/>
                    </a:ext>
                  </a:extLst>
                </a:gridCol>
                <a:gridCol w="2248535">
                  <a:extLst>
                    <a:ext uri="{9D8B030D-6E8A-4147-A177-3AD203B41FA5}">
                      <a16:colId xmlns:a16="http://schemas.microsoft.com/office/drawing/2014/main" val="1338937014"/>
                    </a:ext>
                  </a:extLst>
                </a:gridCol>
                <a:gridCol w="2248535">
                  <a:extLst>
                    <a:ext uri="{9D8B030D-6E8A-4147-A177-3AD203B41FA5}">
                      <a16:colId xmlns:a16="http://schemas.microsoft.com/office/drawing/2014/main" val="518112998"/>
                    </a:ext>
                  </a:extLst>
                </a:gridCol>
                <a:gridCol w="2248535">
                  <a:extLst>
                    <a:ext uri="{9D8B030D-6E8A-4147-A177-3AD203B41FA5}">
                      <a16:colId xmlns:a16="http://schemas.microsoft.com/office/drawing/2014/main" val="1974277620"/>
                    </a:ext>
                  </a:extLst>
                </a:gridCol>
              </a:tblGrid>
              <a:tr h="619573">
                <a:tc>
                  <a:txBody>
                    <a:bodyPr/>
                    <a:lstStyle/>
                    <a:p>
                      <a:pPr algn="ctr">
                        <a:lnSpc>
                          <a:spcPct val="150000"/>
                        </a:lnSpc>
                        <a:spcAft>
                          <a:spcPts val="800"/>
                        </a:spcAft>
                      </a:pPr>
                      <a:r>
                        <a:rPr lang="ru-RU" sz="1400" dirty="0">
                          <a:effectLst/>
                          <a:latin typeface="Times New Roman" panose="02020603050405020304" pitchFamily="18" charset="0"/>
                          <a:cs typeface="Times New Roman" panose="02020603050405020304" pitchFamily="18" charset="0"/>
                        </a:rPr>
                        <a:t>Количество компонент</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effectLst/>
                          <a:latin typeface="Times New Roman" panose="02020603050405020304" pitchFamily="18" charset="0"/>
                          <a:cs typeface="Times New Roman" panose="02020603050405020304" pitchFamily="18" charset="0"/>
                        </a:rPr>
                        <a:t>Алгоритм</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err="1">
                          <a:effectLst/>
                          <a:latin typeface="Times New Roman" panose="02020603050405020304" pitchFamily="18" charset="0"/>
                          <a:cs typeface="Times New Roman" panose="02020603050405020304" pitchFamily="18" charset="0"/>
                        </a:rPr>
                        <a:t>Передискретизация</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effectLst/>
                          <a:latin typeface="Times New Roman" panose="02020603050405020304" pitchFamily="18" charset="0"/>
                          <a:cs typeface="Times New Roman" panose="02020603050405020304" pitchFamily="18" charset="0"/>
                        </a:rPr>
                        <a:t>Ортогонализация</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effectLst/>
                          <a:latin typeface="Times New Roman" panose="02020603050405020304" pitchFamily="18" charset="0"/>
                          <a:cs typeface="Times New Roman" panose="02020603050405020304" pitchFamily="18" charset="0"/>
                        </a:rPr>
                        <a:t>Ошибка</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296787977"/>
                  </a:ext>
                </a:extLst>
              </a:tr>
              <a:tr h="292903">
                <a:tc>
                  <a:txBody>
                    <a:bodyPr/>
                    <a:lstStyle/>
                    <a:p>
                      <a:pPr marL="0" algn="ctr" defTabSz="914400" rtl="0" eaLnBrk="1" latinLnBrk="0" hangingPunct="1">
                        <a:lnSpc>
                          <a:spcPct val="150000"/>
                        </a:lnSpc>
                        <a:spcAft>
                          <a:spcPts val="800"/>
                        </a:spcAft>
                      </a:pPr>
                      <a:r>
                        <a:rPr lang="ru-RU" sz="1400" b="1" kern="1200" dirty="0">
                          <a:solidFill>
                            <a:schemeClr val="lt1"/>
                          </a:solidFill>
                          <a:effectLst/>
                          <a:latin typeface="Times New Roman" panose="02020603050405020304" pitchFamily="18" charset="0"/>
                          <a:ea typeface="+mn-ea"/>
                          <a:cs typeface="Times New Roman" panose="02020603050405020304" pitchFamily="18" charset="0"/>
                        </a:rPr>
                        <a:t>70</a:t>
                      </a: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randomized</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20</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OR</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15,20386</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CC6600"/>
                    </a:solidFill>
                  </a:tcPr>
                </a:tc>
                <a:extLst>
                  <a:ext uri="{0D108BD9-81ED-4DB2-BD59-A6C34878D82A}">
                    <a16:rowId xmlns:a16="http://schemas.microsoft.com/office/drawing/2014/main" val="2431024367"/>
                  </a:ext>
                </a:extLst>
              </a:tr>
              <a:tr h="292903">
                <a:tc>
                  <a:txBody>
                    <a:bodyPr/>
                    <a:lstStyle/>
                    <a:p>
                      <a:pPr marL="0" algn="ctr" defTabSz="914400" rtl="0" eaLnBrk="1" latinLnBrk="0" hangingPunct="1">
                        <a:lnSpc>
                          <a:spcPct val="150000"/>
                        </a:lnSpc>
                        <a:spcAft>
                          <a:spcPts val="800"/>
                        </a:spcAft>
                      </a:pPr>
                      <a:r>
                        <a:rPr lang="ru-RU" sz="1400" b="1" kern="1200" dirty="0">
                          <a:solidFill>
                            <a:schemeClr val="lt1"/>
                          </a:solidFill>
                          <a:effectLst/>
                          <a:latin typeface="Times New Roman" panose="02020603050405020304" pitchFamily="18" charset="0"/>
                          <a:ea typeface="+mn-ea"/>
                          <a:cs typeface="Times New Roman" panose="02020603050405020304" pitchFamily="18" charset="0"/>
                        </a:rPr>
                        <a:t>70</a:t>
                      </a: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randomized</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20</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LU</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5,585499</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00B050"/>
                    </a:solidFill>
                  </a:tcPr>
                </a:tc>
                <a:extLst>
                  <a:ext uri="{0D108BD9-81ED-4DB2-BD59-A6C34878D82A}">
                    <a16:rowId xmlns:a16="http://schemas.microsoft.com/office/drawing/2014/main" val="1841585223"/>
                  </a:ext>
                </a:extLst>
              </a:tr>
              <a:tr h="292903">
                <a:tc>
                  <a:txBody>
                    <a:bodyPr/>
                    <a:lstStyle/>
                    <a:p>
                      <a:pPr marL="0" algn="ctr" defTabSz="914400" rtl="0" eaLnBrk="1" latinLnBrk="0" hangingPunct="1">
                        <a:lnSpc>
                          <a:spcPct val="150000"/>
                        </a:lnSpc>
                        <a:spcAft>
                          <a:spcPts val="800"/>
                        </a:spcAft>
                      </a:pPr>
                      <a:r>
                        <a:rPr lang="ru-RU" sz="1400" b="1" kern="1200" dirty="0">
                          <a:solidFill>
                            <a:schemeClr val="lt1"/>
                          </a:solidFill>
                          <a:effectLst/>
                          <a:latin typeface="Times New Roman" panose="02020603050405020304" pitchFamily="18" charset="0"/>
                          <a:ea typeface="+mn-ea"/>
                          <a:cs typeface="Times New Roman" panose="02020603050405020304" pitchFamily="18" charset="0"/>
                        </a:rPr>
                        <a:t>100</a:t>
                      </a:r>
                    </a:p>
                  </a:txBody>
                  <a:tcPr marL="68580" marR="68580" marT="0" marB="0" anchor="ctr"/>
                </a:tc>
                <a:tc>
                  <a:txBody>
                    <a:bodyPr/>
                    <a:lstStyle/>
                    <a:p>
                      <a:pPr algn="ctr">
                        <a:lnSpc>
                          <a:spcPct val="150000"/>
                        </a:lnSpc>
                        <a:spcAft>
                          <a:spcPts val="800"/>
                        </a:spcAft>
                      </a:pPr>
                      <a:r>
                        <a:rPr lang="ru-RU" sz="14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arpack</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5</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OR</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3,817301</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00B050"/>
                    </a:solidFill>
                  </a:tcPr>
                </a:tc>
                <a:extLst>
                  <a:ext uri="{0D108BD9-81ED-4DB2-BD59-A6C34878D82A}">
                    <a16:rowId xmlns:a16="http://schemas.microsoft.com/office/drawing/2014/main" val="2839486870"/>
                  </a:ext>
                </a:extLst>
              </a:tr>
              <a:tr h="292903">
                <a:tc>
                  <a:txBody>
                    <a:bodyPr/>
                    <a:lstStyle/>
                    <a:p>
                      <a:pPr marL="0" algn="ctr" defTabSz="914400" rtl="0" eaLnBrk="1" latinLnBrk="0" hangingPunct="1">
                        <a:lnSpc>
                          <a:spcPct val="150000"/>
                        </a:lnSpc>
                        <a:spcAft>
                          <a:spcPts val="800"/>
                        </a:spcAft>
                      </a:pPr>
                      <a:r>
                        <a:rPr lang="ru-RU" sz="1400" b="1" kern="1200" dirty="0">
                          <a:solidFill>
                            <a:schemeClr val="lt1"/>
                          </a:solidFill>
                          <a:effectLst/>
                          <a:latin typeface="Times New Roman" panose="02020603050405020304" pitchFamily="18" charset="0"/>
                          <a:ea typeface="+mn-ea"/>
                          <a:cs typeface="Times New Roman" panose="02020603050405020304" pitchFamily="18" charset="0"/>
                        </a:rPr>
                        <a:t>100</a:t>
                      </a: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arpack</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5</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LU</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3,817301</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00B050"/>
                    </a:solidFill>
                  </a:tcPr>
                </a:tc>
                <a:extLst>
                  <a:ext uri="{0D108BD9-81ED-4DB2-BD59-A6C34878D82A}">
                    <a16:rowId xmlns:a16="http://schemas.microsoft.com/office/drawing/2014/main" val="4054795481"/>
                  </a:ext>
                </a:extLst>
              </a:tr>
              <a:tr h="292903">
                <a:tc>
                  <a:txBody>
                    <a:bodyPr/>
                    <a:lstStyle/>
                    <a:p>
                      <a:pPr marL="0" algn="ctr" defTabSz="914400" rtl="0" eaLnBrk="1" latinLnBrk="0" hangingPunct="1">
                        <a:lnSpc>
                          <a:spcPct val="150000"/>
                        </a:lnSpc>
                        <a:spcAft>
                          <a:spcPts val="800"/>
                        </a:spcAft>
                      </a:pPr>
                      <a:r>
                        <a:rPr lang="ru-RU" sz="1400" b="1" kern="1200" dirty="0">
                          <a:solidFill>
                            <a:schemeClr val="lt1"/>
                          </a:solidFill>
                          <a:effectLst/>
                          <a:latin typeface="Times New Roman" panose="02020603050405020304" pitchFamily="18" charset="0"/>
                          <a:ea typeface="+mn-ea"/>
                          <a:cs typeface="Times New Roman" panose="02020603050405020304" pitchFamily="18" charset="0"/>
                        </a:rPr>
                        <a:t>100</a:t>
                      </a: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arpack</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10</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OR</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3,817301</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00B050"/>
                    </a:solidFill>
                  </a:tcPr>
                </a:tc>
                <a:extLst>
                  <a:ext uri="{0D108BD9-81ED-4DB2-BD59-A6C34878D82A}">
                    <a16:rowId xmlns:a16="http://schemas.microsoft.com/office/drawing/2014/main" val="1118664240"/>
                  </a:ext>
                </a:extLst>
              </a:tr>
              <a:tr h="292903">
                <a:tc>
                  <a:txBody>
                    <a:bodyPr/>
                    <a:lstStyle/>
                    <a:p>
                      <a:pPr marL="0" algn="ctr" defTabSz="914400" rtl="0" eaLnBrk="1" latinLnBrk="0" hangingPunct="1">
                        <a:lnSpc>
                          <a:spcPct val="150000"/>
                        </a:lnSpc>
                        <a:spcAft>
                          <a:spcPts val="800"/>
                        </a:spcAft>
                      </a:pPr>
                      <a:r>
                        <a:rPr lang="ru-RU" sz="1400" b="1" kern="1200" dirty="0">
                          <a:solidFill>
                            <a:schemeClr val="lt1"/>
                          </a:solidFill>
                          <a:effectLst/>
                          <a:latin typeface="Times New Roman" panose="02020603050405020304" pitchFamily="18" charset="0"/>
                          <a:ea typeface="+mn-ea"/>
                          <a:cs typeface="Times New Roman" panose="02020603050405020304" pitchFamily="18" charset="0"/>
                        </a:rPr>
                        <a:t>100</a:t>
                      </a: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arpack</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10</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LU</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3,817301</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00B050"/>
                    </a:solidFill>
                  </a:tcPr>
                </a:tc>
                <a:extLst>
                  <a:ext uri="{0D108BD9-81ED-4DB2-BD59-A6C34878D82A}">
                    <a16:rowId xmlns:a16="http://schemas.microsoft.com/office/drawing/2014/main" val="3759963803"/>
                  </a:ext>
                </a:extLst>
              </a:tr>
              <a:tr h="292903">
                <a:tc>
                  <a:txBody>
                    <a:bodyPr/>
                    <a:lstStyle/>
                    <a:p>
                      <a:pPr marL="0" algn="ctr" defTabSz="914400" rtl="0" eaLnBrk="1" latinLnBrk="0" hangingPunct="1">
                        <a:lnSpc>
                          <a:spcPct val="150000"/>
                        </a:lnSpc>
                        <a:spcAft>
                          <a:spcPts val="800"/>
                        </a:spcAft>
                      </a:pPr>
                      <a:r>
                        <a:rPr lang="ru-RU" sz="1400" b="1" kern="1200">
                          <a:solidFill>
                            <a:schemeClr val="lt1"/>
                          </a:solidFill>
                          <a:effectLst/>
                          <a:latin typeface="Times New Roman" panose="02020603050405020304" pitchFamily="18" charset="0"/>
                          <a:ea typeface="+mn-ea"/>
                          <a:cs typeface="Times New Roman" panose="02020603050405020304" pitchFamily="18" charset="0"/>
                        </a:rPr>
                        <a:t>100</a:t>
                      </a: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arpack</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20</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OR</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3,817301</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00B050"/>
                    </a:solidFill>
                  </a:tcPr>
                </a:tc>
                <a:extLst>
                  <a:ext uri="{0D108BD9-81ED-4DB2-BD59-A6C34878D82A}">
                    <a16:rowId xmlns:a16="http://schemas.microsoft.com/office/drawing/2014/main" val="588667091"/>
                  </a:ext>
                </a:extLst>
              </a:tr>
              <a:tr h="292903">
                <a:tc>
                  <a:txBody>
                    <a:bodyPr/>
                    <a:lstStyle/>
                    <a:p>
                      <a:pPr marL="0" algn="ctr" defTabSz="914400" rtl="0" eaLnBrk="1" latinLnBrk="0" hangingPunct="1">
                        <a:lnSpc>
                          <a:spcPct val="150000"/>
                        </a:lnSpc>
                        <a:spcAft>
                          <a:spcPts val="800"/>
                        </a:spcAft>
                      </a:pPr>
                      <a:r>
                        <a:rPr lang="ru-RU" sz="1400" b="1" kern="1200" dirty="0">
                          <a:solidFill>
                            <a:schemeClr val="lt1"/>
                          </a:solidFill>
                          <a:effectLst/>
                          <a:latin typeface="Times New Roman" panose="02020603050405020304" pitchFamily="18" charset="0"/>
                          <a:ea typeface="+mn-ea"/>
                          <a:cs typeface="Times New Roman" panose="02020603050405020304" pitchFamily="18" charset="0"/>
                        </a:rPr>
                        <a:t>100</a:t>
                      </a: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arpack</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20</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LU</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3,817301</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00B050"/>
                    </a:solidFill>
                  </a:tcPr>
                </a:tc>
                <a:extLst>
                  <a:ext uri="{0D108BD9-81ED-4DB2-BD59-A6C34878D82A}">
                    <a16:rowId xmlns:a16="http://schemas.microsoft.com/office/drawing/2014/main" val="2595260290"/>
                  </a:ext>
                </a:extLst>
              </a:tr>
              <a:tr h="292903">
                <a:tc>
                  <a:txBody>
                    <a:bodyPr/>
                    <a:lstStyle/>
                    <a:p>
                      <a:pPr marL="0" algn="ctr" defTabSz="914400" rtl="0" eaLnBrk="1" latinLnBrk="0" hangingPunct="1">
                        <a:lnSpc>
                          <a:spcPct val="150000"/>
                        </a:lnSpc>
                        <a:spcAft>
                          <a:spcPts val="800"/>
                        </a:spcAft>
                      </a:pPr>
                      <a:r>
                        <a:rPr lang="ru-RU" sz="1400" b="1" kern="1200" dirty="0">
                          <a:solidFill>
                            <a:schemeClr val="lt1"/>
                          </a:solidFill>
                          <a:effectLst/>
                          <a:latin typeface="Times New Roman" panose="02020603050405020304" pitchFamily="18" charset="0"/>
                          <a:ea typeface="+mn-ea"/>
                          <a:cs typeface="Times New Roman" panose="02020603050405020304" pitchFamily="18" charset="0"/>
                        </a:rPr>
                        <a:t>100</a:t>
                      </a: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randomized</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5</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OR</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14,4876</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FF9966"/>
                    </a:solidFill>
                  </a:tcPr>
                </a:tc>
                <a:extLst>
                  <a:ext uri="{0D108BD9-81ED-4DB2-BD59-A6C34878D82A}">
                    <a16:rowId xmlns:a16="http://schemas.microsoft.com/office/drawing/2014/main" val="3759316436"/>
                  </a:ext>
                </a:extLst>
              </a:tr>
              <a:tr h="292903">
                <a:tc>
                  <a:txBody>
                    <a:bodyPr/>
                    <a:lstStyle/>
                    <a:p>
                      <a:pPr marL="0" algn="ctr" defTabSz="914400" rtl="0" eaLnBrk="1" latinLnBrk="0" hangingPunct="1">
                        <a:lnSpc>
                          <a:spcPct val="150000"/>
                        </a:lnSpc>
                        <a:spcAft>
                          <a:spcPts val="800"/>
                        </a:spcAft>
                      </a:pPr>
                      <a:r>
                        <a:rPr lang="ru-RU" sz="1400" b="1" kern="1200" dirty="0">
                          <a:solidFill>
                            <a:schemeClr val="lt1"/>
                          </a:solidFill>
                          <a:effectLst/>
                          <a:latin typeface="Times New Roman" panose="02020603050405020304" pitchFamily="18" charset="0"/>
                          <a:ea typeface="+mn-ea"/>
                          <a:cs typeface="Times New Roman" panose="02020603050405020304" pitchFamily="18" charset="0"/>
                        </a:rPr>
                        <a:t>100</a:t>
                      </a: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randomized</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5</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LU</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3,829433</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00B050"/>
                    </a:solidFill>
                  </a:tcPr>
                </a:tc>
                <a:extLst>
                  <a:ext uri="{0D108BD9-81ED-4DB2-BD59-A6C34878D82A}">
                    <a16:rowId xmlns:a16="http://schemas.microsoft.com/office/drawing/2014/main" val="3079162603"/>
                  </a:ext>
                </a:extLst>
              </a:tr>
              <a:tr h="292903">
                <a:tc>
                  <a:txBody>
                    <a:bodyPr/>
                    <a:lstStyle/>
                    <a:p>
                      <a:pPr marL="0" algn="ctr" defTabSz="914400" rtl="0" eaLnBrk="1" latinLnBrk="0" hangingPunct="1">
                        <a:lnSpc>
                          <a:spcPct val="150000"/>
                        </a:lnSpc>
                        <a:spcAft>
                          <a:spcPts val="800"/>
                        </a:spcAft>
                      </a:pPr>
                      <a:r>
                        <a:rPr lang="ru-RU" sz="1400" b="1" kern="1200" dirty="0">
                          <a:solidFill>
                            <a:schemeClr val="lt1"/>
                          </a:solidFill>
                          <a:effectLst/>
                          <a:latin typeface="Times New Roman" panose="02020603050405020304" pitchFamily="18" charset="0"/>
                          <a:ea typeface="+mn-ea"/>
                          <a:cs typeface="Times New Roman" panose="02020603050405020304" pitchFamily="18" charset="0"/>
                        </a:rPr>
                        <a:t>100</a:t>
                      </a: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randomized</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10</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OR</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14,25734</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FF9966"/>
                    </a:solidFill>
                  </a:tcPr>
                </a:tc>
                <a:extLst>
                  <a:ext uri="{0D108BD9-81ED-4DB2-BD59-A6C34878D82A}">
                    <a16:rowId xmlns:a16="http://schemas.microsoft.com/office/drawing/2014/main" val="1102558551"/>
                  </a:ext>
                </a:extLst>
              </a:tr>
              <a:tr h="292903">
                <a:tc>
                  <a:txBody>
                    <a:bodyPr/>
                    <a:lstStyle/>
                    <a:p>
                      <a:pPr marL="0" algn="ctr" defTabSz="914400" rtl="0" eaLnBrk="1" latinLnBrk="0" hangingPunct="1">
                        <a:lnSpc>
                          <a:spcPct val="150000"/>
                        </a:lnSpc>
                        <a:spcAft>
                          <a:spcPts val="800"/>
                        </a:spcAft>
                      </a:pPr>
                      <a:r>
                        <a:rPr lang="ru-RU" sz="1400" b="1" kern="1200">
                          <a:solidFill>
                            <a:schemeClr val="lt1"/>
                          </a:solidFill>
                          <a:effectLst/>
                          <a:latin typeface="Times New Roman" panose="02020603050405020304" pitchFamily="18" charset="0"/>
                          <a:ea typeface="+mn-ea"/>
                          <a:cs typeface="Times New Roman" panose="02020603050405020304" pitchFamily="18" charset="0"/>
                        </a:rPr>
                        <a:t>100</a:t>
                      </a: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randomized</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10</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LU</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3,8202</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00B050"/>
                    </a:solidFill>
                  </a:tcPr>
                </a:tc>
                <a:extLst>
                  <a:ext uri="{0D108BD9-81ED-4DB2-BD59-A6C34878D82A}">
                    <a16:rowId xmlns:a16="http://schemas.microsoft.com/office/drawing/2014/main" val="2197365723"/>
                  </a:ext>
                </a:extLst>
              </a:tr>
              <a:tr h="292903">
                <a:tc>
                  <a:txBody>
                    <a:bodyPr/>
                    <a:lstStyle/>
                    <a:p>
                      <a:pPr marL="0" algn="ctr" defTabSz="914400" rtl="0" eaLnBrk="1" latinLnBrk="0" hangingPunct="1">
                        <a:lnSpc>
                          <a:spcPct val="150000"/>
                        </a:lnSpc>
                        <a:spcAft>
                          <a:spcPts val="800"/>
                        </a:spcAft>
                      </a:pPr>
                      <a:r>
                        <a:rPr lang="ru-RU" sz="1400" b="1" kern="1200" dirty="0">
                          <a:solidFill>
                            <a:schemeClr val="lt1"/>
                          </a:solidFill>
                          <a:effectLst/>
                          <a:latin typeface="Times New Roman" panose="02020603050405020304" pitchFamily="18" charset="0"/>
                          <a:ea typeface="+mn-ea"/>
                          <a:cs typeface="Times New Roman" panose="02020603050405020304" pitchFamily="18" charset="0"/>
                        </a:rPr>
                        <a:t>100</a:t>
                      </a: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randomized</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20</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OR</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13,78879</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FF9966"/>
                    </a:solidFill>
                  </a:tcPr>
                </a:tc>
                <a:extLst>
                  <a:ext uri="{0D108BD9-81ED-4DB2-BD59-A6C34878D82A}">
                    <a16:rowId xmlns:a16="http://schemas.microsoft.com/office/drawing/2014/main" val="2668704356"/>
                  </a:ext>
                </a:extLst>
              </a:tr>
              <a:tr h="0">
                <a:tc>
                  <a:txBody>
                    <a:bodyPr/>
                    <a:lstStyle/>
                    <a:p>
                      <a:pPr marL="0" algn="ctr" defTabSz="914400" rtl="0" eaLnBrk="1" latinLnBrk="0" hangingPunct="1">
                        <a:lnSpc>
                          <a:spcPct val="150000"/>
                        </a:lnSpc>
                        <a:spcAft>
                          <a:spcPts val="800"/>
                        </a:spcAft>
                      </a:pPr>
                      <a:r>
                        <a:rPr lang="ru-RU" sz="1400" b="1" kern="1200" dirty="0">
                          <a:solidFill>
                            <a:schemeClr val="lt1"/>
                          </a:solidFill>
                          <a:effectLst/>
                          <a:latin typeface="Times New Roman" panose="02020603050405020304" pitchFamily="18" charset="0"/>
                          <a:ea typeface="+mn-ea"/>
                          <a:cs typeface="Times New Roman" panose="02020603050405020304" pitchFamily="18" charset="0"/>
                        </a:rPr>
                        <a:t>100</a:t>
                      </a: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randomized</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20</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LU</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3,817764</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00B050"/>
                    </a:solidFill>
                  </a:tcPr>
                </a:tc>
                <a:extLst>
                  <a:ext uri="{0D108BD9-81ED-4DB2-BD59-A6C34878D82A}">
                    <a16:rowId xmlns:a16="http://schemas.microsoft.com/office/drawing/2014/main" val="928201130"/>
                  </a:ext>
                </a:extLst>
              </a:tr>
            </a:tbl>
          </a:graphicData>
        </a:graphic>
      </p:graphicFrame>
      <p:sp>
        <p:nvSpPr>
          <p:cNvPr id="4" name="Блок-схема: узел 3">
            <a:extLst>
              <a:ext uri="{FF2B5EF4-FFF2-40B4-BE49-F238E27FC236}">
                <a16:creationId xmlns:a16="http://schemas.microsoft.com/office/drawing/2014/main" id="{5BBD71F5-ED93-470B-856A-435AB5916444}"/>
              </a:ext>
            </a:extLst>
          </p:cNvPr>
          <p:cNvSpPr/>
          <p:nvPr/>
        </p:nvSpPr>
        <p:spPr>
          <a:xfrm>
            <a:off x="11393850" y="6067424"/>
            <a:ext cx="720000" cy="720000"/>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solidFill>
                  <a:schemeClr val="tx1"/>
                </a:solidFill>
                <a:latin typeface="Times New Roman" panose="02020603050405020304" pitchFamily="18" charset="0"/>
                <a:cs typeface="Times New Roman" panose="02020603050405020304" pitchFamily="18" charset="0"/>
              </a:rPr>
              <a:t>27</a:t>
            </a:r>
          </a:p>
        </p:txBody>
      </p:sp>
      <p:sp>
        <p:nvSpPr>
          <p:cNvPr id="5" name="Заголовок 1">
            <a:extLst>
              <a:ext uri="{FF2B5EF4-FFF2-40B4-BE49-F238E27FC236}">
                <a16:creationId xmlns:a16="http://schemas.microsoft.com/office/drawing/2014/main" id="{D811825F-C1DB-4F32-84B9-78B581EEFC31}"/>
              </a:ext>
            </a:extLst>
          </p:cNvPr>
          <p:cNvSpPr txBox="1">
            <a:spLocks/>
          </p:cNvSpPr>
          <p:nvPr/>
        </p:nvSpPr>
        <p:spPr>
          <a:xfrm>
            <a:off x="285749" y="307976"/>
            <a:ext cx="4733926" cy="4445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ru-RU" sz="3200" b="1" dirty="0">
                <a:effectLst/>
                <a:latin typeface="Times New Roman" panose="02020603050405020304" pitchFamily="18" charset="0"/>
                <a:ea typeface="Calibri" panose="020F0502020204030204" pitchFamily="34" charset="0"/>
              </a:rPr>
              <a:t>Оценка методов</a:t>
            </a:r>
            <a:endParaRPr lang="ru-RU"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897534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id="{F20B1F96-A8C3-494D-8D44-457B1676AA2A}"/>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1050" y="1057275"/>
            <a:ext cx="10363200" cy="5562600"/>
          </a:xfrm>
          <a:prstGeom prst="rect">
            <a:avLst/>
          </a:prstGeom>
          <a:noFill/>
          <a:ln>
            <a:noFill/>
          </a:ln>
        </p:spPr>
      </p:pic>
      <p:sp>
        <p:nvSpPr>
          <p:cNvPr id="4" name="Блок-схема: узел 3">
            <a:extLst>
              <a:ext uri="{FF2B5EF4-FFF2-40B4-BE49-F238E27FC236}">
                <a16:creationId xmlns:a16="http://schemas.microsoft.com/office/drawing/2014/main" id="{8D820D00-AD5A-4964-B6E4-86E48F116A3F}"/>
              </a:ext>
            </a:extLst>
          </p:cNvPr>
          <p:cNvSpPr/>
          <p:nvPr/>
        </p:nvSpPr>
        <p:spPr>
          <a:xfrm>
            <a:off x="11393850" y="6067424"/>
            <a:ext cx="720000" cy="720000"/>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solidFill>
                  <a:schemeClr val="tx1"/>
                </a:solidFill>
                <a:latin typeface="Times New Roman" panose="02020603050405020304" pitchFamily="18" charset="0"/>
                <a:cs typeface="Times New Roman" panose="02020603050405020304" pitchFamily="18" charset="0"/>
              </a:rPr>
              <a:t>28</a:t>
            </a:r>
          </a:p>
        </p:txBody>
      </p:sp>
      <p:sp>
        <p:nvSpPr>
          <p:cNvPr id="5" name="Заголовок 1">
            <a:extLst>
              <a:ext uri="{FF2B5EF4-FFF2-40B4-BE49-F238E27FC236}">
                <a16:creationId xmlns:a16="http://schemas.microsoft.com/office/drawing/2014/main" id="{F7B5899A-CC7B-4835-9781-83A019A25C77}"/>
              </a:ext>
            </a:extLst>
          </p:cNvPr>
          <p:cNvSpPr txBox="1">
            <a:spLocks/>
          </p:cNvSpPr>
          <p:nvPr/>
        </p:nvSpPr>
        <p:spPr>
          <a:xfrm>
            <a:off x="285749" y="307976"/>
            <a:ext cx="4733926" cy="4445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ru-RU" sz="3200" b="1" dirty="0">
                <a:effectLst/>
                <a:latin typeface="Times New Roman" panose="02020603050405020304" pitchFamily="18" charset="0"/>
                <a:ea typeface="Calibri" panose="020F0502020204030204" pitchFamily="34" charset="0"/>
              </a:rPr>
              <a:t>Оценка методов</a:t>
            </a:r>
            <a:endParaRPr lang="ru-RU" sz="32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B9D97793-5E8F-4605-888A-A7246183E11D}"/>
              </a:ext>
            </a:extLst>
          </p:cNvPr>
          <p:cNvSpPr txBox="1"/>
          <p:nvPr/>
        </p:nvSpPr>
        <p:spPr>
          <a:xfrm>
            <a:off x="4543425" y="626388"/>
            <a:ext cx="2838450" cy="430887"/>
          </a:xfrm>
          <a:prstGeom prst="rect">
            <a:avLst/>
          </a:prstGeom>
          <a:noFill/>
        </p:spPr>
        <p:txBody>
          <a:bodyPr wrap="square">
            <a:spAutoFit/>
          </a:bodyPr>
          <a:lstStyle/>
          <a:p>
            <a:r>
              <a:rPr lang="ru-RU" sz="2200" dirty="0" err="1">
                <a:effectLst/>
                <a:latin typeface="Times New Roman" panose="02020603050405020304" pitchFamily="18" charset="0"/>
                <a:ea typeface="Calibri" panose="020F0502020204030204" pitchFamily="34" charset="0"/>
              </a:rPr>
              <a:t>scipy.sparse.linalg.svds</a:t>
            </a:r>
            <a:endParaRPr lang="ru-RU" sz="2200" dirty="0"/>
          </a:p>
        </p:txBody>
      </p:sp>
    </p:spTree>
    <p:extLst>
      <p:ext uri="{BB962C8B-B14F-4D97-AF65-F5344CB8AC3E}">
        <p14:creationId xmlns:p14="http://schemas.microsoft.com/office/powerpoint/2010/main" val="17045759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Таблица 4">
            <a:extLst>
              <a:ext uri="{FF2B5EF4-FFF2-40B4-BE49-F238E27FC236}">
                <a16:creationId xmlns:a16="http://schemas.microsoft.com/office/drawing/2014/main" id="{FEE12C61-D77E-403D-92C0-5AC79612392B}"/>
              </a:ext>
            </a:extLst>
          </p:cNvPr>
          <p:cNvGraphicFramePr>
            <a:graphicFrameLocks noGrp="1"/>
          </p:cNvGraphicFramePr>
          <p:nvPr>
            <p:extLst>
              <p:ext uri="{D42A27DB-BD31-4B8C-83A1-F6EECF244321}">
                <p14:modId xmlns:p14="http://schemas.microsoft.com/office/powerpoint/2010/main" val="1058176636"/>
              </p:ext>
            </p:extLst>
          </p:nvPr>
        </p:nvGraphicFramePr>
        <p:xfrm>
          <a:off x="598488" y="908124"/>
          <a:ext cx="10995024" cy="5756200"/>
        </p:xfrm>
        <a:graphic>
          <a:graphicData uri="http://schemas.openxmlformats.org/drawingml/2006/table">
            <a:tbl>
              <a:tblPr firstRow="1" firstCol="1" bandRow="1">
                <a:tableStyleId>{5C22544A-7EE6-4342-B048-85BDC9FD1C3A}</a:tableStyleId>
              </a:tblPr>
              <a:tblGrid>
                <a:gridCol w="2748756">
                  <a:extLst>
                    <a:ext uri="{9D8B030D-6E8A-4147-A177-3AD203B41FA5}">
                      <a16:colId xmlns:a16="http://schemas.microsoft.com/office/drawing/2014/main" val="1500659297"/>
                    </a:ext>
                  </a:extLst>
                </a:gridCol>
                <a:gridCol w="2748756">
                  <a:extLst>
                    <a:ext uri="{9D8B030D-6E8A-4147-A177-3AD203B41FA5}">
                      <a16:colId xmlns:a16="http://schemas.microsoft.com/office/drawing/2014/main" val="3599458541"/>
                    </a:ext>
                  </a:extLst>
                </a:gridCol>
                <a:gridCol w="2748756">
                  <a:extLst>
                    <a:ext uri="{9D8B030D-6E8A-4147-A177-3AD203B41FA5}">
                      <a16:colId xmlns:a16="http://schemas.microsoft.com/office/drawing/2014/main" val="2084158807"/>
                    </a:ext>
                  </a:extLst>
                </a:gridCol>
                <a:gridCol w="2748756">
                  <a:extLst>
                    <a:ext uri="{9D8B030D-6E8A-4147-A177-3AD203B41FA5}">
                      <a16:colId xmlns:a16="http://schemas.microsoft.com/office/drawing/2014/main" val="3476817864"/>
                    </a:ext>
                  </a:extLst>
                </a:gridCol>
              </a:tblGrid>
              <a:tr h="287810">
                <a:tc>
                  <a:txBody>
                    <a:bodyPr/>
                    <a:lstStyle/>
                    <a:p>
                      <a:pPr algn="ctr">
                        <a:lnSpc>
                          <a:spcPct val="150000"/>
                        </a:lnSpc>
                        <a:spcAft>
                          <a:spcPts val="800"/>
                        </a:spcAft>
                      </a:pPr>
                      <a:r>
                        <a:rPr lang="ru-RU" sz="1400" dirty="0">
                          <a:effectLst/>
                          <a:latin typeface="Times New Roman" panose="02020603050405020304" pitchFamily="18" charset="0"/>
                          <a:cs typeface="Times New Roman" panose="02020603050405020304" pitchFamily="18" charset="0"/>
                        </a:rPr>
                        <a:t>Количество компонент</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effectLst/>
                          <a:latin typeface="Times New Roman" panose="02020603050405020304" pitchFamily="18" charset="0"/>
                          <a:cs typeface="Times New Roman" panose="02020603050405020304" pitchFamily="18" charset="0"/>
                        </a:rPr>
                        <a:t>Алгоритм</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effectLst/>
                          <a:latin typeface="Times New Roman" panose="02020603050405020304" pitchFamily="18" charset="0"/>
                          <a:cs typeface="Times New Roman" panose="02020603050405020304" pitchFamily="18" charset="0"/>
                        </a:rPr>
                        <a:t>Сингулярные значения</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effectLst/>
                          <a:latin typeface="Times New Roman" panose="02020603050405020304" pitchFamily="18" charset="0"/>
                          <a:cs typeface="Times New Roman" panose="02020603050405020304" pitchFamily="18" charset="0"/>
                        </a:rPr>
                        <a:t>Ошибка</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169962048"/>
                  </a:ext>
                </a:extLst>
              </a:tr>
              <a:tr h="287810">
                <a:tc>
                  <a:txBody>
                    <a:bodyPr/>
                    <a:lstStyle/>
                    <a:p>
                      <a:pPr algn="ctr">
                        <a:lnSpc>
                          <a:spcPct val="150000"/>
                        </a:lnSpc>
                        <a:spcAft>
                          <a:spcPts val="800"/>
                        </a:spcAft>
                      </a:pPr>
                      <a:r>
                        <a:rPr lang="ru-RU" sz="1400" dirty="0">
                          <a:effectLst/>
                          <a:latin typeface="Times New Roman" panose="02020603050405020304" pitchFamily="18" charset="0"/>
                          <a:cs typeface="Times New Roman" panose="02020603050405020304" pitchFamily="18" charset="0"/>
                        </a:rPr>
                        <a:t>10</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err="1">
                          <a:effectLst/>
                          <a:latin typeface="Times New Roman" panose="02020603050405020304" pitchFamily="18" charset="0"/>
                          <a:cs typeface="Times New Roman" panose="02020603050405020304" pitchFamily="18" charset="0"/>
                        </a:rPr>
                        <a:t>arpack</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effectLst/>
                          <a:latin typeface="Times New Roman" panose="02020603050405020304" pitchFamily="18" charset="0"/>
                          <a:cs typeface="Times New Roman" panose="02020603050405020304" pitchFamily="18" charset="0"/>
                        </a:rPr>
                        <a:t>LM</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effectLst/>
                          <a:latin typeface="Times New Roman" panose="02020603050405020304" pitchFamily="18" charset="0"/>
                          <a:cs typeface="Times New Roman" panose="02020603050405020304" pitchFamily="18" charset="0"/>
                        </a:rPr>
                        <a:t>19,34099</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FF0000"/>
                    </a:solidFill>
                  </a:tcPr>
                </a:tc>
                <a:extLst>
                  <a:ext uri="{0D108BD9-81ED-4DB2-BD59-A6C34878D82A}">
                    <a16:rowId xmlns:a16="http://schemas.microsoft.com/office/drawing/2014/main" val="2555778790"/>
                  </a:ext>
                </a:extLst>
              </a:tr>
              <a:tr h="287810">
                <a:tc>
                  <a:txBody>
                    <a:bodyPr/>
                    <a:lstStyle/>
                    <a:p>
                      <a:pPr algn="ctr">
                        <a:lnSpc>
                          <a:spcPct val="150000"/>
                        </a:lnSpc>
                        <a:spcAft>
                          <a:spcPts val="800"/>
                        </a:spcAft>
                      </a:pPr>
                      <a:r>
                        <a:rPr lang="ru-RU" sz="1400">
                          <a:effectLst/>
                          <a:latin typeface="Times New Roman" panose="02020603050405020304" pitchFamily="18" charset="0"/>
                          <a:cs typeface="Times New Roman" panose="02020603050405020304" pitchFamily="18" charset="0"/>
                        </a:rPr>
                        <a:t>10</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effectLst/>
                          <a:latin typeface="Times New Roman" panose="02020603050405020304" pitchFamily="18" charset="0"/>
                          <a:cs typeface="Times New Roman" panose="02020603050405020304" pitchFamily="18" charset="0"/>
                        </a:rPr>
                        <a:t>arpack</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effectLst/>
                          <a:latin typeface="Times New Roman" panose="02020603050405020304" pitchFamily="18" charset="0"/>
                          <a:cs typeface="Times New Roman" panose="02020603050405020304" pitchFamily="18" charset="0"/>
                        </a:rPr>
                        <a:t>SM</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effectLst/>
                          <a:latin typeface="Times New Roman" panose="02020603050405020304" pitchFamily="18" charset="0"/>
                          <a:cs typeface="Times New Roman" panose="02020603050405020304" pitchFamily="18" charset="0"/>
                        </a:rPr>
                        <a:t>175,53</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FF0000"/>
                    </a:solidFill>
                  </a:tcPr>
                </a:tc>
                <a:extLst>
                  <a:ext uri="{0D108BD9-81ED-4DB2-BD59-A6C34878D82A}">
                    <a16:rowId xmlns:a16="http://schemas.microsoft.com/office/drawing/2014/main" val="1840943203"/>
                  </a:ext>
                </a:extLst>
              </a:tr>
              <a:tr h="287810">
                <a:tc>
                  <a:txBody>
                    <a:bodyPr/>
                    <a:lstStyle/>
                    <a:p>
                      <a:pPr algn="ctr">
                        <a:lnSpc>
                          <a:spcPct val="150000"/>
                        </a:lnSpc>
                        <a:spcAft>
                          <a:spcPts val="800"/>
                        </a:spcAft>
                      </a:pPr>
                      <a:r>
                        <a:rPr lang="ru-RU" sz="1400">
                          <a:effectLst/>
                          <a:latin typeface="Times New Roman" panose="02020603050405020304" pitchFamily="18" charset="0"/>
                          <a:cs typeface="Times New Roman" panose="02020603050405020304" pitchFamily="18" charset="0"/>
                        </a:rPr>
                        <a:t>10</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effectLst/>
                          <a:latin typeface="Times New Roman" panose="02020603050405020304" pitchFamily="18" charset="0"/>
                          <a:cs typeface="Times New Roman" panose="02020603050405020304" pitchFamily="18" charset="0"/>
                        </a:rPr>
                        <a:t>lobpcg</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effectLst/>
                          <a:latin typeface="Times New Roman" panose="02020603050405020304" pitchFamily="18" charset="0"/>
                          <a:cs typeface="Times New Roman" panose="02020603050405020304" pitchFamily="18" charset="0"/>
                        </a:rPr>
                        <a:t>LM</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effectLst/>
                          <a:latin typeface="Times New Roman" panose="02020603050405020304" pitchFamily="18" charset="0"/>
                          <a:cs typeface="Times New Roman" panose="02020603050405020304" pitchFamily="18" charset="0"/>
                        </a:rPr>
                        <a:t>19,34099</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FF0000"/>
                    </a:solidFill>
                  </a:tcPr>
                </a:tc>
                <a:extLst>
                  <a:ext uri="{0D108BD9-81ED-4DB2-BD59-A6C34878D82A}">
                    <a16:rowId xmlns:a16="http://schemas.microsoft.com/office/drawing/2014/main" val="2431228681"/>
                  </a:ext>
                </a:extLst>
              </a:tr>
              <a:tr h="287810">
                <a:tc>
                  <a:txBody>
                    <a:bodyPr/>
                    <a:lstStyle/>
                    <a:p>
                      <a:pPr algn="ctr">
                        <a:lnSpc>
                          <a:spcPct val="150000"/>
                        </a:lnSpc>
                        <a:spcAft>
                          <a:spcPts val="800"/>
                        </a:spcAft>
                      </a:pPr>
                      <a:r>
                        <a:rPr lang="ru-RU" sz="1400">
                          <a:effectLst/>
                          <a:latin typeface="Times New Roman" panose="02020603050405020304" pitchFamily="18" charset="0"/>
                          <a:cs typeface="Times New Roman" panose="02020603050405020304" pitchFamily="18" charset="0"/>
                        </a:rPr>
                        <a:t>10</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err="1">
                          <a:effectLst/>
                          <a:latin typeface="Times New Roman" panose="02020603050405020304" pitchFamily="18" charset="0"/>
                          <a:cs typeface="Times New Roman" panose="02020603050405020304" pitchFamily="18" charset="0"/>
                        </a:rPr>
                        <a:t>lobpcg</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effectLst/>
                          <a:latin typeface="Times New Roman" panose="02020603050405020304" pitchFamily="18" charset="0"/>
                          <a:cs typeface="Times New Roman" panose="02020603050405020304" pitchFamily="18" charset="0"/>
                        </a:rPr>
                        <a:t>SM</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effectLst/>
                          <a:latin typeface="Times New Roman" panose="02020603050405020304" pitchFamily="18" charset="0"/>
                          <a:cs typeface="Times New Roman" panose="02020603050405020304" pitchFamily="18" charset="0"/>
                        </a:rPr>
                        <a:t>175,5295</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FF0000"/>
                    </a:solidFill>
                  </a:tcPr>
                </a:tc>
                <a:extLst>
                  <a:ext uri="{0D108BD9-81ED-4DB2-BD59-A6C34878D82A}">
                    <a16:rowId xmlns:a16="http://schemas.microsoft.com/office/drawing/2014/main" val="3898141591"/>
                  </a:ext>
                </a:extLst>
              </a:tr>
              <a:tr h="287810">
                <a:tc>
                  <a:txBody>
                    <a:bodyPr/>
                    <a:lstStyle/>
                    <a:p>
                      <a:pPr algn="ctr">
                        <a:lnSpc>
                          <a:spcPct val="150000"/>
                        </a:lnSpc>
                        <a:spcAft>
                          <a:spcPts val="800"/>
                        </a:spcAft>
                      </a:pPr>
                      <a:r>
                        <a:rPr lang="ru-RU" sz="1400">
                          <a:effectLst/>
                          <a:latin typeface="Times New Roman" panose="02020603050405020304" pitchFamily="18" charset="0"/>
                          <a:cs typeface="Times New Roman" panose="02020603050405020304" pitchFamily="18" charset="0"/>
                        </a:rPr>
                        <a:t>10</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effectLst/>
                          <a:latin typeface="Times New Roman" panose="02020603050405020304" pitchFamily="18" charset="0"/>
                          <a:cs typeface="Times New Roman" panose="02020603050405020304" pitchFamily="18" charset="0"/>
                        </a:rPr>
                        <a:t>propack</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effectLst/>
                          <a:latin typeface="Times New Roman" panose="02020603050405020304" pitchFamily="18" charset="0"/>
                          <a:cs typeface="Times New Roman" panose="02020603050405020304" pitchFamily="18" charset="0"/>
                        </a:rPr>
                        <a:t>LM</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effectLst/>
                          <a:latin typeface="Times New Roman" panose="02020603050405020304" pitchFamily="18" charset="0"/>
                          <a:cs typeface="Times New Roman" panose="02020603050405020304" pitchFamily="18" charset="0"/>
                        </a:rPr>
                        <a:t>19,34099</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FF0000"/>
                    </a:solidFill>
                  </a:tcPr>
                </a:tc>
                <a:extLst>
                  <a:ext uri="{0D108BD9-81ED-4DB2-BD59-A6C34878D82A}">
                    <a16:rowId xmlns:a16="http://schemas.microsoft.com/office/drawing/2014/main" val="1205265139"/>
                  </a:ext>
                </a:extLst>
              </a:tr>
              <a:tr h="287810">
                <a:tc>
                  <a:txBody>
                    <a:bodyPr/>
                    <a:lstStyle/>
                    <a:p>
                      <a:pPr algn="ctr">
                        <a:lnSpc>
                          <a:spcPct val="150000"/>
                        </a:lnSpc>
                        <a:spcAft>
                          <a:spcPts val="800"/>
                        </a:spcAft>
                      </a:pPr>
                      <a:r>
                        <a:rPr lang="ru-RU" sz="1400" dirty="0">
                          <a:effectLst/>
                          <a:latin typeface="Times New Roman" panose="02020603050405020304" pitchFamily="18" charset="0"/>
                          <a:cs typeface="Times New Roman" panose="02020603050405020304" pitchFamily="18" charset="0"/>
                        </a:rPr>
                        <a:t>10</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effectLst/>
                          <a:latin typeface="Times New Roman" panose="02020603050405020304" pitchFamily="18" charset="0"/>
                          <a:cs typeface="Times New Roman" panose="02020603050405020304" pitchFamily="18" charset="0"/>
                        </a:rPr>
                        <a:t>propack</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effectLst/>
                          <a:latin typeface="Times New Roman" panose="02020603050405020304" pitchFamily="18" charset="0"/>
                          <a:cs typeface="Times New Roman" panose="02020603050405020304" pitchFamily="18" charset="0"/>
                        </a:rPr>
                        <a:t>SM</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effectLst/>
                          <a:latin typeface="Times New Roman" panose="02020603050405020304" pitchFamily="18" charset="0"/>
                          <a:cs typeface="Times New Roman" panose="02020603050405020304" pitchFamily="18" charset="0"/>
                        </a:rPr>
                        <a:t>175,5301</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FF0000"/>
                    </a:solidFill>
                  </a:tcPr>
                </a:tc>
                <a:extLst>
                  <a:ext uri="{0D108BD9-81ED-4DB2-BD59-A6C34878D82A}">
                    <a16:rowId xmlns:a16="http://schemas.microsoft.com/office/drawing/2014/main" val="115802186"/>
                  </a:ext>
                </a:extLst>
              </a:tr>
              <a:tr h="287810">
                <a:tc>
                  <a:txBody>
                    <a:bodyPr/>
                    <a:lstStyle/>
                    <a:p>
                      <a:pPr algn="ctr">
                        <a:lnSpc>
                          <a:spcPct val="150000"/>
                        </a:lnSpc>
                        <a:spcAft>
                          <a:spcPts val="800"/>
                        </a:spcAft>
                      </a:pPr>
                      <a:r>
                        <a:rPr lang="ru-RU" sz="1400">
                          <a:effectLst/>
                          <a:latin typeface="Times New Roman" panose="02020603050405020304" pitchFamily="18" charset="0"/>
                          <a:cs typeface="Times New Roman" panose="02020603050405020304" pitchFamily="18" charset="0"/>
                        </a:rPr>
                        <a:t>30</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effectLst/>
                          <a:latin typeface="Times New Roman" panose="02020603050405020304" pitchFamily="18" charset="0"/>
                          <a:cs typeface="Times New Roman" panose="02020603050405020304" pitchFamily="18" charset="0"/>
                        </a:rPr>
                        <a:t>arpack</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effectLst/>
                          <a:latin typeface="Times New Roman" panose="02020603050405020304" pitchFamily="18" charset="0"/>
                          <a:cs typeface="Times New Roman" panose="02020603050405020304" pitchFamily="18" charset="0"/>
                        </a:rPr>
                        <a:t>LM</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effectLst/>
                          <a:latin typeface="Times New Roman" panose="02020603050405020304" pitchFamily="18" charset="0"/>
                          <a:cs typeface="Times New Roman" panose="02020603050405020304" pitchFamily="18" charset="0"/>
                        </a:rPr>
                        <a:t>10,48606</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FF9966"/>
                    </a:solidFill>
                  </a:tcPr>
                </a:tc>
                <a:extLst>
                  <a:ext uri="{0D108BD9-81ED-4DB2-BD59-A6C34878D82A}">
                    <a16:rowId xmlns:a16="http://schemas.microsoft.com/office/drawing/2014/main" val="436046373"/>
                  </a:ext>
                </a:extLst>
              </a:tr>
              <a:tr h="287810">
                <a:tc>
                  <a:txBody>
                    <a:bodyPr/>
                    <a:lstStyle/>
                    <a:p>
                      <a:pPr algn="ctr">
                        <a:lnSpc>
                          <a:spcPct val="150000"/>
                        </a:lnSpc>
                        <a:spcAft>
                          <a:spcPts val="800"/>
                        </a:spcAft>
                      </a:pPr>
                      <a:r>
                        <a:rPr lang="ru-RU" sz="1400">
                          <a:effectLst/>
                          <a:latin typeface="Times New Roman" panose="02020603050405020304" pitchFamily="18" charset="0"/>
                          <a:cs typeface="Times New Roman" panose="02020603050405020304" pitchFamily="18" charset="0"/>
                        </a:rPr>
                        <a:t>30</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err="1">
                          <a:effectLst/>
                          <a:latin typeface="Times New Roman" panose="02020603050405020304" pitchFamily="18" charset="0"/>
                          <a:cs typeface="Times New Roman" panose="02020603050405020304" pitchFamily="18" charset="0"/>
                        </a:rPr>
                        <a:t>arpack</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effectLst/>
                          <a:latin typeface="Times New Roman" panose="02020603050405020304" pitchFamily="18" charset="0"/>
                          <a:cs typeface="Times New Roman" panose="02020603050405020304" pitchFamily="18" charset="0"/>
                        </a:rPr>
                        <a:t>SM</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effectLst/>
                          <a:latin typeface="Times New Roman" panose="02020603050405020304" pitchFamily="18" charset="0"/>
                          <a:cs typeface="Times New Roman" panose="02020603050405020304" pitchFamily="18" charset="0"/>
                        </a:rPr>
                        <a:t>175,5299</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FF0000"/>
                    </a:solidFill>
                  </a:tcPr>
                </a:tc>
                <a:extLst>
                  <a:ext uri="{0D108BD9-81ED-4DB2-BD59-A6C34878D82A}">
                    <a16:rowId xmlns:a16="http://schemas.microsoft.com/office/drawing/2014/main" val="1333879262"/>
                  </a:ext>
                </a:extLst>
              </a:tr>
              <a:tr h="287810">
                <a:tc>
                  <a:txBody>
                    <a:bodyPr/>
                    <a:lstStyle/>
                    <a:p>
                      <a:pPr algn="ctr">
                        <a:lnSpc>
                          <a:spcPct val="150000"/>
                        </a:lnSpc>
                        <a:spcAft>
                          <a:spcPts val="800"/>
                        </a:spcAft>
                      </a:pPr>
                      <a:r>
                        <a:rPr lang="ru-RU" sz="1400" b="1" kern="1200" dirty="0">
                          <a:solidFill>
                            <a:schemeClr val="lt1"/>
                          </a:solidFill>
                          <a:effectLst/>
                          <a:latin typeface="Times New Roman" panose="02020603050405020304" pitchFamily="18" charset="0"/>
                          <a:ea typeface="+mn-ea"/>
                          <a:cs typeface="Times New Roman" panose="02020603050405020304" pitchFamily="18" charset="0"/>
                        </a:rPr>
                        <a:t>30</a:t>
                      </a: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lobpcg</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LM</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10,48606</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FF9966"/>
                    </a:solidFill>
                  </a:tcPr>
                </a:tc>
                <a:extLst>
                  <a:ext uri="{0D108BD9-81ED-4DB2-BD59-A6C34878D82A}">
                    <a16:rowId xmlns:a16="http://schemas.microsoft.com/office/drawing/2014/main" val="308349776"/>
                  </a:ext>
                </a:extLst>
              </a:tr>
              <a:tr h="287810">
                <a:tc>
                  <a:txBody>
                    <a:bodyPr/>
                    <a:lstStyle/>
                    <a:p>
                      <a:pPr algn="ctr">
                        <a:lnSpc>
                          <a:spcPct val="150000"/>
                        </a:lnSpc>
                        <a:spcAft>
                          <a:spcPts val="800"/>
                        </a:spcAft>
                      </a:pPr>
                      <a:r>
                        <a:rPr lang="ru-RU" sz="1400" b="1" kern="1200" dirty="0">
                          <a:solidFill>
                            <a:schemeClr val="lt1"/>
                          </a:solidFill>
                          <a:effectLst/>
                          <a:latin typeface="Times New Roman" panose="02020603050405020304" pitchFamily="18" charset="0"/>
                          <a:ea typeface="+mn-ea"/>
                          <a:cs typeface="Times New Roman" panose="02020603050405020304" pitchFamily="18" charset="0"/>
                        </a:rPr>
                        <a:t>30</a:t>
                      </a: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lobpcg</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SM</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175,5296</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FF0000"/>
                    </a:solidFill>
                  </a:tcPr>
                </a:tc>
                <a:extLst>
                  <a:ext uri="{0D108BD9-81ED-4DB2-BD59-A6C34878D82A}">
                    <a16:rowId xmlns:a16="http://schemas.microsoft.com/office/drawing/2014/main" val="2644309536"/>
                  </a:ext>
                </a:extLst>
              </a:tr>
              <a:tr h="287810">
                <a:tc>
                  <a:txBody>
                    <a:bodyPr/>
                    <a:lstStyle/>
                    <a:p>
                      <a:pPr algn="ctr">
                        <a:lnSpc>
                          <a:spcPct val="150000"/>
                        </a:lnSpc>
                        <a:spcAft>
                          <a:spcPts val="800"/>
                        </a:spcAft>
                      </a:pPr>
                      <a:r>
                        <a:rPr lang="ru-RU" sz="1400" b="1" kern="1200" dirty="0">
                          <a:solidFill>
                            <a:schemeClr val="lt1"/>
                          </a:solidFill>
                          <a:effectLst/>
                          <a:latin typeface="Times New Roman" panose="02020603050405020304" pitchFamily="18" charset="0"/>
                          <a:ea typeface="+mn-ea"/>
                          <a:cs typeface="Times New Roman" panose="02020603050405020304" pitchFamily="18" charset="0"/>
                        </a:rPr>
                        <a:t>30</a:t>
                      </a: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propack</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LM</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10,48606</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FF9966"/>
                    </a:solidFill>
                  </a:tcPr>
                </a:tc>
                <a:extLst>
                  <a:ext uri="{0D108BD9-81ED-4DB2-BD59-A6C34878D82A}">
                    <a16:rowId xmlns:a16="http://schemas.microsoft.com/office/drawing/2014/main" val="922434133"/>
                  </a:ext>
                </a:extLst>
              </a:tr>
              <a:tr h="287810">
                <a:tc>
                  <a:txBody>
                    <a:bodyPr/>
                    <a:lstStyle/>
                    <a:p>
                      <a:pPr algn="ctr">
                        <a:lnSpc>
                          <a:spcPct val="150000"/>
                        </a:lnSpc>
                        <a:spcAft>
                          <a:spcPts val="800"/>
                        </a:spcAft>
                      </a:pPr>
                      <a:r>
                        <a:rPr lang="ru-RU" sz="1400" b="1" kern="1200" dirty="0">
                          <a:solidFill>
                            <a:schemeClr val="lt1"/>
                          </a:solidFill>
                          <a:effectLst/>
                          <a:latin typeface="Times New Roman" panose="02020603050405020304" pitchFamily="18" charset="0"/>
                          <a:ea typeface="+mn-ea"/>
                          <a:cs typeface="Times New Roman" panose="02020603050405020304" pitchFamily="18" charset="0"/>
                        </a:rPr>
                        <a:t>30</a:t>
                      </a: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propack</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SM</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175,53</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FF0000"/>
                    </a:solidFill>
                  </a:tcPr>
                </a:tc>
                <a:extLst>
                  <a:ext uri="{0D108BD9-81ED-4DB2-BD59-A6C34878D82A}">
                    <a16:rowId xmlns:a16="http://schemas.microsoft.com/office/drawing/2014/main" val="2094397249"/>
                  </a:ext>
                </a:extLst>
              </a:tr>
              <a:tr h="287810">
                <a:tc>
                  <a:txBody>
                    <a:bodyPr/>
                    <a:lstStyle/>
                    <a:p>
                      <a:pPr algn="ctr">
                        <a:lnSpc>
                          <a:spcPct val="150000"/>
                        </a:lnSpc>
                        <a:spcAft>
                          <a:spcPts val="800"/>
                        </a:spcAft>
                      </a:pPr>
                      <a:r>
                        <a:rPr lang="ru-RU" sz="1400" b="1" kern="1200" dirty="0">
                          <a:solidFill>
                            <a:schemeClr val="lt1"/>
                          </a:solidFill>
                          <a:effectLst/>
                          <a:latin typeface="Times New Roman" panose="02020603050405020304" pitchFamily="18" charset="0"/>
                          <a:ea typeface="+mn-ea"/>
                          <a:cs typeface="Times New Roman" panose="02020603050405020304" pitchFamily="18" charset="0"/>
                        </a:rPr>
                        <a:t>70</a:t>
                      </a: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arpack</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LM</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5,585354</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00B050"/>
                    </a:solidFill>
                  </a:tcPr>
                </a:tc>
                <a:extLst>
                  <a:ext uri="{0D108BD9-81ED-4DB2-BD59-A6C34878D82A}">
                    <a16:rowId xmlns:a16="http://schemas.microsoft.com/office/drawing/2014/main" val="1680928775"/>
                  </a:ext>
                </a:extLst>
              </a:tr>
              <a:tr h="287810">
                <a:tc>
                  <a:txBody>
                    <a:bodyPr/>
                    <a:lstStyle/>
                    <a:p>
                      <a:pPr algn="ctr">
                        <a:lnSpc>
                          <a:spcPct val="150000"/>
                        </a:lnSpc>
                        <a:spcAft>
                          <a:spcPts val="800"/>
                        </a:spcAft>
                      </a:pPr>
                      <a:r>
                        <a:rPr lang="ru-RU" sz="1400" b="1" kern="1200" dirty="0">
                          <a:solidFill>
                            <a:schemeClr val="lt1"/>
                          </a:solidFill>
                          <a:effectLst/>
                          <a:latin typeface="Times New Roman" panose="02020603050405020304" pitchFamily="18" charset="0"/>
                          <a:ea typeface="+mn-ea"/>
                          <a:cs typeface="Times New Roman" panose="02020603050405020304" pitchFamily="18" charset="0"/>
                        </a:rPr>
                        <a:t>70</a:t>
                      </a: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arpack</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SM</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175,5292</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FF0000"/>
                    </a:solidFill>
                  </a:tcPr>
                </a:tc>
                <a:extLst>
                  <a:ext uri="{0D108BD9-81ED-4DB2-BD59-A6C34878D82A}">
                    <a16:rowId xmlns:a16="http://schemas.microsoft.com/office/drawing/2014/main" val="2126769447"/>
                  </a:ext>
                </a:extLst>
              </a:tr>
              <a:tr h="287810">
                <a:tc>
                  <a:txBody>
                    <a:bodyPr/>
                    <a:lstStyle/>
                    <a:p>
                      <a:pPr algn="ctr">
                        <a:lnSpc>
                          <a:spcPct val="150000"/>
                        </a:lnSpc>
                        <a:spcAft>
                          <a:spcPts val="800"/>
                        </a:spcAft>
                      </a:pPr>
                      <a:r>
                        <a:rPr lang="ru-RU" sz="1400" b="1" kern="1200" dirty="0">
                          <a:solidFill>
                            <a:schemeClr val="lt1"/>
                          </a:solidFill>
                          <a:effectLst/>
                          <a:latin typeface="Times New Roman" panose="02020603050405020304" pitchFamily="18" charset="0"/>
                          <a:ea typeface="+mn-ea"/>
                          <a:cs typeface="Times New Roman" panose="02020603050405020304" pitchFamily="18" charset="0"/>
                        </a:rPr>
                        <a:t>70</a:t>
                      </a: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lobpcg</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LM</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5,585354</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00B050"/>
                    </a:solidFill>
                  </a:tcPr>
                </a:tc>
                <a:extLst>
                  <a:ext uri="{0D108BD9-81ED-4DB2-BD59-A6C34878D82A}">
                    <a16:rowId xmlns:a16="http://schemas.microsoft.com/office/drawing/2014/main" val="2555505952"/>
                  </a:ext>
                </a:extLst>
              </a:tr>
              <a:tr h="287810">
                <a:tc>
                  <a:txBody>
                    <a:bodyPr/>
                    <a:lstStyle/>
                    <a:p>
                      <a:pPr algn="ctr">
                        <a:lnSpc>
                          <a:spcPct val="150000"/>
                        </a:lnSpc>
                        <a:spcAft>
                          <a:spcPts val="800"/>
                        </a:spcAft>
                      </a:pPr>
                      <a:r>
                        <a:rPr lang="ru-RU" sz="1400" b="1" kern="1200" dirty="0">
                          <a:solidFill>
                            <a:schemeClr val="lt1"/>
                          </a:solidFill>
                          <a:effectLst/>
                          <a:latin typeface="Times New Roman" panose="02020603050405020304" pitchFamily="18" charset="0"/>
                          <a:ea typeface="+mn-ea"/>
                          <a:cs typeface="Times New Roman" panose="02020603050405020304" pitchFamily="18" charset="0"/>
                        </a:rPr>
                        <a:t>70</a:t>
                      </a: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lobpcg</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SM</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175,5292</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FF0000"/>
                    </a:solidFill>
                  </a:tcPr>
                </a:tc>
                <a:extLst>
                  <a:ext uri="{0D108BD9-81ED-4DB2-BD59-A6C34878D82A}">
                    <a16:rowId xmlns:a16="http://schemas.microsoft.com/office/drawing/2014/main" val="162771204"/>
                  </a:ext>
                </a:extLst>
              </a:tr>
              <a:tr h="287810">
                <a:tc>
                  <a:txBody>
                    <a:bodyPr/>
                    <a:lstStyle/>
                    <a:p>
                      <a:pPr algn="ctr">
                        <a:lnSpc>
                          <a:spcPct val="150000"/>
                        </a:lnSpc>
                        <a:spcAft>
                          <a:spcPts val="800"/>
                        </a:spcAft>
                      </a:pPr>
                      <a:r>
                        <a:rPr lang="ru-RU" sz="1400" b="1" kern="1200" dirty="0">
                          <a:solidFill>
                            <a:schemeClr val="lt1"/>
                          </a:solidFill>
                          <a:effectLst/>
                          <a:latin typeface="Times New Roman" panose="02020603050405020304" pitchFamily="18" charset="0"/>
                          <a:ea typeface="+mn-ea"/>
                          <a:cs typeface="Times New Roman" panose="02020603050405020304" pitchFamily="18" charset="0"/>
                        </a:rPr>
                        <a:t>70</a:t>
                      </a: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propack</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LM</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5,585354</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00B050"/>
                    </a:solidFill>
                  </a:tcPr>
                </a:tc>
                <a:extLst>
                  <a:ext uri="{0D108BD9-81ED-4DB2-BD59-A6C34878D82A}">
                    <a16:rowId xmlns:a16="http://schemas.microsoft.com/office/drawing/2014/main" val="335632801"/>
                  </a:ext>
                </a:extLst>
              </a:tr>
              <a:tr h="287810">
                <a:tc>
                  <a:txBody>
                    <a:bodyPr/>
                    <a:lstStyle/>
                    <a:p>
                      <a:pPr algn="ctr">
                        <a:lnSpc>
                          <a:spcPct val="150000"/>
                        </a:lnSpc>
                        <a:spcAft>
                          <a:spcPts val="800"/>
                        </a:spcAft>
                      </a:pPr>
                      <a:r>
                        <a:rPr lang="ru-RU" sz="1400" b="1" kern="1200" dirty="0">
                          <a:solidFill>
                            <a:schemeClr val="lt1"/>
                          </a:solidFill>
                          <a:effectLst/>
                          <a:latin typeface="Times New Roman" panose="02020603050405020304" pitchFamily="18" charset="0"/>
                          <a:ea typeface="+mn-ea"/>
                          <a:cs typeface="Times New Roman" panose="02020603050405020304" pitchFamily="18" charset="0"/>
                        </a:rPr>
                        <a:t>70</a:t>
                      </a: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propack</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SM</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175,5292</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FF0000"/>
                    </a:solidFill>
                  </a:tcPr>
                </a:tc>
                <a:extLst>
                  <a:ext uri="{0D108BD9-81ED-4DB2-BD59-A6C34878D82A}">
                    <a16:rowId xmlns:a16="http://schemas.microsoft.com/office/drawing/2014/main" val="3118596385"/>
                  </a:ext>
                </a:extLst>
              </a:tr>
              <a:tr h="287810">
                <a:tc>
                  <a:txBody>
                    <a:bodyPr/>
                    <a:lstStyle/>
                    <a:p>
                      <a:pPr algn="ctr">
                        <a:lnSpc>
                          <a:spcPct val="150000"/>
                        </a:lnSpc>
                        <a:spcAft>
                          <a:spcPts val="800"/>
                        </a:spcAft>
                      </a:pPr>
                      <a:r>
                        <a:rPr lang="ru-RU" sz="1400" b="1" kern="1200" dirty="0">
                          <a:solidFill>
                            <a:schemeClr val="lt1"/>
                          </a:solidFill>
                          <a:effectLst/>
                          <a:latin typeface="Times New Roman" panose="02020603050405020304" pitchFamily="18" charset="0"/>
                          <a:ea typeface="+mn-ea"/>
                          <a:cs typeface="Times New Roman" panose="02020603050405020304" pitchFamily="18" charset="0"/>
                        </a:rPr>
                        <a:t>100</a:t>
                      </a: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arpack</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LM</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3,817301</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00B050"/>
                    </a:solidFill>
                  </a:tcPr>
                </a:tc>
                <a:extLst>
                  <a:ext uri="{0D108BD9-81ED-4DB2-BD59-A6C34878D82A}">
                    <a16:rowId xmlns:a16="http://schemas.microsoft.com/office/drawing/2014/main" val="828632246"/>
                  </a:ext>
                </a:extLst>
              </a:tr>
            </a:tbl>
          </a:graphicData>
        </a:graphic>
      </p:graphicFrame>
      <p:sp>
        <p:nvSpPr>
          <p:cNvPr id="6" name="Блок-схема: узел 5">
            <a:extLst>
              <a:ext uri="{FF2B5EF4-FFF2-40B4-BE49-F238E27FC236}">
                <a16:creationId xmlns:a16="http://schemas.microsoft.com/office/drawing/2014/main" id="{B9D8E9C1-59F8-4A13-8F61-A42FDA636BB0}"/>
              </a:ext>
            </a:extLst>
          </p:cNvPr>
          <p:cNvSpPr/>
          <p:nvPr/>
        </p:nvSpPr>
        <p:spPr>
          <a:xfrm>
            <a:off x="11384325" y="48277"/>
            <a:ext cx="720000" cy="720000"/>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solidFill>
                  <a:schemeClr val="tx1"/>
                </a:solidFill>
                <a:latin typeface="Times New Roman" panose="02020603050405020304" pitchFamily="18" charset="0"/>
                <a:cs typeface="Times New Roman" panose="02020603050405020304" pitchFamily="18" charset="0"/>
              </a:rPr>
              <a:t>29</a:t>
            </a:r>
          </a:p>
        </p:txBody>
      </p:sp>
      <p:sp>
        <p:nvSpPr>
          <p:cNvPr id="7" name="Заголовок 1">
            <a:extLst>
              <a:ext uri="{FF2B5EF4-FFF2-40B4-BE49-F238E27FC236}">
                <a16:creationId xmlns:a16="http://schemas.microsoft.com/office/drawing/2014/main" id="{E622F117-3210-403D-BB01-69C335EB2BEE}"/>
              </a:ext>
            </a:extLst>
          </p:cNvPr>
          <p:cNvSpPr txBox="1">
            <a:spLocks/>
          </p:cNvSpPr>
          <p:nvPr/>
        </p:nvSpPr>
        <p:spPr>
          <a:xfrm>
            <a:off x="285749" y="307976"/>
            <a:ext cx="4733926" cy="4445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ru-RU" sz="3200" b="1" dirty="0">
                <a:effectLst/>
                <a:latin typeface="Times New Roman" panose="02020603050405020304" pitchFamily="18" charset="0"/>
                <a:ea typeface="Calibri" panose="020F0502020204030204" pitchFamily="34" charset="0"/>
              </a:rPr>
              <a:t>Оценка методов</a:t>
            </a:r>
            <a:endParaRPr lang="ru-RU"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72264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Таблица 4">
            <a:extLst>
              <a:ext uri="{FF2B5EF4-FFF2-40B4-BE49-F238E27FC236}">
                <a16:creationId xmlns:a16="http://schemas.microsoft.com/office/drawing/2014/main" id="{FEE12C61-D77E-403D-92C0-5AC79612392B}"/>
              </a:ext>
            </a:extLst>
          </p:cNvPr>
          <p:cNvGraphicFramePr>
            <a:graphicFrameLocks noGrp="1"/>
          </p:cNvGraphicFramePr>
          <p:nvPr>
            <p:extLst>
              <p:ext uri="{D42A27DB-BD31-4B8C-83A1-F6EECF244321}">
                <p14:modId xmlns:p14="http://schemas.microsoft.com/office/powerpoint/2010/main" val="1243216686"/>
              </p:ext>
            </p:extLst>
          </p:nvPr>
        </p:nvGraphicFramePr>
        <p:xfrm>
          <a:off x="598488" y="946224"/>
          <a:ext cx="10995024" cy="1726860"/>
        </p:xfrm>
        <a:graphic>
          <a:graphicData uri="http://schemas.openxmlformats.org/drawingml/2006/table">
            <a:tbl>
              <a:tblPr firstRow="1" firstCol="1" bandRow="1">
                <a:tableStyleId>{5C22544A-7EE6-4342-B048-85BDC9FD1C3A}</a:tableStyleId>
              </a:tblPr>
              <a:tblGrid>
                <a:gridCol w="2748756">
                  <a:extLst>
                    <a:ext uri="{9D8B030D-6E8A-4147-A177-3AD203B41FA5}">
                      <a16:colId xmlns:a16="http://schemas.microsoft.com/office/drawing/2014/main" val="1500659297"/>
                    </a:ext>
                  </a:extLst>
                </a:gridCol>
                <a:gridCol w="2748756">
                  <a:extLst>
                    <a:ext uri="{9D8B030D-6E8A-4147-A177-3AD203B41FA5}">
                      <a16:colId xmlns:a16="http://schemas.microsoft.com/office/drawing/2014/main" val="3599458541"/>
                    </a:ext>
                  </a:extLst>
                </a:gridCol>
                <a:gridCol w="2748756">
                  <a:extLst>
                    <a:ext uri="{9D8B030D-6E8A-4147-A177-3AD203B41FA5}">
                      <a16:colId xmlns:a16="http://schemas.microsoft.com/office/drawing/2014/main" val="2084158807"/>
                    </a:ext>
                  </a:extLst>
                </a:gridCol>
                <a:gridCol w="2748756">
                  <a:extLst>
                    <a:ext uri="{9D8B030D-6E8A-4147-A177-3AD203B41FA5}">
                      <a16:colId xmlns:a16="http://schemas.microsoft.com/office/drawing/2014/main" val="3476817864"/>
                    </a:ext>
                  </a:extLst>
                </a:gridCol>
              </a:tblGrid>
              <a:tr h="287810">
                <a:tc>
                  <a:txBody>
                    <a:bodyPr/>
                    <a:lstStyle/>
                    <a:p>
                      <a:pPr algn="ctr">
                        <a:lnSpc>
                          <a:spcPct val="150000"/>
                        </a:lnSpc>
                        <a:spcAft>
                          <a:spcPts val="800"/>
                        </a:spcAft>
                      </a:pPr>
                      <a:r>
                        <a:rPr lang="ru-RU" sz="1400" dirty="0">
                          <a:effectLst/>
                          <a:latin typeface="Times New Roman" panose="02020603050405020304" pitchFamily="18" charset="0"/>
                          <a:cs typeface="Times New Roman" panose="02020603050405020304" pitchFamily="18" charset="0"/>
                        </a:rPr>
                        <a:t>Количество компонент</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effectLst/>
                          <a:latin typeface="Times New Roman" panose="02020603050405020304" pitchFamily="18" charset="0"/>
                          <a:cs typeface="Times New Roman" panose="02020603050405020304" pitchFamily="18" charset="0"/>
                        </a:rPr>
                        <a:t>Алгоритм</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effectLst/>
                          <a:latin typeface="Times New Roman" panose="02020603050405020304" pitchFamily="18" charset="0"/>
                          <a:cs typeface="Times New Roman" panose="02020603050405020304" pitchFamily="18" charset="0"/>
                        </a:rPr>
                        <a:t>Сингулярные значения</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effectLst/>
                          <a:latin typeface="Times New Roman" panose="02020603050405020304" pitchFamily="18" charset="0"/>
                          <a:cs typeface="Times New Roman" panose="02020603050405020304" pitchFamily="18" charset="0"/>
                        </a:rPr>
                        <a:t>Ошибка</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169962048"/>
                  </a:ext>
                </a:extLst>
              </a:tr>
              <a:tr h="287810">
                <a:tc>
                  <a:txBody>
                    <a:bodyPr/>
                    <a:lstStyle/>
                    <a:p>
                      <a:pPr marL="0" algn="ctr" defTabSz="914400" rtl="0" eaLnBrk="1" latinLnBrk="0" hangingPunct="1">
                        <a:lnSpc>
                          <a:spcPct val="150000"/>
                        </a:lnSpc>
                        <a:spcAft>
                          <a:spcPts val="800"/>
                        </a:spcAft>
                      </a:pPr>
                      <a:r>
                        <a:rPr lang="ru-RU" sz="1400" b="1" kern="1200" dirty="0">
                          <a:solidFill>
                            <a:schemeClr val="lt1"/>
                          </a:solidFill>
                          <a:effectLst/>
                          <a:latin typeface="Times New Roman" panose="02020603050405020304" pitchFamily="18" charset="0"/>
                          <a:ea typeface="+mn-ea"/>
                          <a:cs typeface="Times New Roman" panose="02020603050405020304" pitchFamily="18" charset="0"/>
                        </a:rPr>
                        <a:t>100</a:t>
                      </a:r>
                    </a:p>
                  </a:txBody>
                  <a:tcPr marL="68580" marR="68580" marT="0" marB="0" anchor="ctr"/>
                </a:tc>
                <a:tc>
                  <a:txBody>
                    <a:bodyPr/>
                    <a:lstStyle/>
                    <a:p>
                      <a:pPr algn="ctr">
                        <a:lnSpc>
                          <a:spcPct val="150000"/>
                        </a:lnSpc>
                        <a:spcAft>
                          <a:spcPts val="800"/>
                        </a:spcAft>
                      </a:pPr>
                      <a:r>
                        <a:rPr lang="ru-RU" sz="14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arpack</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SM</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175,5273</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FF0000"/>
                    </a:solidFill>
                  </a:tcPr>
                </a:tc>
                <a:extLst>
                  <a:ext uri="{0D108BD9-81ED-4DB2-BD59-A6C34878D82A}">
                    <a16:rowId xmlns:a16="http://schemas.microsoft.com/office/drawing/2014/main" val="2555778790"/>
                  </a:ext>
                </a:extLst>
              </a:tr>
              <a:tr h="287810">
                <a:tc>
                  <a:txBody>
                    <a:bodyPr/>
                    <a:lstStyle/>
                    <a:p>
                      <a:pPr marL="0" algn="ctr" defTabSz="914400" rtl="0" eaLnBrk="1" latinLnBrk="0" hangingPunct="1">
                        <a:lnSpc>
                          <a:spcPct val="150000"/>
                        </a:lnSpc>
                        <a:spcAft>
                          <a:spcPts val="800"/>
                        </a:spcAft>
                      </a:pPr>
                      <a:r>
                        <a:rPr lang="ru-RU" sz="1400" b="1" kern="1200" dirty="0">
                          <a:solidFill>
                            <a:schemeClr val="lt1"/>
                          </a:solidFill>
                          <a:effectLst/>
                          <a:latin typeface="Times New Roman" panose="02020603050405020304" pitchFamily="18" charset="0"/>
                          <a:ea typeface="+mn-ea"/>
                          <a:cs typeface="Times New Roman" panose="02020603050405020304" pitchFamily="18" charset="0"/>
                        </a:rPr>
                        <a:t>100</a:t>
                      </a: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lobpcg</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LM</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3,817301</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00B050"/>
                    </a:solidFill>
                  </a:tcPr>
                </a:tc>
                <a:extLst>
                  <a:ext uri="{0D108BD9-81ED-4DB2-BD59-A6C34878D82A}">
                    <a16:rowId xmlns:a16="http://schemas.microsoft.com/office/drawing/2014/main" val="1840943203"/>
                  </a:ext>
                </a:extLst>
              </a:tr>
              <a:tr h="287810">
                <a:tc>
                  <a:txBody>
                    <a:bodyPr/>
                    <a:lstStyle/>
                    <a:p>
                      <a:pPr marL="0" algn="ctr" defTabSz="914400" rtl="0" eaLnBrk="1" latinLnBrk="0" hangingPunct="1">
                        <a:lnSpc>
                          <a:spcPct val="150000"/>
                        </a:lnSpc>
                        <a:spcAft>
                          <a:spcPts val="800"/>
                        </a:spcAft>
                      </a:pPr>
                      <a:r>
                        <a:rPr lang="ru-RU" sz="1400" b="1" kern="1200" dirty="0">
                          <a:solidFill>
                            <a:schemeClr val="lt1"/>
                          </a:solidFill>
                          <a:effectLst/>
                          <a:latin typeface="Times New Roman" panose="02020603050405020304" pitchFamily="18" charset="0"/>
                          <a:ea typeface="+mn-ea"/>
                          <a:cs typeface="Times New Roman" panose="02020603050405020304" pitchFamily="18" charset="0"/>
                        </a:rPr>
                        <a:t>100</a:t>
                      </a: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lobpcg</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SM</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175,5273</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FF0000"/>
                    </a:solidFill>
                  </a:tcPr>
                </a:tc>
                <a:extLst>
                  <a:ext uri="{0D108BD9-81ED-4DB2-BD59-A6C34878D82A}">
                    <a16:rowId xmlns:a16="http://schemas.microsoft.com/office/drawing/2014/main" val="2431228681"/>
                  </a:ext>
                </a:extLst>
              </a:tr>
              <a:tr h="287810">
                <a:tc>
                  <a:txBody>
                    <a:bodyPr/>
                    <a:lstStyle/>
                    <a:p>
                      <a:pPr marL="0" algn="ctr" defTabSz="914400" rtl="0" eaLnBrk="1" latinLnBrk="0" hangingPunct="1">
                        <a:lnSpc>
                          <a:spcPct val="150000"/>
                        </a:lnSpc>
                        <a:spcAft>
                          <a:spcPts val="800"/>
                        </a:spcAft>
                      </a:pPr>
                      <a:r>
                        <a:rPr lang="ru-RU" sz="1400" b="1" kern="1200" dirty="0">
                          <a:solidFill>
                            <a:schemeClr val="lt1"/>
                          </a:solidFill>
                          <a:effectLst/>
                          <a:latin typeface="Times New Roman" panose="02020603050405020304" pitchFamily="18" charset="0"/>
                          <a:ea typeface="+mn-ea"/>
                          <a:cs typeface="Times New Roman" panose="02020603050405020304" pitchFamily="18" charset="0"/>
                        </a:rPr>
                        <a:t>100</a:t>
                      </a: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propack</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LM</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3,817301</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00B050"/>
                    </a:solidFill>
                  </a:tcPr>
                </a:tc>
                <a:extLst>
                  <a:ext uri="{0D108BD9-81ED-4DB2-BD59-A6C34878D82A}">
                    <a16:rowId xmlns:a16="http://schemas.microsoft.com/office/drawing/2014/main" val="3898141591"/>
                  </a:ext>
                </a:extLst>
              </a:tr>
              <a:tr h="287810">
                <a:tc>
                  <a:txBody>
                    <a:bodyPr/>
                    <a:lstStyle/>
                    <a:p>
                      <a:pPr marL="0" algn="ctr" defTabSz="914400" rtl="0" eaLnBrk="1" latinLnBrk="0" hangingPunct="1">
                        <a:lnSpc>
                          <a:spcPct val="150000"/>
                        </a:lnSpc>
                        <a:spcAft>
                          <a:spcPts val="800"/>
                        </a:spcAft>
                      </a:pPr>
                      <a:r>
                        <a:rPr lang="ru-RU" sz="1400" b="1" kern="1200" dirty="0">
                          <a:solidFill>
                            <a:schemeClr val="lt1"/>
                          </a:solidFill>
                          <a:effectLst/>
                          <a:latin typeface="Times New Roman" panose="02020603050405020304" pitchFamily="18" charset="0"/>
                          <a:ea typeface="+mn-ea"/>
                          <a:cs typeface="Times New Roman" panose="02020603050405020304" pitchFamily="18" charset="0"/>
                        </a:rPr>
                        <a:t>100</a:t>
                      </a: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propack</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SM</a:t>
                      </a:r>
                      <a:endParaRPr lang="ru-RU"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ru-RU"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175,5273</a:t>
                      </a:r>
                      <a:endParaRPr lang="ru-RU"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rgbClr val="FF0000"/>
                    </a:solidFill>
                  </a:tcPr>
                </a:tc>
                <a:extLst>
                  <a:ext uri="{0D108BD9-81ED-4DB2-BD59-A6C34878D82A}">
                    <a16:rowId xmlns:a16="http://schemas.microsoft.com/office/drawing/2014/main" val="1205265139"/>
                  </a:ext>
                </a:extLst>
              </a:tr>
            </a:tbl>
          </a:graphicData>
        </a:graphic>
      </p:graphicFrame>
      <p:sp>
        <p:nvSpPr>
          <p:cNvPr id="4" name="Блок-схема: узел 3">
            <a:extLst>
              <a:ext uri="{FF2B5EF4-FFF2-40B4-BE49-F238E27FC236}">
                <a16:creationId xmlns:a16="http://schemas.microsoft.com/office/drawing/2014/main" id="{36072FD6-D44F-4AFA-95B1-1793C2D156D4}"/>
              </a:ext>
            </a:extLst>
          </p:cNvPr>
          <p:cNvSpPr/>
          <p:nvPr/>
        </p:nvSpPr>
        <p:spPr>
          <a:xfrm>
            <a:off x="11393850" y="6067424"/>
            <a:ext cx="720000" cy="720000"/>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solidFill>
                  <a:schemeClr val="tx1"/>
                </a:solidFill>
                <a:latin typeface="Times New Roman" panose="02020603050405020304" pitchFamily="18" charset="0"/>
                <a:cs typeface="Times New Roman" panose="02020603050405020304" pitchFamily="18" charset="0"/>
              </a:rPr>
              <a:t>30</a:t>
            </a:r>
          </a:p>
        </p:txBody>
      </p:sp>
      <p:sp>
        <p:nvSpPr>
          <p:cNvPr id="6" name="Заголовок 1">
            <a:extLst>
              <a:ext uri="{FF2B5EF4-FFF2-40B4-BE49-F238E27FC236}">
                <a16:creationId xmlns:a16="http://schemas.microsoft.com/office/drawing/2014/main" id="{2C9395C1-6B3C-4C70-BFFE-A2917989A0AC}"/>
              </a:ext>
            </a:extLst>
          </p:cNvPr>
          <p:cNvSpPr txBox="1">
            <a:spLocks/>
          </p:cNvSpPr>
          <p:nvPr/>
        </p:nvSpPr>
        <p:spPr>
          <a:xfrm>
            <a:off x="285749" y="307976"/>
            <a:ext cx="4733926" cy="4445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ru-RU" sz="3200" b="1" dirty="0">
                <a:effectLst/>
                <a:latin typeface="Times New Roman" panose="02020603050405020304" pitchFamily="18" charset="0"/>
                <a:ea typeface="Calibri" panose="020F0502020204030204" pitchFamily="34" charset="0"/>
              </a:rPr>
              <a:t>Оценка методов</a:t>
            </a:r>
            <a:endParaRPr lang="ru-RU"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991780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E564387F-F944-4518-A2BC-3941421C4B22}"/>
              </a:ext>
            </a:extLst>
          </p:cNvPr>
          <p:cNvSpPr txBox="1">
            <a:spLocks/>
          </p:cNvSpPr>
          <p:nvPr/>
        </p:nvSpPr>
        <p:spPr>
          <a:xfrm>
            <a:off x="285749" y="307976"/>
            <a:ext cx="4733926" cy="4445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ru-RU" sz="3200" b="1" dirty="0">
                <a:latin typeface="Times New Roman" panose="02020603050405020304" pitchFamily="18" charset="0"/>
                <a:ea typeface="Calibri" panose="020F0502020204030204" pitchFamily="34" charset="0"/>
                <a:cs typeface="Times New Roman" panose="02020603050405020304" pitchFamily="18" charset="0"/>
              </a:rPr>
              <a:t>Заключение</a:t>
            </a:r>
            <a:endParaRPr lang="ru-RU" sz="32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8022CED0-6898-466C-8472-E45A3C01F122}"/>
              </a:ext>
            </a:extLst>
          </p:cNvPr>
          <p:cNvSpPr txBox="1"/>
          <p:nvPr/>
        </p:nvSpPr>
        <p:spPr>
          <a:xfrm>
            <a:off x="180974" y="822326"/>
            <a:ext cx="11677651" cy="5859553"/>
          </a:xfrm>
          <a:prstGeom prst="rect">
            <a:avLst/>
          </a:prstGeom>
          <a:noFill/>
        </p:spPr>
        <p:txBody>
          <a:bodyPr wrap="square">
            <a:spAutoFit/>
          </a:bodyPr>
          <a:lstStyle/>
          <a:p>
            <a:pPr indent="450215" algn="just">
              <a:lnSpc>
                <a:spcPct val="150000"/>
              </a:lnSpc>
            </a:pPr>
            <a:r>
              <a:rPr lang="ru-RU" dirty="0">
                <a:effectLst/>
                <a:latin typeface="Times New Roman" panose="02020603050405020304" pitchFamily="18" charset="0"/>
                <a:ea typeface="Calibri" panose="020F0502020204030204" pitchFamily="34" charset="0"/>
                <a:cs typeface="Times New Roman" panose="02020603050405020304" pitchFamily="18" charset="0"/>
              </a:rPr>
              <a:t>В рамках данной курсовой работы было проведено исследование методов сингулярного разложения и оценено влияние выбора начального приближения и критериев остановки на точность вычислений.</a:t>
            </a:r>
          </a:p>
          <a:p>
            <a:pPr indent="450215" algn="just">
              <a:lnSpc>
                <a:spcPct val="150000"/>
              </a:lnSpc>
            </a:pPr>
            <a:r>
              <a:rPr lang="ru-RU" dirty="0">
                <a:effectLst/>
                <a:latin typeface="Times New Roman" panose="02020603050405020304" pitchFamily="18" charset="0"/>
                <a:ea typeface="Calibri" panose="020F0502020204030204" pitchFamily="34" charset="0"/>
                <a:cs typeface="Times New Roman" panose="02020603050405020304" pitchFamily="18" charset="0"/>
              </a:rPr>
              <a:t>В ходе анализа выявлено, что прямой метод эффективен для матриц малой размерности, однако требует значительных вычислительных ресурсов при росте объема данных. Степенной метод, напротив, позволяет находить лишь наиболее значимые сингулярные числа, что существенно экономит память, но может приводить к потере части информации. Рандомизированный метод представляет собой компромиссное решение, сочетающее преимущества обоих подходов.</a:t>
            </a:r>
          </a:p>
          <a:p>
            <a:pPr indent="450215" algn="just">
              <a:lnSpc>
                <a:spcPct val="150000"/>
              </a:lnSpc>
            </a:pPr>
            <a:r>
              <a:rPr lang="ru-RU" dirty="0">
                <a:effectLst/>
                <a:latin typeface="Times New Roman" panose="02020603050405020304" pitchFamily="18" charset="0"/>
                <a:ea typeface="Calibri" panose="020F0502020204030204" pitchFamily="34" charset="0"/>
                <a:cs typeface="Times New Roman" panose="02020603050405020304" pitchFamily="18" charset="0"/>
              </a:rPr>
              <a:t>Эксперименты по реконструкции изображения показали, что стандартные реализации демонстрируют идентичные результаты при отсутствии дополнительных критериев оценки. Анализ алгоритмов с настраиваемыми параметрами выявил, что ошибка восстановления напрямую зависит от комбинации выбираемых параметров: алгоритма разложения метода ортогонализации и параметра </a:t>
            </a:r>
            <a:r>
              <a:rPr lang="ru-RU" dirty="0" err="1">
                <a:effectLst/>
                <a:latin typeface="Times New Roman" panose="02020603050405020304" pitchFamily="18" charset="0"/>
                <a:ea typeface="Calibri" panose="020F0502020204030204" pitchFamily="34" charset="0"/>
                <a:cs typeface="Times New Roman" panose="02020603050405020304" pitchFamily="18" charset="0"/>
              </a:rPr>
              <a:t>передискретизации</a:t>
            </a:r>
            <a:r>
              <a:rPr lang="ru-RU" dirty="0">
                <a:effectLst/>
                <a:latin typeface="Times New Roman" panose="02020603050405020304" pitchFamily="18" charset="0"/>
                <a:ea typeface="Calibri" panose="020F0502020204030204" pitchFamily="34" charset="0"/>
                <a:cs typeface="Times New Roman" panose="02020603050405020304" pitchFamily="18" charset="0"/>
              </a:rPr>
              <a:t>.</a:t>
            </a:r>
          </a:p>
          <a:p>
            <a:pPr indent="450000">
              <a:lnSpc>
                <a:spcPct val="150000"/>
              </a:lnSpc>
            </a:pPr>
            <a:r>
              <a:rPr lang="ru-RU" dirty="0">
                <a:effectLst/>
                <a:latin typeface="Times New Roman" panose="02020603050405020304" pitchFamily="18" charset="0"/>
                <a:ea typeface="Calibri" panose="020F0502020204030204" pitchFamily="34" charset="0"/>
                <a:cs typeface="Times New Roman" panose="02020603050405020304" pitchFamily="18" charset="0"/>
              </a:rPr>
              <a:t>Полученные результаты наглядно демонстрируют, что выбор начального приближения и параметров алгоритма критически важен для достижения баланса между точностью вычислений и объемом используемой памяти, что необходимо учитывать при решении прикладных задач обработки данных.</a:t>
            </a: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19836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AB363D5-2844-4BC6-A08B-417A66DF121D}"/>
              </a:ext>
            </a:extLst>
          </p:cNvPr>
          <p:cNvSpPr txBox="1"/>
          <p:nvPr/>
        </p:nvSpPr>
        <p:spPr>
          <a:xfrm>
            <a:off x="1028700" y="3136612"/>
            <a:ext cx="10134599" cy="584775"/>
          </a:xfrm>
          <a:prstGeom prst="rect">
            <a:avLst/>
          </a:prstGeom>
          <a:noFill/>
        </p:spPr>
        <p:txBody>
          <a:bodyPr wrap="square">
            <a:spAutoFit/>
          </a:bodyPr>
          <a:lstStyle/>
          <a:p>
            <a:r>
              <a:rPr lang="ru-RU" sz="3200" dirty="0">
                <a:effectLst/>
                <a:latin typeface="Times New Roman" panose="02020603050405020304" pitchFamily="18" charset="0"/>
                <a:ea typeface="Calibri" panose="020F0502020204030204" pitchFamily="34" charset="0"/>
                <a:cs typeface="Times New Roman" panose="02020603050405020304" pitchFamily="18" charset="0"/>
              </a:rPr>
              <a:t>Реализация и исследования </a:t>
            </a:r>
            <a:r>
              <a:rPr lang="ru-RU" sz="3200" u="sng" dirty="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2"/>
              </a:rPr>
              <a:t>https://github.com/egorbeckish</a:t>
            </a:r>
            <a:endParaRPr lang="ru-RU"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78068968"/>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135</TotalTime>
  <Words>1769</Words>
  <Application>Microsoft Office PowerPoint</Application>
  <PresentationFormat>Широкоэкранный</PresentationFormat>
  <Paragraphs>558</Paragraphs>
  <Slides>33</Slides>
  <Notes>0</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33</vt:i4>
      </vt:variant>
    </vt:vector>
  </HeadingPairs>
  <TitlesOfParts>
    <vt:vector size="39" baseType="lpstr">
      <vt:lpstr>Arial</vt:lpstr>
      <vt:lpstr>Calibri</vt:lpstr>
      <vt:lpstr>Calibri Light</vt:lpstr>
      <vt:lpstr>Cambria Math</vt:lpstr>
      <vt:lpstr>Times New Roman</vt:lpstr>
      <vt:lpstr>Тема Office</vt:lpstr>
      <vt:lpstr>Министерство науки и высшего образования Российской Федерации федеральное государственное бюджетное образовательное учреждение  высшего образования «Самарский государственный технический университет» (ФГБОУ ВО «СамГТУ»)</vt:lpstr>
      <vt:lpstr>Введение</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Министерство науки и высшего образования Российской Федерации федеральное государственное бюджетное образовательное учреждение  высшего образования «Самарский государственный технический университет» (ФГБОУ ВО «СамГТУ»)</dc:title>
  <dc:creator>Егор Бекиш</dc:creator>
  <cp:lastModifiedBy>Егор Бекиш</cp:lastModifiedBy>
  <cp:revision>24</cp:revision>
  <dcterms:created xsi:type="dcterms:W3CDTF">2026-04-29T09:09:39Z</dcterms:created>
  <dcterms:modified xsi:type="dcterms:W3CDTF">2026-04-29T11:24:40Z</dcterms:modified>
</cp:coreProperties>
</file>