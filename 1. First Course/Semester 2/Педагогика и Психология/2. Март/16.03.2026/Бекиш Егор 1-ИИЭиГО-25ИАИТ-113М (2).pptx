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8" r:id="rId2"/>
    <p:sldId id="257" r:id="rId3"/>
    <p:sldId id="258" r:id="rId4"/>
    <p:sldId id="259" r:id="rId5"/>
    <p:sldId id="260" r:id="rId6"/>
    <p:sldId id="271" r:id="rId7"/>
    <p:sldId id="272" r:id="rId8"/>
    <p:sldId id="274" r:id="rId9"/>
    <p:sldId id="273" r:id="rId10"/>
    <p:sldId id="262" r:id="rId11"/>
    <p:sldId id="269" r:id="rId12"/>
    <p:sldId id="264" r:id="rId13"/>
    <p:sldId id="270" r:id="rId14"/>
    <p:sldId id="265" r:id="rId15"/>
    <p:sldId id="266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590FDE-E6CC-450D-ACEC-7D8AF389361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2A044-79D1-4D7B-8DC3-6890D44A8E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627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00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D4E9E2-126F-4467-BB55-E80E8909C6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A9D87C-5426-474D-BB9E-CCB97AA8E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E6FAE5-B8C8-403D-83B5-84FA498A9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6B7A-7613-43F7-B061-673E469F6693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D076A2-688A-42B6-9C0C-D681B3F2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2DE805-A40F-44F8-9AB4-483C82CED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94ABE-7C93-4117-9859-9052FFC580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80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B26F2-F4F0-4AD8-A6BC-03EA9D1C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111A9D-7295-46FA-BD65-1499F08B2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46569A-386A-4BE8-9101-71EC4DD13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6B7A-7613-43F7-B061-673E469F6693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42A2D4-5CD8-42C5-AC50-7B1619F26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2B8FAB-7E54-4338-8471-E3ECE2FF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94ABE-7C93-4117-9859-9052FFC580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476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BBC17A-DA2D-435A-8E14-B004715AB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A8C21D-A369-4436-9FF0-2FD4631D1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159026-E967-4962-895A-3D140ED29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6B7A-7613-43F7-B061-673E469F6693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9CE5F4-0C77-49FE-8D48-85661EAC8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75B929-0AD0-4D5D-B2B6-39A103FD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94ABE-7C93-4117-9859-9052FFC580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608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80A570-0D39-440E-B54B-688BEF9C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562C37-F6BF-4E6D-B983-D9C08AA91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4FB05F8-97BD-4DBE-9F2A-71F8820E3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251C53-635C-48E2-B919-7655FC45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6B7A-7613-43F7-B061-673E469F6693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5193EA-0189-4B40-8A7C-B4A03EFC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184905-B806-49F6-94D7-E861B38D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94ABE-7C93-4117-9859-9052FFC580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387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84F75-0917-4057-BF7A-BF8C12E42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EA3B14-C44D-4134-8DA9-77A83DECB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C79ED5-EFC6-41D1-BD25-2AC275308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8F4305E-5EDC-407B-8A10-57F85035B9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3D61F1A-8346-42FE-BBA3-5FD16D7DB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ED5FD12-14D8-48F4-B4C7-14875D6CF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6B7A-7613-43F7-B061-673E469F6693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B558FF-896D-4D53-B026-8F99FF0E0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899D6AF-9693-47FD-A284-C3127929F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94ABE-7C93-4117-9859-9052FFC580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627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E3B13F-0F90-4EF2-BC83-FC434F11E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29ABCF-817F-43C7-9DCD-8ACC59E8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6B7A-7613-43F7-B061-673E469F6693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2190EED-0AA5-467A-A18C-202684026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200902-A8AE-496F-B60C-0D4AFFA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94ABE-7C93-4117-9859-9052FFC580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453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F3CA636-312C-44E5-A78A-5DFA1787D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6B7A-7613-43F7-B061-673E469F6693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FA334BD-3B83-458B-A5A2-083A8DB17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FFB94B-CE89-4DFB-A6E8-B96E9FCC8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94ABE-7C93-4117-9859-9052FFC580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613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13E90C-ACE2-45E4-B562-A1520D575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8B3DDE-8219-4927-9AB5-0752C11F3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E032E6-8D3D-49E1-9BA4-4B10940D8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EE2125-437D-4D00-A6A0-17D93EC57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6B7A-7613-43F7-B061-673E469F6693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C3F0EE-B530-498B-BFB0-8CC543A56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244990-C952-47E6-A1B6-CE0167AD3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94ABE-7C93-4117-9859-9052FFC580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2095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4812EB-415D-4DC0-9BD1-DEFC46F7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CE9D00C-3D8D-4AF6-A905-94B290F71B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ACFCE45-FBDA-4F6B-AE6E-9F25FF6D4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9DC49B-ADC9-4A78-9671-AAFF31AA8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6B7A-7613-43F7-B061-673E469F6693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8463D0-3773-4529-B2D2-CFA03276C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61A4A7-FD6C-4A16-878E-6F945E793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94ABE-7C93-4117-9859-9052FFC580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596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A1A680-7E7D-466C-AF8F-BC338614B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E5F6A0B-FA58-446B-A302-4358399BC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11A2AD-5AF3-476F-8393-A5BE045CD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6B7A-7613-43F7-B061-673E469F6693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2C474A-6D6E-40F8-91E0-146B3CCBD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8085E2-BF4C-47B8-AC90-37DC71D5F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94ABE-7C93-4117-9859-9052FFC580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0220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8D6C3D8-8982-450F-A2D0-29DBC398D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F74EA32-F643-4EDC-A17B-029771EAF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F83A14-F297-4B6D-977D-1EAF38DC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6B7A-7613-43F7-B061-673E469F6693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B13B30-B659-4781-84CB-BD747548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DC30B0-95AE-4B39-8F6A-B095210AF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94ABE-7C93-4117-9859-9052FFC580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6963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316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977E7E-E1E1-40B5-BBA6-0C5DBC0B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FEB964-A087-41DD-B915-5624A36CE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BDF4BE-4154-4235-8722-4919524077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36B7A-7613-43F7-B061-673E469F6693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C48D6D-E53A-42D5-8B86-1F980F5DA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0B0B4E-76A3-4E34-825B-948A91E36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94ABE-7C93-4117-9859-9052FFC580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623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37A29E3-3D77-42A0-A6A4-2A391E8BA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43275" cy="18663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0FD50F-F427-4227-BA61-1469DA592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074" y="-14839"/>
            <a:ext cx="8991601" cy="1747839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latin typeface="SB Sans Display Bold" panose="020B0604020202020204" charset="0"/>
                <a:ea typeface="Times New Roman" panose="02020603050405020304" pitchFamily="18" charset="0"/>
                <a:cs typeface="SB Sans Display Bold" panose="020B0604020202020204" charset="0"/>
              </a:rPr>
              <a:t>Министерство науки и высшего образования Российской Федерации</a:t>
            </a:r>
            <a:br>
              <a:rPr lang="ru-RU" sz="1800" b="1" dirty="0">
                <a:latin typeface="SB Sans Display Bold" panose="020B0604020202020204" charset="0"/>
                <a:ea typeface="Calibri" panose="020F0502020204030204" pitchFamily="34" charset="0"/>
                <a:cs typeface="SB Sans Display Bold" panose="020B0604020202020204" charset="0"/>
              </a:rPr>
            </a:br>
            <a:r>
              <a:rPr lang="ru-RU" sz="1800" b="1" dirty="0">
                <a:latin typeface="SB Sans Display Bold" panose="020B0604020202020204" charset="0"/>
                <a:ea typeface="Times New Roman" panose="02020603050405020304" pitchFamily="18" charset="0"/>
                <a:cs typeface="SB Sans Display Bold" panose="020B0604020202020204" charset="0"/>
              </a:rPr>
              <a:t>федеральное государственное бюджетное образовательное учреждение </a:t>
            </a:r>
            <a:br>
              <a:rPr lang="ru-RU" sz="1800" b="1" dirty="0">
                <a:latin typeface="SB Sans Display Bold" panose="020B0604020202020204" charset="0"/>
                <a:ea typeface="Times New Roman" panose="02020603050405020304" pitchFamily="18" charset="0"/>
                <a:cs typeface="SB Sans Display Bold" panose="020B0604020202020204" charset="0"/>
              </a:rPr>
            </a:br>
            <a:r>
              <a:rPr lang="ru-RU" sz="1800" b="1" dirty="0">
                <a:latin typeface="SB Sans Display Bold" panose="020B0604020202020204" charset="0"/>
                <a:ea typeface="Times New Roman" panose="02020603050405020304" pitchFamily="18" charset="0"/>
                <a:cs typeface="SB Sans Display Bold" panose="020B0604020202020204" charset="0"/>
              </a:rPr>
              <a:t>высшего образования</a:t>
            </a:r>
            <a:br>
              <a:rPr lang="ru-RU" sz="1800" b="1" dirty="0">
                <a:latin typeface="SB Sans Display Bold" panose="020B0604020202020204" charset="0"/>
                <a:ea typeface="Calibri" panose="020F0502020204030204" pitchFamily="34" charset="0"/>
                <a:cs typeface="SB Sans Display Bold" panose="020B0604020202020204" charset="0"/>
              </a:rPr>
            </a:br>
            <a:r>
              <a:rPr lang="ru-RU" sz="1800" b="1" dirty="0">
                <a:latin typeface="SB Sans Display Bold" panose="020B0604020202020204" charset="0"/>
                <a:ea typeface="Times New Roman" panose="02020603050405020304" pitchFamily="18" charset="0"/>
                <a:cs typeface="SB Sans Display Bold" panose="020B0604020202020204" charset="0"/>
              </a:rPr>
              <a:t>«Самарский государственный технический университет»</a:t>
            </a:r>
            <a:br>
              <a:rPr lang="ru-RU" sz="1800" b="1" dirty="0">
                <a:latin typeface="SB Sans Display Bold" panose="020B0604020202020204" charset="0"/>
                <a:ea typeface="Times New Roman" panose="02020603050405020304" pitchFamily="18" charset="0"/>
                <a:cs typeface="SB Sans Display Bold" panose="020B0604020202020204" charset="0"/>
              </a:rPr>
            </a:br>
            <a:r>
              <a:rPr lang="ru-RU" sz="1800" b="1" dirty="0">
                <a:latin typeface="SB Sans Display Bold" panose="020B0604020202020204" charset="0"/>
                <a:ea typeface="Times New Roman" panose="02020603050405020304" pitchFamily="18" charset="0"/>
                <a:cs typeface="SB Sans Display Bold" panose="020B0604020202020204" charset="0"/>
              </a:rPr>
              <a:t>(ФГБОУ ВО «</a:t>
            </a:r>
            <a:r>
              <a:rPr lang="ru-RU" sz="1800" b="1" dirty="0" err="1">
                <a:latin typeface="SB Sans Display Bold" panose="020B0604020202020204" charset="0"/>
                <a:ea typeface="Times New Roman" panose="02020603050405020304" pitchFamily="18" charset="0"/>
                <a:cs typeface="SB Sans Display Bold" panose="020B0604020202020204" charset="0"/>
              </a:rPr>
              <a:t>СамГТУ</a:t>
            </a:r>
            <a:r>
              <a:rPr lang="ru-RU" sz="1800" b="1" dirty="0">
                <a:latin typeface="SB Sans Display Bold" panose="020B0604020202020204" charset="0"/>
                <a:ea typeface="Times New Roman" panose="02020603050405020304" pitchFamily="18" charset="0"/>
                <a:cs typeface="SB Sans Display Bold" panose="020B0604020202020204" charset="0"/>
              </a:rPr>
              <a:t>»)</a:t>
            </a:r>
            <a:endParaRPr lang="ru-RU" sz="1800" b="1" dirty="0">
              <a:latin typeface="SB Sans Display Bold" panose="020B0604020202020204" charset="0"/>
              <a:cs typeface="SB Sans Display Bold" panose="020B060402020202020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53E7E6-51AF-41AF-AA9A-51034BA05C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3276" y="5553076"/>
            <a:ext cx="5038725" cy="1304925"/>
          </a:xfrm>
        </p:spPr>
        <p:txBody>
          <a:bodyPr>
            <a:normAutofit/>
          </a:bodyPr>
          <a:lstStyle/>
          <a:p>
            <a:pPr algn="r"/>
            <a:r>
              <a:rPr lang="ru-RU" sz="1467" b="1" dirty="0">
                <a:latin typeface="SB Sans Display Bold" panose="020B0604020202020204" charset="0"/>
                <a:cs typeface="SB Sans Display Bold" panose="020B0604020202020204" charset="0"/>
              </a:rPr>
              <a:t>Студент</a:t>
            </a:r>
            <a:r>
              <a:rPr lang="en-US" sz="1467" b="1" dirty="0">
                <a:latin typeface="SB Sans Display Bold" panose="020B0604020202020204" charset="0"/>
                <a:cs typeface="SB Sans Display Bold" panose="020B0604020202020204" charset="0"/>
              </a:rPr>
              <a:t>: </a:t>
            </a:r>
            <a:r>
              <a:rPr lang="ru-RU" sz="1467" b="1" dirty="0">
                <a:latin typeface="SB Sans Display Bold" panose="020B0604020202020204" charset="0"/>
                <a:cs typeface="SB Sans Display Bold" panose="020B0604020202020204" charset="0"/>
              </a:rPr>
              <a:t>Бекиш Егор Павлович</a:t>
            </a:r>
            <a:endParaRPr lang="en-US" sz="1467" b="1" dirty="0">
              <a:latin typeface="SB Sans Display Bold" panose="020B0604020202020204" charset="0"/>
              <a:cs typeface="SB Sans Display Bold" panose="020B0604020202020204" charset="0"/>
            </a:endParaRPr>
          </a:p>
          <a:p>
            <a:pPr algn="r"/>
            <a:r>
              <a:rPr lang="ru-RU" sz="1467" b="1" dirty="0">
                <a:latin typeface="SB Sans Display Bold" panose="020B0604020202020204" charset="0"/>
                <a:cs typeface="SB Sans Display Bold" panose="020B0604020202020204" charset="0"/>
              </a:rPr>
              <a:t>Группа</a:t>
            </a:r>
            <a:r>
              <a:rPr lang="en-US" sz="1467" b="1" dirty="0">
                <a:latin typeface="SB Sans Display Bold" panose="020B0604020202020204" charset="0"/>
                <a:cs typeface="SB Sans Display Bold" panose="020B0604020202020204" charset="0"/>
              </a:rPr>
              <a:t>: </a:t>
            </a:r>
            <a:r>
              <a:rPr lang="ru-RU" sz="1467" b="1" dirty="0">
                <a:solidFill>
                  <a:srgbClr val="212529"/>
                </a:solidFill>
                <a:latin typeface="SB Sans Display Bold" panose="020B0604020202020204" charset="0"/>
                <a:cs typeface="SB Sans Display Bold" panose="020B0604020202020204" charset="0"/>
              </a:rPr>
              <a:t>1-ИИЭиГО-25ИАИТ-113М</a:t>
            </a:r>
            <a:endParaRPr lang="en-US" sz="1467" b="1" dirty="0">
              <a:solidFill>
                <a:srgbClr val="212529"/>
              </a:solidFill>
              <a:latin typeface="SB Sans Display Bold" panose="020B0604020202020204" charset="0"/>
              <a:cs typeface="SB Sans Display Bold" panose="020B0604020202020204" charset="0"/>
            </a:endParaRPr>
          </a:p>
          <a:p>
            <a:pPr algn="r"/>
            <a:r>
              <a:rPr lang="ru-RU" sz="1467" b="1" dirty="0">
                <a:solidFill>
                  <a:srgbClr val="212529"/>
                </a:solidFill>
                <a:latin typeface="SB Sans Display Bold" panose="020B0604020202020204" charset="0"/>
                <a:cs typeface="SB Sans Display Bold" panose="020B0604020202020204" charset="0"/>
              </a:rPr>
              <a:t>Преподаватель</a:t>
            </a:r>
            <a:r>
              <a:rPr lang="en-US" sz="1467" b="1" dirty="0">
                <a:solidFill>
                  <a:srgbClr val="212529"/>
                </a:solidFill>
                <a:latin typeface="SB Sans Display Bold" panose="020B0604020202020204" charset="0"/>
                <a:cs typeface="SB Sans Display Bold" panose="020B0604020202020204" charset="0"/>
              </a:rPr>
              <a:t>: </a:t>
            </a:r>
            <a:r>
              <a:rPr lang="ru-RU" sz="1467" b="1" dirty="0">
                <a:solidFill>
                  <a:srgbClr val="212529"/>
                </a:solidFill>
                <a:latin typeface="SB Sans Display Bold" panose="020B0604020202020204" charset="0"/>
                <a:cs typeface="SB Sans Display Bold" panose="020B0604020202020204" charset="0"/>
              </a:rPr>
              <a:t>Бейлина Наталья Семеновна</a:t>
            </a:r>
          </a:p>
          <a:p>
            <a:pPr algn="r"/>
            <a:endParaRPr lang="ru-RU" sz="1467" b="1" dirty="0">
              <a:latin typeface="SB Sans Display Bold" panose="020B0604020202020204" charset="0"/>
              <a:cs typeface="SB Sans Display Bold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87980F-0555-4DCA-BEFA-BA2D244E1193}"/>
              </a:ext>
            </a:extLst>
          </p:cNvPr>
          <p:cNvSpPr txBox="1"/>
          <p:nvPr/>
        </p:nvSpPr>
        <p:spPr>
          <a:xfrm>
            <a:off x="1283491" y="2636633"/>
            <a:ext cx="96250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effectLst/>
                <a:latin typeface="SB Sans Display Bold" panose="020B0604020202020204" charset="0"/>
                <a:ea typeface="Calibri" panose="020F0502020204030204" pitchFamily="34" charset="0"/>
                <a:cs typeface="SB Sans Display Bold" panose="020B0604020202020204" charset="0"/>
              </a:rPr>
              <a:t>Реализации инновационных технологий в процессе корпоративного обучения сотрудников</a:t>
            </a:r>
            <a:endParaRPr lang="ru-RU" sz="3200" b="1" dirty="0">
              <a:latin typeface="SB Sans Display Bold" panose="020B0604020202020204" charset="0"/>
              <a:cs typeface="SB Sans Display Bold" panose="020B060402020202020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AF227B-92AC-4DA4-9971-6DB88A2225BF}"/>
              </a:ext>
            </a:extLst>
          </p:cNvPr>
          <p:cNvSpPr txBox="1"/>
          <p:nvPr/>
        </p:nvSpPr>
        <p:spPr>
          <a:xfrm>
            <a:off x="5058413" y="6457891"/>
            <a:ext cx="2075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SB Sans Display Bold" panose="020B0604020202020204" charset="0"/>
                <a:cs typeface="SB Sans Display Bold" panose="020B0604020202020204" charset="0"/>
              </a:rPr>
              <a:t>Самара, 2026 г.</a:t>
            </a:r>
          </a:p>
        </p:txBody>
      </p:sp>
    </p:spTree>
    <p:extLst>
      <p:ext uri="{BB962C8B-B14F-4D97-AF65-F5344CB8AC3E}">
        <p14:creationId xmlns:p14="http://schemas.microsoft.com/office/powerpoint/2010/main" val="2057415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7AB38889-C88A-407D-8400-957475C2B2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4132218" y="342900"/>
            <a:ext cx="7694023" cy="61613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4580" y="488267"/>
            <a:ext cx="524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Терминологический аппарат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11040" y="1028700"/>
            <a:ext cx="71896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80990" indent="-380990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Font typeface="Arial" panose="020B0604020202020204" pitchFamily="34" charset="0"/>
              <a:buChar char="•"/>
            </a:pP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Корпоративное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обучение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 — 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систематический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процесс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повышения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квалификации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сотрудников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организации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.</a:t>
            </a:r>
            <a:endParaRPr lang="ru-RU" sz="1800" kern="0" spc="-30" dirty="0">
              <a:solidFill>
                <a:srgbClr val="000000"/>
              </a:solidFill>
              <a:latin typeface="SB Sans Text" pitchFamily="34" charset="0"/>
              <a:ea typeface="SB Sans Text" pitchFamily="34" charset="-122"/>
              <a:cs typeface="SB Sans Text" pitchFamily="34" charset="-120"/>
            </a:endParaRPr>
          </a:p>
          <a:p>
            <a:pPr marL="380990" indent="-380990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Font typeface="Arial" panose="020B0604020202020204" pitchFamily="34" charset="0"/>
              <a:buChar char="•"/>
            </a:pP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Инновационные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технологии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 — 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новые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методы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и 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инструменты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, 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улучшающие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эффективность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обучения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.</a:t>
            </a:r>
            <a:endParaRPr lang="en-US" sz="1733" dirty="0"/>
          </a:p>
        </p:txBody>
      </p:sp>
      <p:pic>
        <p:nvPicPr>
          <p:cNvPr id="6" name="Image 0" descr="https://prod-gc.cdn.giga.chat/7edaa9c8-85ee-49fc-8884-ecce5370b8e1/019d6d86-a937-74e7-b27f-79ecbaac1d13.jpg">
            <a:extLst>
              <a:ext uri="{FF2B5EF4-FFF2-40B4-BE49-F238E27FC236}">
                <a16:creationId xmlns:a16="http://schemas.microsoft.com/office/drawing/2014/main" id="{F4B7F0C0-48D2-4DCA-8748-49F190F919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6" b="276"/>
          <a:stretch/>
        </p:blipFill>
        <p:spPr>
          <a:xfrm>
            <a:off x="361592" y="342899"/>
            <a:ext cx="3770626" cy="61613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54140DB0-4ED2-431B-9B1B-BABCBAD9BF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402771" y="342900"/>
            <a:ext cx="6093278" cy="6161315"/>
          </a:xfrm>
          <a:prstGeom prst="rect">
            <a:avLst/>
          </a:prstGeom>
        </p:spPr>
      </p:pic>
      <p:pic>
        <p:nvPicPr>
          <p:cNvPr id="2" name="Image 0" descr="https://prod-gc.cdn.giga.chat/7edaa9c8-85ee-49fc-8884-ecce5370b8e1/019d6d86-a495-79af-8b08-eedee28a6d75.jpg"/>
          <p:cNvPicPr>
            <a:picLocks noChangeAspect="1"/>
          </p:cNvPicPr>
          <p:nvPr/>
        </p:nvPicPr>
        <p:blipFill>
          <a:blip r:embed="rId4"/>
          <a:srcRect t="19079" b="19079"/>
          <a:stretch/>
        </p:blipFill>
        <p:spPr>
          <a:xfrm>
            <a:off x="6496049" y="342900"/>
            <a:ext cx="5293179" cy="61613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679" y="411481"/>
            <a:ext cx="6227445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Традиционные методы обучения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87680" y="1371601"/>
            <a:ext cx="5751196" cy="4183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Лекции и семинары: передача знаний через выступления экспертов и групповые обсуждения.</a:t>
            </a:r>
            <a:endParaRPr lang="en-US" sz="1733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Тренинги</a:t>
            </a:r>
            <a:r>
              <a:rPr lang="ru-RU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, </a:t>
            </a:r>
            <a:r>
              <a:rPr lang="en-US" sz="1733" kern="0" spc="-4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мастер-классы</a:t>
            </a:r>
            <a:r>
              <a:rPr lang="ru-RU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, самообучение</a:t>
            </a: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: практические занятия для развития навыков и компетенций.</a:t>
            </a:r>
            <a:endParaRPr lang="en-US" sz="1733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Рабочие группы и наставничество: обмен опытом и обучение через взаимодействие с коллегами и наставниками.</a:t>
            </a:r>
            <a:endParaRPr lang="en-US" sz="17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2ED06087-15AB-416A-BC82-F3FE7853C0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3978729" y="205740"/>
            <a:ext cx="7938732" cy="6446520"/>
          </a:xfrm>
          <a:prstGeom prst="rect">
            <a:avLst/>
          </a:prstGeom>
        </p:spPr>
      </p:pic>
      <p:pic>
        <p:nvPicPr>
          <p:cNvPr id="2" name="Image 0" descr="https://prod-gc.cdn.giga.chat/7edaa9c8-85ee-49fc-8884-ecce5370b8e1/019d6d86-a04f-7315-948d-13be6b830dbb.jpg"/>
          <p:cNvPicPr>
            <a:picLocks noChangeAspect="1"/>
          </p:cNvPicPr>
          <p:nvPr/>
        </p:nvPicPr>
        <p:blipFill>
          <a:blip r:embed="rId4"/>
          <a:srcRect t="276" b="276"/>
          <a:stretch/>
        </p:blipFill>
        <p:spPr>
          <a:xfrm>
            <a:off x="274539" y="205740"/>
            <a:ext cx="3704190" cy="6446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88130" y="325755"/>
            <a:ext cx="677037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800" b="1" kern="0" spc="-53" dirty="0" err="1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Современные</a:t>
            </a:r>
            <a:r>
              <a:rPr lang="en-US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 </a:t>
            </a:r>
            <a:r>
              <a:rPr lang="en-US" sz="2800" b="1" kern="0" spc="-53" dirty="0" err="1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подходы</a:t>
            </a:r>
            <a:r>
              <a:rPr lang="ru-RU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\технологии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335779" y="923926"/>
            <a:ext cx="7446645" cy="4183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Электронное обучение (e-learning): </a:t>
            </a:r>
            <a:r>
              <a:rPr lang="ru-RU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дистанционное обучение, </a:t>
            </a:r>
            <a:r>
              <a:rPr lang="en-US" sz="1733" kern="0" spc="-4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доступ</a:t>
            </a: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к учебным материалам в любое время, повышение вовлеченности сотрудников на 60%.</a:t>
            </a:r>
            <a:endParaRPr lang="en-US" sz="1733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Виртуальная реальность (VR): иммерсивные сценарии, улучшение навыков на 75%.</a:t>
            </a:r>
            <a:endParaRPr lang="en-US" sz="1733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Игровое обучение (gamification): повышение мотивации и удержания знаний на 40%.</a:t>
            </a:r>
            <a:endParaRPr lang="en-US" sz="17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88D19395-8FBE-4F4C-B2F9-07DE904CAB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4132218" y="353784"/>
            <a:ext cx="7694021" cy="6161315"/>
          </a:xfrm>
          <a:prstGeom prst="rect">
            <a:avLst/>
          </a:prstGeom>
        </p:spPr>
      </p:pic>
      <p:pic>
        <p:nvPicPr>
          <p:cNvPr id="2" name="Image 0" descr="https://prod-gc.cdn.giga.chat/7edaa9c8-85ee-49fc-8884-ecce5370b8e1/019d6d86-af44-7c73-9405-946739196bbb.jpg"/>
          <p:cNvPicPr>
            <a:picLocks noChangeAspect="1"/>
          </p:cNvPicPr>
          <p:nvPr/>
        </p:nvPicPr>
        <p:blipFill>
          <a:blip r:embed="rId4"/>
          <a:srcRect t="3262" b="3262"/>
          <a:stretch/>
        </p:blipFill>
        <p:spPr>
          <a:xfrm>
            <a:off x="365761" y="342900"/>
            <a:ext cx="3766457" cy="61613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11040" y="411480"/>
            <a:ext cx="524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Инновационные решения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11039" y="1028700"/>
            <a:ext cx="7042785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Адаптивное обучение: персонализация контента на основе индивидуальных потребностей сотрудников.</a:t>
            </a:r>
            <a:endParaRPr lang="en-US" sz="1733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Микрообучение: короткие, целенаправленные модули для быстрого усвоения информации.</a:t>
            </a:r>
            <a:endParaRPr lang="en-US" sz="1733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Социальное обучение: использование платформ для обмена знаниями и опытом между сотрудниками.</a:t>
            </a:r>
            <a:endParaRPr lang="en-US" sz="17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9310CBCE-540F-48C9-B145-17BFBDD47F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425421" y="285205"/>
            <a:ext cx="7756279" cy="61613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0555" y="453118"/>
            <a:ext cx="5989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Пример организации: «</a:t>
            </a:r>
            <a:r>
              <a:rPr lang="en-US" sz="2800" b="1" kern="0" spc="-53" dirty="0" err="1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Яндекс</a:t>
            </a:r>
            <a:r>
              <a:rPr lang="en-US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»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09624" y="1055372"/>
            <a:ext cx="7067551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 rtl="0" eaLnBrk="1" latinLnBrk="0" hangingPunct="1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1800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Яндекс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 — </a:t>
            </a:r>
            <a:r>
              <a:rPr lang="en-US" sz="1800" b="1" i="1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крупная</a:t>
            </a:r>
            <a:r>
              <a:rPr lang="en-US" sz="1800" b="1" i="1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</a:t>
            </a:r>
            <a:r>
              <a:rPr lang="en-US" sz="1800" b="1" i="1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российская</a:t>
            </a:r>
            <a:r>
              <a:rPr lang="en-US" sz="1800" b="1" i="1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IT-</a:t>
            </a:r>
            <a:r>
              <a:rPr lang="en-US" sz="1800" b="1" i="1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компания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, </a:t>
            </a:r>
            <a:r>
              <a:rPr lang="en-US" sz="1800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специализирующаяся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</a:t>
            </a:r>
            <a:r>
              <a:rPr lang="en-US" sz="1800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на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 </a:t>
            </a:r>
            <a:r>
              <a:rPr lang="en-US" sz="1800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интернет-сервисах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, </a:t>
            </a:r>
            <a:r>
              <a:rPr lang="en-US" sz="1800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поисковых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</a:t>
            </a:r>
            <a:r>
              <a:rPr lang="en-US" sz="1800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технологиях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и </a:t>
            </a:r>
            <a:r>
              <a:rPr lang="en-US" sz="1800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облачных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</a:t>
            </a:r>
            <a:r>
              <a:rPr lang="en-US" sz="1800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решениях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. </a:t>
            </a:r>
            <a:r>
              <a:rPr lang="en-US" sz="1800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Количество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</a:t>
            </a:r>
            <a:r>
              <a:rPr lang="en-US" sz="1800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сотрудников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</a:t>
            </a:r>
            <a:r>
              <a:rPr lang="en-US" sz="1800" b="1" i="1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превышает</a:t>
            </a:r>
            <a:r>
              <a:rPr lang="en-US" sz="1800" b="1" i="1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15 000 </a:t>
            </a:r>
            <a:r>
              <a:rPr lang="en-US" sz="1800" b="1" i="1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человек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. </a:t>
            </a:r>
            <a:r>
              <a:rPr lang="en-US" sz="1800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Компания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</a:t>
            </a:r>
            <a:r>
              <a:rPr lang="en-US" sz="1800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активно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</a:t>
            </a:r>
            <a:r>
              <a:rPr lang="en-US" sz="1800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внедряет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</a:t>
            </a:r>
            <a:r>
              <a:rPr lang="en-US" sz="1800" b="1" i="1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инновационные</a:t>
            </a:r>
            <a:r>
              <a:rPr lang="en-US" sz="1800" b="1" i="1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</a:t>
            </a:r>
            <a:r>
              <a:rPr lang="en-US" sz="1800" b="1" i="1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технологии</a:t>
            </a:r>
            <a:r>
              <a:rPr lang="en-US" sz="1800" b="1" i="1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в </a:t>
            </a:r>
            <a:r>
              <a:rPr lang="en-US" sz="1800" b="1" i="1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корпоративное</a:t>
            </a:r>
            <a:r>
              <a:rPr lang="en-US" sz="1800" b="1" i="1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</a:t>
            </a:r>
            <a:r>
              <a:rPr lang="en-US" sz="1800" b="1" i="1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обучение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, </a:t>
            </a:r>
            <a:r>
              <a:rPr lang="en-US" sz="1800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что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</a:t>
            </a:r>
            <a:r>
              <a:rPr lang="en-US" sz="1800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способствует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</a:t>
            </a:r>
            <a:r>
              <a:rPr lang="en-US" sz="1800" b="1" i="1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повышению</a:t>
            </a:r>
            <a:r>
              <a:rPr lang="en-US" sz="1800" b="1" i="1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</a:t>
            </a:r>
            <a:r>
              <a:rPr lang="en-US" sz="1800" b="1" i="1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квалификации</a:t>
            </a:r>
            <a:r>
              <a:rPr lang="en-US" sz="1800" b="1" i="1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</a:t>
            </a:r>
            <a:r>
              <a:rPr lang="en-US" sz="1800" b="1" i="1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сотрудников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и </a:t>
            </a:r>
            <a:r>
              <a:rPr lang="en-US" sz="1800" b="1" i="1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улучшению</a:t>
            </a:r>
            <a:r>
              <a:rPr lang="en-US" sz="1800" b="1" i="1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 </a:t>
            </a:r>
            <a:r>
              <a:rPr lang="en-US" sz="1800" b="1" i="1" spc="-30" dirty="0" err="1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бизнес-процессов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SB Sans Text" panose="020B0604020202020204" charset="-52"/>
                <a:ea typeface="SB Sans Text" panose="020B0604020202020204" charset="-52"/>
                <a:cs typeface="SB Sans Text" panose="020B0604020202020204" charset="-52"/>
              </a:rPr>
              <a:t>.</a:t>
            </a:r>
            <a:endParaRPr lang="ru-RU" sz="1600" dirty="0">
              <a:effectLst/>
            </a:endParaRPr>
          </a:p>
        </p:txBody>
      </p:sp>
      <p:pic>
        <p:nvPicPr>
          <p:cNvPr id="6" name="Image 0" descr="https://prod-gc.cdn.giga.chat/7edaa9c8-85ee-49fc-8884-ecce5370b8e1/019d9a75-9555-710a-8b19-a3d8147b0e36.jpg">
            <a:extLst>
              <a:ext uri="{FF2B5EF4-FFF2-40B4-BE49-F238E27FC236}">
                <a16:creationId xmlns:a16="http://schemas.microsoft.com/office/drawing/2014/main" id="{5BF401B2-111E-4EBC-A8F2-69A769D44C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14" r="6714"/>
          <a:stretch/>
        </p:blipFill>
        <p:spPr>
          <a:xfrm>
            <a:off x="8181700" y="285205"/>
            <a:ext cx="3116580" cy="616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148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rod-gc.cdn.giga.chat/7edaa9c8-85ee-49fc-8884-ecce5370b8e1/019d9a75-8f9a-7d05-983c-1cd657c68878.jpg"/>
          <p:cNvPicPr>
            <a:picLocks noChangeAspect="1"/>
          </p:cNvPicPr>
          <p:nvPr/>
        </p:nvPicPr>
        <p:blipFill>
          <a:blip r:embed="rId3"/>
          <a:srcRect t="19372" b="19372"/>
          <a:stretch/>
        </p:blipFill>
        <p:spPr>
          <a:xfrm>
            <a:off x="7109459" y="405766"/>
            <a:ext cx="4881047" cy="5799365"/>
          </a:xfrm>
          <a:prstGeom prst="rect">
            <a:avLst/>
          </a:prstGeom>
        </p:spPr>
      </p:pic>
      <p:pic>
        <p:nvPicPr>
          <p:cNvPr id="3" name="Image 1" descr="https://cdn-app.sberdevices.ru/misc/0.0.0/assets/gigachat-web/f279b7d8_Image-Shape.png"/>
          <p:cNvPicPr>
            <a:picLocks noChangeAspect="1"/>
          </p:cNvPicPr>
          <p:nvPr/>
        </p:nvPicPr>
        <p:blipFill>
          <a:blip r:embed="rId4"/>
          <a:srcRect l="3357" r="3357"/>
          <a:stretch/>
        </p:blipFill>
        <p:spPr>
          <a:xfrm>
            <a:off x="365761" y="405766"/>
            <a:ext cx="6743698" cy="57993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4819" y="514351"/>
            <a:ext cx="6974205" cy="157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  <a:spcBef>
                <a:spcPts val="1600"/>
              </a:spcBef>
              <a:spcAft>
                <a:spcPts val="1600"/>
              </a:spcAft>
            </a:pPr>
            <a:r>
              <a:rPr lang="ru-RU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К</a:t>
            </a:r>
            <a:r>
              <a:rPr lang="en-US" sz="2800" b="1" kern="0" spc="-53" dirty="0" err="1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орпоративн</a:t>
            </a:r>
            <a:r>
              <a:rPr lang="ru-RU" sz="2800" b="1" kern="0" spc="-53" dirty="0" err="1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ое</a:t>
            </a:r>
            <a:r>
              <a:rPr lang="en-US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 </a:t>
            </a:r>
            <a:r>
              <a:rPr lang="en-US" sz="2800" b="1" kern="0" spc="-53" dirty="0" err="1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обучени</a:t>
            </a:r>
            <a:r>
              <a:rPr lang="ru-RU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е</a:t>
            </a:r>
            <a:r>
              <a:rPr lang="en-US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 «</a:t>
            </a:r>
            <a:r>
              <a:rPr lang="en-US" sz="2800" b="1" kern="0" spc="-53" dirty="0" err="1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Яндекс</a:t>
            </a:r>
            <a:r>
              <a:rPr lang="en-US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»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650558" y="1072516"/>
            <a:ext cx="6174105" cy="1375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Индивидуальный подход к каждому сотруднику</a:t>
            </a:r>
            <a:endParaRPr lang="en-US" sz="1733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Использование современных технологий</a:t>
            </a:r>
            <a:endParaRPr lang="en-US" sz="1733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Регулярное обновление учебных программ</a:t>
            </a:r>
            <a:endParaRPr lang="en-US" sz="173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rod-gc.cdn.giga.chat/7edaa9c8-85ee-49fc-8884-ecce5370b8e1/019d9a75-9713-7943-bc31-f245f36ca048.jpg">
            <a:extLst>
              <a:ext uri="{FF2B5EF4-FFF2-40B4-BE49-F238E27FC236}">
                <a16:creationId xmlns:a16="http://schemas.microsoft.com/office/drawing/2014/main" id="{DF5D5EF3-D381-4C25-90EE-F39814C9C0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62" b="3262"/>
          <a:stretch/>
        </p:blipFill>
        <p:spPr>
          <a:xfrm>
            <a:off x="7980045" y="272217"/>
            <a:ext cx="3859530" cy="6313566"/>
          </a:xfrm>
          <a:prstGeom prst="rect">
            <a:avLst/>
          </a:prstGeom>
        </p:spPr>
      </p:pic>
      <p:pic>
        <p:nvPicPr>
          <p:cNvPr id="3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2CAE4345-5820-4594-8D23-FFE938C239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223766" y="272217"/>
            <a:ext cx="7756279" cy="63135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2C3E88-5847-46E7-B07E-80CE26C5080F}"/>
              </a:ext>
            </a:extLst>
          </p:cNvPr>
          <p:cNvSpPr txBox="1"/>
          <p:nvPr/>
        </p:nvSpPr>
        <p:spPr>
          <a:xfrm>
            <a:off x="401956" y="482668"/>
            <a:ext cx="7313294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33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2800" b="1" kern="0" spc="120" dirty="0" err="1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Инновационные</a:t>
            </a:r>
            <a:r>
              <a:rPr lang="en-US" sz="2800" b="1" kern="0" spc="12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 </a:t>
            </a:r>
            <a:r>
              <a:rPr lang="en-US" sz="2800" b="1" kern="0" spc="120" dirty="0" err="1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технологии</a:t>
            </a:r>
            <a:r>
              <a:rPr lang="en-US" sz="2800" b="1" kern="0" spc="12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 в </a:t>
            </a:r>
            <a:r>
              <a:rPr lang="en-US" sz="2800" b="1" kern="0" spc="120" dirty="0" err="1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обучении</a:t>
            </a:r>
            <a:r>
              <a:rPr lang="en-US" sz="2800" b="1" kern="0" spc="12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 «</a:t>
            </a:r>
            <a:r>
              <a:rPr lang="en-US" sz="2800" b="1" kern="0" spc="120" dirty="0" err="1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Яндекс</a:t>
            </a:r>
            <a:r>
              <a:rPr lang="en-US" sz="2800" b="1" kern="0" spc="12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»</a:t>
            </a:r>
            <a:endParaRPr lang="en-US" sz="28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8313C52-6CE3-4D47-9A78-980EAF34EB25}"/>
              </a:ext>
            </a:extLst>
          </p:cNvPr>
          <p:cNvSpPr/>
          <p:nvPr/>
        </p:nvSpPr>
        <p:spPr>
          <a:xfrm>
            <a:off x="536300" y="1631838"/>
            <a:ext cx="7313294" cy="34068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lnSpc>
                <a:spcPct val="150000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kern="0" spc="-30" dirty="0">
                <a:solidFill>
                  <a:srgbClr val="000000"/>
                </a:solidFill>
                <a:latin typeface="SB Sans Text" panose="020B0604020202020204" charset="-52"/>
                <a:ea typeface="SB Sans Text" pitchFamily="34" charset="-122"/>
                <a:cs typeface="SB Sans Text" panose="020B0604020202020204" charset="-52"/>
              </a:rPr>
              <a:t>Виртуальная реальность: моделирование рабочих ситуаций, повышение вовлеченности сотрудников</a:t>
            </a:r>
            <a:endParaRPr lang="en-US" dirty="0">
              <a:latin typeface="SB Sans Text" panose="020B0604020202020204" charset="-52"/>
              <a:cs typeface="SB Sans Text" panose="020B0604020202020204" charset="-52"/>
            </a:endParaRPr>
          </a:p>
          <a:p>
            <a:pPr marL="177800" indent="-177800" algn="just">
              <a:lnSpc>
                <a:spcPct val="150000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kern="0" spc="-30" dirty="0">
                <a:solidFill>
                  <a:srgbClr val="000000"/>
                </a:solidFill>
                <a:latin typeface="SB Sans Text" panose="020B0604020202020204" charset="-52"/>
                <a:ea typeface="SB Sans Text" pitchFamily="34" charset="-122"/>
                <a:cs typeface="SB Sans Text" panose="020B0604020202020204" charset="-52"/>
              </a:rPr>
              <a:t>Искусственный интеллект: анализ данных, персонализация обучения, прогнозирование потребностей</a:t>
            </a:r>
            <a:endParaRPr lang="en-US" dirty="0">
              <a:latin typeface="SB Sans Text" panose="020B0604020202020204" charset="-52"/>
              <a:cs typeface="SB Sans Text" panose="020B0604020202020204" charset="-52"/>
            </a:endParaRPr>
          </a:p>
          <a:p>
            <a:pPr marL="177800" indent="-177800" algn="just">
              <a:lnSpc>
                <a:spcPct val="150000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kern="0" spc="-30" dirty="0">
                <a:solidFill>
                  <a:srgbClr val="000000"/>
                </a:solidFill>
                <a:latin typeface="SB Sans Text" panose="020B0604020202020204" charset="-52"/>
                <a:ea typeface="SB Sans Text" pitchFamily="34" charset="-122"/>
                <a:cs typeface="SB Sans Text" panose="020B0604020202020204" charset="-52"/>
              </a:rPr>
              <a:t>Мобильные приложения: доступ к материалам в любое время, обучение в пути, повышение мотивации сотрудников</a:t>
            </a:r>
            <a:endParaRPr lang="en-US" dirty="0">
              <a:latin typeface="SB Sans Text" panose="020B0604020202020204" charset="-52"/>
              <a:cs typeface="SB Sans Text" panose="020B060402020202020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197034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316F56F0-71D8-4DB6-AEC0-C235440325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7" r="3357"/>
          <a:stretch/>
        </p:blipFill>
        <p:spPr>
          <a:xfrm>
            <a:off x="425421" y="285205"/>
            <a:ext cx="7756279" cy="6161315"/>
          </a:xfrm>
          <a:prstGeom prst="rect">
            <a:avLst/>
          </a:prstGeom>
        </p:spPr>
      </p:pic>
      <p:pic>
        <p:nvPicPr>
          <p:cNvPr id="3" name="Image 0" descr="https://prod-gc.cdn.giga.chat/7edaa9c8-85ee-49fc-8884-ecce5370b8e1/019d6d86-a101-71d4-ae1b-5c24127e5a36.jpg">
            <a:extLst>
              <a:ext uri="{FF2B5EF4-FFF2-40B4-BE49-F238E27FC236}">
                <a16:creationId xmlns:a16="http://schemas.microsoft.com/office/drawing/2014/main" id="{B566CFC2-F7D1-4E57-8467-B92B3C99E8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" b="276"/>
          <a:stretch/>
        </p:blipFill>
        <p:spPr>
          <a:xfrm>
            <a:off x="8181701" y="285205"/>
            <a:ext cx="3584877" cy="616131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F9D799-A8A2-4AD0-A5CE-4D8DAEBC1B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340" y="411480"/>
            <a:ext cx="1219370" cy="419158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427FC287-5156-4451-B215-167E81B56621}"/>
              </a:ext>
            </a:extLst>
          </p:cNvPr>
          <p:cNvSpPr/>
          <p:nvPr/>
        </p:nvSpPr>
        <p:spPr>
          <a:xfrm>
            <a:off x="630554" y="453117"/>
            <a:ext cx="7360921" cy="9280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  <a:spcBef>
                <a:spcPts val="1600"/>
              </a:spcBef>
              <a:spcAft>
                <a:spcPts val="1600"/>
              </a:spcAft>
            </a:pPr>
            <a:r>
              <a:rPr lang="ru-RU" sz="2800" b="1" kern="0" spc="-53" dirty="0">
                <a:solidFill>
                  <a:srgbClr val="000000"/>
                </a:solidFill>
                <a:latin typeface="SB Sans Display Bold" pitchFamily="34" charset="0"/>
                <a:cs typeface="SB Sans Display Bold" pitchFamily="34" charset="-120"/>
              </a:rPr>
              <a:t>Дополнительное образование и обучение от </a:t>
            </a:r>
            <a:r>
              <a:rPr lang="en-US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«</a:t>
            </a:r>
            <a:r>
              <a:rPr lang="en-US" sz="2800" b="1" kern="0" spc="-53" dirty="0" err="1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Яндекс</a:t>
            </a:r>
            <a:r>
              <a:rPr lang="en-US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»</a:t>
            </a:r>
            <a:endParaRPr lang="en-US" sz="28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531D698D-4783-44D3-9826-CC7E573A72E1}"/>
              </a:ext>
            </a:extLst>
          </p:cNvPr>
          <p:cNvSpPr/>
          <p:nvPr/>
        </p:nvSpPr>
        <p:spPr>
          <a:xfrm>
            <a:off x="769784" y="1381124"/>
            <a:ext cx="7067551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>
              <a:lnSpc>
                <a:spcPct val="150000"/>
              </a:lnSpc>
              <a:spcBef>
                <a:spcPts val="133"/>
              </a:spcBef>
              <a:spcAft>
                <a:spcPts val="133"/>
              </a:spcAft>
            </a:pPr>
            <a:r>
              <a:rPr lang="ru-RU" sz="1733" kern="0" spc="-40" dirty="0">
                <a:solidFill>
                  <a:srgbClr val="000000"/>
                </a:solidFill>
                <a:latin typeface="SB Sans Text" pitchFamily="34" charset="0"/>
                <a:cs typeface="SB Sans Text" pitchFamily="34" charset="-120"/>
              </a:rPr>
              <a:t>Сама организация последние несколько лет создает материалы для школьников, студентов и для обычных людей, которые хотят сменить профессию или же повысить свои </a:t>
            </a:r>
            <a:r>
              <a:rPr lang="ru-RU" sz="1733" kern="0" spc="-40" dirty="0" err="1">
                <a:solidFill>
                  <a:srgbClr val="000000"/>
                </a:solidFill>
                <a:latin typeface="SB Sans Text" pitchFamily="34" charset="0"/>
                <a:cs typeface="SB Sans Text" pitchFamily="34" charset="-120"/>
              </a:rPr>
              <a:t>компитенции</a:t>
            </a: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cs typeface="SB Sans Text" pitchFamily="34" charset="-120"/>
              </a:rPr>
              <a:t>:</a:t>
            </a:r>
          </a:p>
          <a:p>
            <a:pPr marL="285750" indent="-285750" algn="just">
              <a:lnSpc>
                <a:spcPct val="150000"/>
              </a:lnSpc>
              <a:spcBef>
                <a:spcPts val="133"/>
              </a:spcBef>
              <a:spcAft>
                <a:spcPts val="133"/>
              </a:spcAft>
              <a:buFont typeface="Arial" panose="020B0604020202020204" pitchFamily="34" charset="0"/>
              <a:buChar char="•"/>
            </a:pPr>
            <a:r>
              <a:rPr lang="ru-RU" sz="1733" kern="0" spc="-40" dirty="0">
                <a:solidFill>
                  <a:srgbClr val="000000"/>
                </a:solidFill>
                <a:latin typeface="SB Sans Text" pitchFamily="34" charset="0"/>
                <a:cs typeface="SB Sans Text" pitchFamily="34" charset="-120"/>
              </a:rPr>
              <a:t>Яндекс Учебник</a:t>
            </a:r>
          </a:p>
          <a:p>
            <a:pPr marL="285750" indent="-285750" algn="just">
              <a:lnSpc>
                <a:spcPct val="150000"/>
              </a:lnSpc>
              <a:spcBef>
                <a:spcPts val="133"/>
              </a:spcBef>
              <a:spcAft>
                <a:spcPts val="133"/>
              </a:spcAft>
              <a:buFont typeface="Arial" panose="020B0604020202020204" pitchFamily="34" charset="0"/>
              <a:buChar char="•"/>
            </a:pPr>
            <a:r>
              <a:rPr lang="ru-RU" sz="1733" kern="0" spc="-40" dirty="0">
                <a:solidFill>
                  <a:srgbClr val="000000"/>
                </a:solidFill>
                <a:latin typeface="SB Sans Text" pitchFamily="34" charset="0"/>
                <a:cs typeface="SB Sans Text" pitchFamily="34" charset="-120"/>
              </a:rPr>
              <a:t>Яндекс Практикум</a:t>
            </a:r>
          </a:p>
          <a:p>
            <a:pPr marL="285750" indent="-285750" algn="just">
              <a:lnSpc>
                <a:spcPct val="150000"/>
              </a:lnSpc>
              <a:spcBef>
                <a:spcPts val="133"/>
              </a:spcBef>
              <a:spcAft>
                <a:spcPts val="133"/>
              </a:spcAft>
              <a:buFont typeface="Arial" panose="020B0604020202020204" pitchFamily="34" charset="0"/>
              <a:buChar char="•"/>
            </a:pPr>
            <a:r>
              <a:rPr lang="ru-RU" sz="1733" kern="0" spc="-40" dirty="0">
                <a:solidFill>
                  <a:srgbClr val="000000"/>
                </a:solidFill>
                <a:latin typeface="SB Sans Text" pitchFamily="34" charset="0"/>
                <a:cs typeface="SB Sans Text" pitchFamily="34" charset="-120"/>
              </a:rPr>
              <a:t>Яндекс Образование (</a:t>
            </a:r>
            <a:r>
              <a:rPr lang="ru-RU" sz="1733" kern="0" spc="-40" dirty="0" err="1">
                <a:solidFill>
                  <a:srgbClr val="000000"/>
                </a:solidFill>
                <a:latin typeface="SB Sans Text" pitchFamily="34" charset="0"/>
                <a:cs typeface="SB Sans Text" pitchFamily="34" charset="-120"/>
              </a:rPr>
              <a:t>Хендбук</a:t>
            </a:r>
            <a:r>
              <a:rPr lang="ru-RU" sz="1733" kern="0" spc="-40" dirty="0">
                <a:solidFill>
                  <a:srgbClr val="000000"/>
                </a:solidFill>
                <a:latin typeface="SB Sans Text" pitchFamily="34" charset="0"/>
                <a:cs typeface="SB Sans Text" pitchFamily="34" charset="-120"/>
              </a:rPr>
              <a:t>)</a:t>
            </a:r>
          </a:p>
          <a:p>
            <a:pPr marL="285750" indent="-285750" algn="just">
              <a:lnSpc>
                <a:spcPct val="150000"/>
              </a:lnSpc>
              <a:spcBef>
                <a:spcPts val="133"/>
              </a:spcBef>
              <a:spcAft>
                <a:spcPts val="133"/>
              </a:spcAft>
              <a:buFont typeface="Arial" panose="020B0604020202020204" pitchFamily="34" charset="0"/>
              <a:buChar char="•"/>
            </a:pPr>
            <a:r>
              <a:rPr lang="ru-RU" sz="1733" kern="0" spc="-40" dirty="0">
                <a:solidFill>
                  <a:srgbClr val="000000"/>
                </a:solidFill>
                <a:latin typeface="SB Sans Text" pitchFamily="34" charset="0"/>
                <a:cs typeface="SB Sans Text" pitchFamily="34" charset="-120"/>
              </a:rPr>
              <a:t>Яндекс Лицей</a:t>
            </a:r>
          </a:p>
          <a:p>
            <a:pPr marL="285750" indent="-285750" algn="just">
              <a:lnSpc>
                <a:spcPct val="150000"/>
              </a:lnSpc>
              <a:spcBef>
                <a:spcPts val="133"/>
              </a:spcBef>
              <a:spcAft>
                <a:spcPts val="133"/>
              </a:spcAft>
              <a:buFont typeface="Arial" panose="020B0604020202020204" pitchFamily="34" charset="0"/>
              <a:buChar char="•"/>
            </a:pPr>
            <a:endParaRPr lang="en-US" sz="1733" dirty="0"/>
          </a:p>
        </p:txBody>
      </p:sp>
    </p:spTree>
    <p:extLst>
      <p:ext uri="{BB962C8B-B14F-4D97-AF65-F5344CB8AC3E}">
        <p14:creationId xmlns:p14="http://schemas.microsoft.com/office/powerpoint/2010/main" val="113281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83269D3D-9923-4162-8EEC-C2669E0AEB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5979161" y="271462"/>
            <a:ext cx="5847080" cy="6315075"/>
          </a:xfrm>
          <a:prstGeom prst="rect">
            <a:avLst/>
          </a:prstGeom>
        </p:spPr>
      </p:pic>
      <p:pic>
        <p:nvPicPr>
          <p:cNvPr id="2" name="Image 0" descr="https://prod-gc.cdn.giga.chat/7edaa9c8-85ee-49fc-8884-ecce5370b8e1/019d6d86-af69-7d04-afb2-8f8c93200731.jpg"/>
          <p:cNvPicPr>
            <a:picLocks noChangeAspect="1"/>
          </p:cNvPicPr>
          <p:nvPr/>
        </p:nvPicPr>
        <p:blipFill>
          <a:blip r:embed="rId4"/>
          <a:srcRect t="17857" b="17857"/>
          <a:stretch/>
        </p:blipFill>
        <p:spPr>
          <a:xfrm>
            <a:off x="365760" y="271462"/>
            <a:ext cx="5613400" cy="6315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0" y="285203"/>
            <a:ext cx="524256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Преимущества инновационных технологий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281421" y="1238250"/>
            <a:ext cx="5242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Повышение эффективности обучения на 30% за счет персонализированных программ.</a:t>
            </a:r>
            <a:endParaRPr lang="en-US" sz="1733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Снижение затрат на обучение до 50% благодаря электронным платформам.</a:t>
            </a:r>
            <a:endParaRPr lang="en-US" sz="1733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Улучшение мотивации сотрудников на 25% через геймификацию и интерактивные форматы.</a:t>
            </a:r>
            <a:endParaRPr lang="en-US" sz="173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B6F1FDBB-1239-4955-8488-6DFF443E76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5248274" y="552450"/>
            <a:ext cx="6549389" cy="5753100"/>
          </a:xfrm>
          <a:prstGeom prst="rect">
            <a:avLst/>
          </a:prstGeom>
        </p:spPr>
      </p:pic>
      <p:pic>
        <p:nvPicPr>
          <p:cNvPr id="2" name="Image 0" descr="https://prod-gc.cdn.giga.chat/7edaa9c8-85ee-49fc-8884-ecce5370b8e1/019d7179-a3c4-7d4b-b8b6-8556bd15b15b.jpg"/>
          <p:cNvPicPr>
            <a:picLocks noChangeAspect="1"/>
          </p:cNvPicPr>
          <p:nvPr/>
        </p:nvPicPr>
        <p:blipFill>
          <a:blip r:embed="rId4"/>
          <a:srcRect l="9315" r="9315"/>
          <a:stretch/>
        </p:blipFill>
        <p:spPr>
          <a:xfrm>
            <a:off x="394336" y="552450"/>
            <a:ext cx="4853939" cy="5753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69255" y="584835"/>
            <a:ext cx="524256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Этапы внедрения инновационных технологий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69254" y="1678305"/>
            <a:ext cx="6036945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Анализ потребностей: выявление текущих проблем и определение целей обучения.</a:t>
            </a:r>
            <a:endParaRPr lang="en-US" sz="1733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Выбор технологий: подбор подходящих инструментов (VR, AR, AI).</a:t>
            </a:r>
            <a:endParaRPr lang="en-US" sz="1733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Разработка и тестирование: создание учебных материалов и их тестирование.</a:t>
            </a:r>
            <a:endParaRPr lang="en-US" sz="1733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Внедрение и оценка: запуск программы и оценка ее эффективности.</a:t>
            </a:r>
            <a:endParaRPr lang="en-US" sz="173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619741FE-E346-421B-AB8C-A29A1FF210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4314824" y="342899"/>
            <a:ext cx="7439025" cy="6161315"/>
          </a:xfrm>
          <a:prstGeom prst="rect">
            <a:avLst/>
          </a:prstGeom>
        </p:spPr>
      </p:pic>
      <p:pic>
        <p:nvPicPr>
          <p:cNvPr id="2" name="Image 0" descr="https://prod-gc.cdn.giga.chat/7edaa9c8-85ee-49fc-8884-ecce5370b8e1/019d773a-d759-73a1-b137-5a606869feb1.jpg"/>
          <p:cNvPicPr>
            <a:picLocks noChangeAspect="1"/>
          </p:cNvPicPr>
          <p:nvPr/>
        </p:nvPicPr>
        <p:blipFill>
          <a:blip r:embed="rId4"/>
          <a:srcRect t="3262" b="3262"/>
          <a:stretch/>
        </p:blipFill>
        <p:spPr>
          <a:xfrm>
            <a:off x="438151" y="342900"/>
            <a:ext cx="3876673" cy="61613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11040" y="411480"/>
            <a:ext cx="524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Проблемы и ограничения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11039" y="1028700"/>
            <a:ext cx="689038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Высокие первоначальные затраты: инвестиции в технологии и обучение сотрудников.</a:t>
            </a:r>
            <a:endParaRPr lang="en-US" sz="1733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Необходимость обучения сотрудников: адаптация к новым методам и инструментам.</a:t>
            </a:r>
            <a:endParaRPr lang="en-US" sz="1733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Технические сложности: обеспечение совместимости и надежности </a:t>
            </a:r>
            <a:r>
              <a:rPr lang="en-US" sz="1733" kern="0" spc="-4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систем</a:t>
            </a: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.</a:t>
            </a:r>
            <a:endParaRPr lang="ru-RU" sz="1733" kern="0" spc="-40" dirty="0">
              <a:solidFill>
                <a:srgbClr val="000000"/>
              </a:solidFill>
              <a:latin typeface="SB Sans Text" pitchFamily="34" charset="0"/>
              <a:ea typeface="SB Sans Text" pitchFamily="34" charset="-122"/>
              <a:cs typeface="SB Sans Text" pitchFamily="34" charset="-120"/>
            </a:endParaRPr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FontTx/>
              <a:buChar char="•"/>
            </a:pP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Требования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к 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высокой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квалификации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преподавателей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и 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сотрудников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для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работы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с 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новыми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8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инструментами</a:t>
            </a:r>
            <a:r>
              <a:rPr lang="en-US" sz="18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.</a:t>
            </a:r>
            <a:endParaRPr lang="en-US" sz="1800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endParaRPr lang="en-US" sz="173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FB41320D-0496-4DE5-97E6-7D0ED0B669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4210049" y="277777"/>
            <a:ext cx="7439025" cy="63024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79595" y="382905"/>
            <a:ext cx="524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Практические рекомендации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91051" y="1165860"/>
            <a:ext cx="6791323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Постепенное внедрение технологий: начать с пилотных проектов, оценить результаты и масштабировать успешные практики.</a:t>
            </a:r>
            <a:endParaRPr lang="en-US" sz="1733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Обучение сотрудников работе с новыми инструментами: организовать тренинги и вебинары для повышения квалификации.</a:t>
            </a:r>
            <a:endParaRPr lang="en-US" sz="1733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Регулярная оценка эффективности: проводить опросы, анализировать данные и корректировать программы обучения.</a:t>
            </a:r>
            <a:endParaRPr lang="en-US" sz="1733" dirty="0"/>
          </a:p>
        </p:txBody>
      </p:sp>
      <p:pic>
        <p:nvPicPr>
          <p:cNvPr id="5" name="Image 0" descr="https://prod-gc.cdn.giga.chat/7edaa9c8-85ee-49fc-8884-ecce5370b8e1/019d7179-8f3a-77cb-ab18-aa254b8fcc2a.jpg">
            <a:extLst>
              <a:ext uri="{FF2B5EF4-FFF2-40B4-BE49-F238E27FC236}">
                <a16:creationId xmlns:a16="http://schemas.microsoft.com/office/drawing/2014/main" id="{9431CD96-6FB3-4401-8C28-69B79A8E24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6" b="276"/>
          <a:stretch/>
        </p:blipFill>
        <p:spPr>
          <a:xfrm>
            <a:off x="588644" y="277777"/>
            <a:ext cx="3621405" cy="63024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55017218-8BA5-4395-BADE-929C6A03F1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381000" y="962026"/>
            <a:ext cx="6324600" cy="4924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971550"/>
            <a:ext cx="524256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Будущее корпоративного обучения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87679" y="2125981"/>
            <a:ext cx="6017895" cy="3497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Корпоративное обучение продолжает развиваться, интегрируя инновационные технологии. Тенденции включают персонализацию обучения с помощью AI, использование VR и AR для повышения вовлеченности. Организации должны адаптироваться, инвестируя в новые технологии и обучая сотрудников. Это обеспечит конкурентные преимущества и повысит производительность.</a:t>
            </a:r>
            <a:endParaRPr lang="en-US" sz="1733" dirty="0"/>
          </a:p>
        </p:txBody>
      </p:sp>
      <p:pic>
        <p:nvPicPr>
          <p:cNvPr id="5" name="Image 0" descr="https://prod-gc.cdn.giga.chat/7edaa9c8-85ee-49fc-8884-ecce5370b8e1/019d77ac-f5c3-7fe3-b381-5f465236f34b.jpg">
            <a:extLst>
              <a:ext uri="{FF2B5EF4-FFF2-40B4-BE49-F238E27FC236}">
                <a16:creationId xmlns:a16="http://schemas.microsoft.com/office/drawing/2014/main" id="{C7F560FB-3093-4262-B508-8B1F1F53CE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315" r="9315"/>
          <a:stretch/>
        </p:blipFill>
        <p:spPr>
          <a:xfrm>
            <a:off x="6705600" y="962026"/>
            <a:ext cx="5105400" cy="49244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8661C4FC-942B-49D9-B986-07E9371CA3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4321628" y="348343"/>
            <a:ext cx="7373982" cy="6161314"/>
          </a:xfrm>
          <a:prstGeom prst="rect">
            <a:avLst/>
          </a:prstGeom>
        </p:spPr>
      </p:pic>
      <p:pic>
        <p:nvPicPr>
          <p:cNvPr id="2" name="Image 0" descr="https://prod-gc.cdn.giga.chat/7edaa9c8-85ee-49fc-8884-ecce5370b8e1/019d6d86-a1f9-71d4-a27b-0039619815b9.jpg"/>
          <p:cNvPicPr>
            <a:picLocks noChangeAspect="1"/>
          </p:cNvPicPr>
          <p:nvPr/>
        </p:nvPicPr>
        <p:blipFill>
          <a:blip r:embed="rId4"/>
          <a:srcRect t="3262" b="3262"/>
          <a:stretch/>
        </p:blipFill>
        <p:spPr>
          <a:xfrm>
            <a:off x="555171" y="348342"/>
            <a:ext cx="3766457" cy="61613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11040" y="411480"/>
            <a:ext cx="524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800" b="1" kern="0" spc="-53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11039" y="1028701"/>
            <a:ext cx="6776085" cy="4183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Инновационные технологии повышают эффективность корпоративного обучения на 30%.</a:t>
            </a:r>
            <a:endParaRPr lang="en-US" sz="1733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Важно учитывать преимущества и недостатки при внедрении новых решений.</a:t>
            </a:r>
            <a:endParaRPr lang="en-US" sz="1733" dirty="0"/>
          </a:p>
          <a:p>
            <a:pPr marL="237061" indent="-237061" algn="just">
              <a:lnSpc>
                <a:spcPts val="2773"/>
              </a:lnSpc>
              <a:spcBef>
                <a:spcPts val="133"/>
              </a:spcBef>
              <a:spcAft>
                <a:spcPts val="133"/>
              </a:spcAft>
              <a:buSzPct val="100000"/>
              <a:buChar char="•"/>
            </a:pPr>
            <a:r>
              <a:rPr lang="en-US" sz="1733" kern="0" spc="-4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Постоянное развитие и адаптация к новым технологиям необходимы для поддержания конкурентоспособности.</a:t>
            </a:r>
            <a:endParaRPr lang="en-US" sz="17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645</Words>
  <Application>Microsoft Office PowerPoint</Application>
  <PresentationFormat>Широкоэкранный</PresentationFormat>
  <Paragraphs>73</Paragraphs>
  <Slides>15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SB Sans Display Bold</vt:lpstr>
      <vt:lpstr>SB Sans Text</vt:lpstr>
      <vt:lpstr>Тема Office</vt:lpstr>
      <vt:lpstr>Министерство науки и высшего образования Российской Федерации федеральное государственное бюджетное образовательное учреждение  высшего образования «Самарский государственный технический университет» (ФГБОУ ВО «СамГТУ»)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науки и высшего образования Российской Федерации федеральное государственное бюджетное образовательное учреждение  высшего образования «Самарский государственный технический университет» (ФГБОУ ВО «СамГТУ»)</dc:title>
  <dc:creator>Егор Бекиш</dc:creator>
  <cp:lastModifiedBy>Егор Бекиш</cp:lastModifiedBy>
  <cp:revision>13</cp:revision>
  <dcterms:created xsi:type="dcterms:W3CDTF">2026-04-10T11:20:53Z</dcterms:created>
  <dcterms:modified xsi:type="dcterms:W3CDTF">2026-04-17T10:49:43Z</dcterms:modified>
</cp:coreProperties>
</file>