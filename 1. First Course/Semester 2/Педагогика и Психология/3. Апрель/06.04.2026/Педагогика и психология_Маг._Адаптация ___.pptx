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91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8" r:id="rId13"/>
    <p:sldId id="293" r:id="rId14"/>
    <p:sldId id="294" r:id="rId15"/>
    <p:sldId id="292" r:id="rId16"/>
    <p:sldId id="256" r:id="rId17"/>
    <p:sldId id="269" r:id="rId18"/>
    <p:sldId id="270" r:id="rId19"/>
    <p:sldId id="271" r:id="rId20"/>
    <p:sldId id="272" r:id="rId21"/>
    <p:sldId id="273" r:id="rId22"/>
    <p:sldId id="295" r:id="rId23"/>
    <p:sldId id="296" r:id="rId24"/>
    <p:sldId id="297" r:id="rId25"/>
    <p:sldId id="298" r:id="rId26"/>
    <p:sldId id="299" r:id="rId27"/>
    <p:sldId id="289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9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E9CA3-D21C-4FFF-A4C9-38C6B56AB7D7}" type="datetimeFigureOut">
              <a:rPr lang="ru-RU" smtClean="0"/>
              <a:pPr/>
              <a:t>19.03.2021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B0241-994A-4F8C-BB96-F192B6CB77B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63843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734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7201B66-2532-4306-8952-40825A14B482}" type="slidenum">
              <a:rPr lang="ru-RU" altLang="ru-RU" smtClean="0"/>
              <a:pPr/>
              <a:t>1</a:t>
            </a:fld>
            <a:endParaRPr lang="ru-RU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9EDB008-2D94-49FE-9FBD-DB6360C8B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367BD412-363E-4F99-AD29-F52B4913C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AB19A1D-B1F2-4CFD-916D-310DCD49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D671-902A-4D90-A550-DF0AB500AFD0}" type="datetimeFigureOut">
              <a:rPr lang="ru-RU" smtClean="0"/>
              <a:pPr/>
              <a:t>19.03.2021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AA2CB0FC-CB78-461B-A13D-A4574A7D9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59C27F51-55B3-4E73-934A-3B9C0E9E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483B8-546B-440D-9F54-6B37AAAF85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70622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911B542-2DD1-4A4F-A808-7855A48D0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4B736F9-F638-4B8F-8D19-08360B81C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CC64C3B-893D-457A-B9D3-B262DE8B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D671-902A-4D90-A550-DF0AB500AFD0}" type="datetimeFigureOut">
              <a:rPr lang="ru-RU" smtClean="0"/>
              <a:pPr/>
              <a:t>19.03.2021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229D9D0-2882-4E42-BCEB-EEA08CF28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CC65AE8-9889-4DC6-9A44-CBC8D37C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483B8-546B-440D-9F54-6B37AAAF85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0324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63AC1AA-B386-4209-9890-5C126628E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4DE291E-20C7-4D26-AF1A-75337C7F9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C5A9A54-95A6-4499-8D62-DD38DC30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D671-902A-4D90-A550-DF0AB500AFD0}" type="datetimeFigureOut">
              <a:rPr lang="ru-RU" smtClean="0"/>
              <a:pPr/>
              <a:t>19.03.2021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2A580CA-8B8F-4C0D-B990-0122737A7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76F951D-FD9F-4FBA-9D84-BF4CB50A8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483B8-546B-440D-9F54-6B37AAAF85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1906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B419345-72B1-49DB-AFCC-ACED75AB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84D3BB4-5BC9-4780-A05B-D8B28D097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8E5C6A63-DD0E-4243-B32E-0307740DC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4F6EF907-9B76-4BD1-A0E1-D8E0FE2FA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D671-902A-4D90-A550-DF0AB500AFD0}" type="datetimeFigureOut">
              <a:rPr lang="ru-RU" smtClean="0"/>
              <a:pPr/>
              <a:t>19.03.2021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E07E4D10-7437-4D5C-A602-297668A65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82376248-CE72-40D9-8D9D-031E3E01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483B8-546B-440D-9F54-6B37AAAF85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41780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321E7D3-8799-427B-A368-575C5A497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421482C-1C33-4240-8C4D-51E36C866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97A2A35E-6DA0-46C5-8D42-26E65A91E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EABB030B-FDDD-4CCA-BD4C-E61FA22552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E4F2EAB5-E4AB-4E7A-AD19-4EB8BA4B0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54F72538-428F-43C9-9CEF-04A338182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D671-902A-4D90-A550-DF0AB500AFD0}" type="datetimeFigureOut">
              <a:rPr lang="ru-RU" smtClean="0"/>
              <a:pPr/>
              <a:t>19.03.2021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835A7314-3CA5-4ABD-9436-E2F6332AD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86FC4AB6-D4BA-4D32-A9B8-DFA31CC1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483B8-546B-440D-9F54-6B37AAAF85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88778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823CAD0-D422-410C-8B2C-8698A90A5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4B4086D9-9A06-4A6E-9257-0211E37A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D671-902A-4D90-A550-DF0AB500AFD0}" type="datetimeFigureOut">
              <a:rPr lang="ru-RU" smtClean="0"/>
              <a:pPr/>
              <a:t>19.03.2021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98EED2C0-8DB2-44CD-840D-B9CEA362A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70441336-A838-48E3-A14A-0AFBB248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483B8-546B-440D-9F54-6B37AAAF85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66776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3CAA798E-81C4-464D-817E-134DE679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D671-902A-4D90-A550-DF0AB500AFD0}" type="datetimeFigureOut">
              <a:rPr lang="ru-RU" smtClean="0"/>
              <a:pPr/>
              <a:t>19.03.2021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DB16BCB2-3B26-4A30-9DFA-72346C6B3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CDDAA645-3D3F-46D7-8E6E-37F0E2E6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483B8-546B-440D-9F54-6B37AAAF85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0829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338771C-A4C4-4B2C-84BB-F0586CE28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D2DC97F-B503-4E4A-BEEC-FE62B9D7E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1D0DB146-648E-41E5-8227-DDDB6BA11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705C4EA1-2263-4936-AF39-90BD2CC8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D671-902A-4D90-A550-DF0AB500AFD0}" type="datetimeFigureOut">
              <a:rPr lang="ru-RU" smtClean="0"/>
              <a:pPr/>
              <a:t>19.03.2021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E95C8CDD-9F64-4CF4-903B-1FA99D37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219E60B7-B970-4C82-AEE5-374E2664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483B8-546B-440D-9F54-6B37AAAF85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32419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E209102-D49D-4E45-A3A0-19C369CA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83BC0922-F27B-4299-8E74-85BB097D74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CA25A6C5-E75A-4F5D-9780-C9634C854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94700044-25A5-4193-BEB4-0673CDF0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D671-902A-4D90-A550-DF0AB500AFD0}" type="datetimeFigureOut">
              <a:rPr lang="ru-RU" smtClean="0"/>
              <a:pPr/>
              <a:t>19.03.2021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938E851C-7148-4647-988D-F23833B04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1FE7E9A6-4185-4CC1-9042-A45177BF8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483B8-546B-440D-9F54-6B37AAAF85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81262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69D2FF4-AC79-4DF7-AFB4-DAD4D2C64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CEAF6337-B315-41C9-813A-8BA5989FA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128A8C9-58EA-41E4-AA07-20EA49A0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D671-902A-4D90-A550-DF0AB500AFD0}" type="datetimeFigureOut">
              <a:rPr lang="ru-RU" smtClean="0"/>
              <a:pPr/>
              <a:t>19.03.2021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5D49754-4FD2-4F8E-A194-E33C7A9C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2C9C805-4D64-4348-AE3A-8A321BC3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483B8-546B-440D-9F54-6B37AAAF85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57208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D8F39DD7-72E1-426D-8079-859B4850E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14312465-EEED-44CB-84D7-98F36B943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6AED10FC-EE02-441B-A5E4-BFEFCAE8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D671-902A-4D90-A550-DF0AB500AFD0}" type="datetimeFigureOut">
              <a:rPr lang="ru-RU" smtClean="0"/>
              <a:pPr/>
              <a:t>19.03.2021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2BD07CDD-C302-4D9E-81DA-80A7FD149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242E30B-1077-463F-9A7C-0A5FA87EB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483B8-546B-440D-9F54-6B37AAAF85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08715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239185" y="188914"/>
            <a:ext cx="11618383" cy="59769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Дата и время шрифт Arial (10 pt)</a:t>
            </a:r>
          </a:p>
        </p:txBody>
      </p:sp>
    </p:spTree>
    <p:extLst>
      <p:ext uri="{BB962C8B-B14F-4D97-AF65-F5344CB8AC3E}">
        <p14:creationId xmlns:p14="http://schemas.microsoft.com/office/powerpoint/2010/main" xmlns="" val="2744521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360C29A-6A56-46F7-A998-BC29E1B40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6F7171D9-2955-4DB0-B81A-E665B3FE5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F4D0013-D98E-41C3-A55B-E05E30B44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8D671-902A-4D90-A550-DF0AB500AFD0}" type="datetimeFigureOut">
              <a:rPr lang="ru-RU" smtClean="0"/>
              <a:pPr/>
              <a:t>19.03.2021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3A84DD1-3874-45F0-A91C-D4F7C7665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F3FD267-02FE-4B72-AEFD-6F0ADA503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483B8-546B-440D-9F54-6B37AAAF85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956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hyperlink" Target="https://samgtu.r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39" descr="1395410008-blue_sky_0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Oval 3"/>
          <p:cNvSpPr>
            <a:spLocks noChangeAspect="1" noChangeArrowheads="1"/>
          </p:cNvSpPr>
          <p:nvPr/>
        </p:nvSpPr>
        <p:spPr bwMode="auto">
          <a:xfrm>
            <a:off x="1524000" y="-1179513"/>
            <a:ext cx="9144000" cy="9144001"/>
          </a:xfrm>
          <a:prstGeom prst="ellipse">
            <a:avLst/>
          </a:prstGeom>
          <a:noFill/>
          <a:ln w="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 altLang="ru-RU">
              <a:latin typeface="Arial Narrow" pitchFamily="34" charset="0"/>
            </a:endParaRPr>
          </a:p>
        </p:txBody>
      </p:sp>
      <p:sp>
        <p:nvSpPr>
          <p:cNvPr id="10244" name="Oval 4"/>
          <p:cNvSpPr>
            <a:spLocks noChangeAspect="1" noChangeArrowheads="1"/>
          </p:cNvSpPr>
          <p:nvPr/>
        </p:nvSpPr>
        <p:spPr bwMode="auto">
          <a:xfrm>
            <a:off x="2711451" y="269876"/>
            <a:ext cx="6588125" cy="6588125"/>
          </a:xfrm>
          <a:prstGeom prst="ellipse">
            <a:avLst/>
          </a:prstGeom>
          <a:noFill/>
          <a:ln w="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 altLang="ru-RU">
              <a:latin typeface="Arial Narrow" pitchFamily="34" charset="0"/>
            </a:endParaRPr>
          </a:p>
        </p:txBody>
      </p:sp>
      <p:sp>
        <p:nvSpPr>
          <p:cNvPr id="10245" name="Oval 5"/>
          <p:cNvSpPr>
            <a:spLocks noChangeAspect="1" noChangeArrowheads="1"/>
          </p:cNvSpPr>
          <p:nvPr/>
        </p:nvSpPr>
        <p:spPr bwMode="auto">
          <a:xfrm>
            <a:off x="4008438" y="1484313"/>
            <a:ext cx="4038600" cy="4038600"/>
          </a:xfrm>
          <a:prstGeom prst="ellipse">
            <a:avLst/>
          </a:prstGeom>
          <a:solidFill>
            <a:schemeClr val="bg1"/>
          </a:solidFill>
          <a:ln w="0">
            <a:noFill/>
            <a:round/>
            <a:headEnd/>
            <a:tailEnd/>
          </a:ln>
        </p:spPr>
        <p:txBody>
          <a:bodyPr wrap="none" anchor="ctr"/>
          <a:lstStyle/>
          <a:p>
            <a:endParaRPr lang="ru-RU" altLang="ru-RU">
              <a:latin typeface="Arial Narrow" pitchFamily="34" charset="0"/>
            </a:endParaRPr>
          </a:p>
        </p:txBody>
      </p:sp>
      <p:sp>
        <p:nvSpPr>
          <p:cNvPr id="8198" name="Заголовок 1"/>
          <p:cNvSpPr>
            <a:spLocks noGrp="1"/>
          </p:cNvSpPr>
          <p:nvPr>
            <p:ph type="ctrTitle" idx="4294967295"/>
          </p:nvPr>
        </p:nvSpPr>
        <p:spPr>
          <a:xfrm>
            <a:off x="4213225" y="2209007"/>
            <a:ext cx="3427413" cy="25781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ru-RU" altLang="ru-RU" sz="2400" cap="all" dirty="0">
                <a:solidFill>
                  <a:srgbClr val="004282"/>
                </a:solidFill>
                <a:latin typeface="Arial Narrow" pitchFamily="34" charset="0"/>
                <a:cs typeface="Arial" pitchFamily="34" charset="0"/>
              </a:rPr>
              <a:t>ПЕДАГОГИКА И Психология</a:t>
            </a:r>
            <a:r>
              <a:rPr lang="ru-RU" altLang="ru-RU" sz="2400" i="1" cap="all" dirty="0">
                <a:solidFill>
                  <a:srgbClr val="004282"/>
                </a:solidFill>
                <a:latin typeface="Arial Narrow" pitchFamily="34" charset="0"/>
                <a:cs typeface="Arial" pitchFamily="34" charset="0"/>
              </a:rPr>
              <a:t/>
            </a:r>
            <a:br>
              <a:rPr lang="ru-RU" altLang="ru-RU" sz="2400" i="1" cap="all" dirty="0">
                <a:solidFill>
                  <a:srgbClr val="004282"/>
                </a:solidFill>
                <a:latin typeface="Arial Narrow" pitchFamily="34" charset="0"/>
                <a:cs typeface="Arial" pitchFamily="34" charset="0"/>
              </a:rPr>
            </a:br>
            <a:r>
              <a:rPr lang="ru-RU" altLang="ru-RU" sz="2400" cap="all" dirty="0">
                <a:solidFill>
                  <a:srgbClr val="004282"/>
                </a:solidFill>
                <a:latin typeface="Arial Narrow" pitchFamily="34" charset="0"/>
                <a:cs typeface="Arial" pitchFamily="34" charset="0"/>
              </a:rPr>
              <a:t/>
            </a:r>
            <a:br>
              <a:rPr lang="ru-RU" altLang="ru-RU" sz="2400" cap="all" dirty="0">
                <a:solidFill>
                  <a:srgbClr val="004282"/>
                </a:solidFill>
                <a:latin typeface="Arial Narrow" pitchFamily="34" charset="0"/>
                <a:cs typeface="Arial" pitchFamily="34" charset="0"/>
              </a:rPr>
            </a:br>
            <a:r>
              <a:rPr lang="ru-RU" altLang="ru-RU" sz="2400" cap="all" dirty="0">
                <a:solidFill>
                  <a:srgbClr val="004282"/>
                </a:solidFill>
                <a:latin typeface="Arial Narrow" pitchFamily="34" charset="0"/>
                <a:cs typeface="Arial" pitchFamily="34" charset="0"/>
              </a:rPr>
              <a:t> Тема 6</a:t>
            </a:r>
            <a:r>
              <a:rPr lang="en-US" altLang="ru-RU" sz="2400" cap="all" dirty="0">
                <a:solidFill>
                  <a:srgbClr val="004282"/>
                </a:solidFill>
                <a:latin typeface="Arial Narrow" pitchFamily="34" charset="0"/>
                <a:cs typeface="Arial" pitchFamily="34" charset="0"/>
              </a:rPr>
              <a:t/>
            </a:r>
            <a:br>
              <a:rPr lang="en-US" altLang="ru-RU" sz="2400" cap="all" dirty="0">
                <a:solidFill>
                  <a:srgbClr val="004282"/>
                </a:solidFill>
                <a:latin typeface="Arial Narrow" pitchFamily="34" charset="0"/>
                <a:cs typeface="Arial" pitchFamily="34" charset="0"/>
              </a:rPr>
            </a:br>
            <a:r>
              <a:rPr lang="ru-RU" altLang="ru-RU" sz="2400" cap="all" dirty="0">
                <a:solidFill>
                  <a:srgbClr val="004282"/>
                </a:solidFill>
                <a:latin typeface="Arial Narrow" pitchFamily="34" charset="0"/>
                <a:cs typeface="Arial" pitchFamily="34" charset="0"/>
              </a:rPr>
              <a:t>«</a:t>
            </a:r>
            <a:r>
              <a:rPr lang="ru-RU" sz="2400" dirty="0">
                <a:solidFill>
                  <a:srgbClr val="002060"/>
                </a:solidFill>
                <a:latin typeface="Arial Narrow" panose="020B0606020202030204" pitchFamily="34" charset="0"/>
              </a:rPr>
              <a:t>Социально-психологическая адаптация личности в профессиональном пространстве</a:t>
            </a:r>
            <a:r>
              <a:rPr lang="ru-RU" altLang="ru-RU" sz="2400" dirty="0">
                <a:solidFill>
                  <a:srgbClr val="004282"/>
                </a:solidFill>
                <a:latin typeface="Arial Narrow" pitchFamily="34" charset="0"/>
                <a:cs typeface="Arial" pitchFamily="34" charset="0"/>
              </a:rPr>
              <a:t>»</a:t>
            </a:r>
            <a:endParaRPr lang="ru-RU" altLang="ru-RU" sz="2400" cap="all" dirty="0">
              <a:solidFill>
                <a:srgbClr val="004282"/>
              </a:solidFill>
              <a:latin typeface="Arial Narrow" pitchFamily="34" charset="0"/>
              <a:cs typeface="Arial" pitchFamily="34" charset="0"/>
            </a:endParaRPr>
          </a:p>
        </p:txBody>
      </p:sp>
      <p:pic>
        <p:nvPicPr>
          <p:cNvPr id="10247" name="Picture 36" descr="logo-rus1_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85150" y="476250"/>
            <a:ext cx="1582738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8" name="Rectangle 38"/>
          <p:cNvSpPr>
            <a:spLocks noChangeArrowheads="1"/>
          </p:cNvSpPr>
          <p:nvPr/>
        </p:nvSpPr>
        <p:spPr bwMode="auto">
          <a:xfrm>
            <a:off x="4656139" y="3284539"/>
            <a:ext cx="3095625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endParaRPr lang="ru-RU" altLang="ru-RU">
              <a:solidFill>
                <a:srgbClr val="004282"/>
              </a:solidFill>
              <a:latin typeface="Arial Narrow" pitchFamily="34" charset="0"/>
            </a:endParaRPr>
          </a:p>
        </p:txBody>
      </p:sp>
      <p:grpSp>
        <p:nvGrpSpPr>
          <p:cNvPr id="2" name="Group 67"/>
          <p:cNvGrpSpPr>
            <a:grpSpLocks/>
          </p:cNvGrpSpPr>
          <p:nvPr/>
        </p:nvGrpSpPr>
        <p:grpSpPr bwMode="auto">
          <a:xfrm>
            <a:off x="2063751" y="4221164"/>
            <a:ext cx="1801813" cy="2160587"/>
            <a:chOff x="385" y="255"/>
            <a:chExt cx="1135" cy="1361"/>
          </a:xfrm>
        </p:grpSpPr>
        <p:sp>
          <p:nvSpPr>
            <p:cNvPr id="10260" name="Oval 42"/>
            <p:cNvSpPr>
              <a:spLocks noChangeArrowheads="1"/>
            </p:cNvSpPr>
            <p:nvPr/>
          </p:nvSpPr>
          <p:spPr bwMode="auto">
            <a:xfrm>
              <a:off x="385" y="527"/>
              <a:ext cx="182" cy="182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>
                <a:latin typeface="Arial Narrow" pitchFamily="34" charset="0"/>
              </a:endParaRPr>
            </a:p>
          </p:txBody>
        </p:sp>
        <p:sp>
          <p:nvSpPr>
            <p:cNvPr id="10261" name="Oval 43"/>
            <p:cNvSpPr>
              <a:spLocks noChangeArrowheads="1"/>
            </p:cNvSpPr>
            <p:nvPr/>
          </p:nvSpPr>
          <p:spPr bwMode="auto">
            <a:xfrm>
              <a:off x="385" y="845"/>
              <a:ext cx="182" cy="182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>
                <a:latin typeface="Arial Narrow" pitchFamily="34" charset="0"/>
              </a:endParaRPr>
            </a:p>
          </p:txBody>
        </p:sp>
        <p:sp>
          <p:nvSpPr>
            <p:cNvPr id="10262" name="Oval 53"/>
            <p:cNvSpPr>
              <a:spLocks noChangeArrowheads="1"/>
            </p:cNvSpPr>
            <p:nvPr/>
          </p:nvSpPr>
          <p:spPr bwMode="auto">
            <a:xfrm>
              <a:off x="702" y="527"/>
              <a:ext cx="182" cy="182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>
                <a:latin typeface="Arial Narrow" pitchFamily="34" charset="0"/>
              </a:endParaRPr>
            </a:p>
          </p:txBody>
        </p:sp>
        <p:sp>
          <p:nvSpPr>
            <p:cNvPr id="10263" name="Oval 54"/>
            <p:cNvSpPr>
              <a:spLocks noChangeArrowheads="1"/>
            </p:cNvSpPr>
            <p:nvPr/>
          </p:nvSpPr>
          <p:spPr bwMode="auto">
            <a:xfrm>
              <a:off x="702" y="845"/>
              <a:ext cx="182" cy="182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>
                <a:latin typeface="Arial Narrow" pitchFamily="34" charset="0"/>
              </a:endParaRPr>
            </a:p>
          </p:txBody>
        </p:sp>
        <p:sp>
          <p:nvSpPr>
            <p:cNvPr id="10264" name="Oval 55"/>
            <p:cNvSpPr>
              <a:spLocks noChangeArrowheads="1"/>
            </p:cNvSpPr>
            <p:nvPr/>
          </p:nvSpPr>
          <p:spPr bwMode="auto">
            <a:xfrm>
              <a:off x="1020" y="527"/>
              <a:ext cx="182" cy="182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>
                <a:latin typeface="Arial Narrow" pitchFamily="34" charset="0"/>
              </a:endParaRPr>
            </a:p>
          </p:txBody>
        </p:sp>
        <p:sp>
          <p:nvSpPr>
            <p:cNvPr id="10265" name="Oval 56"/>
            <p:cNvSpPr>
              <a:spLocks noChangeArrowheads="1"/>
            </p:cNvSpPr>
            <p:nvPr/>
          </p:nvSpPr>
          <p:spPr bwMode="auto">
            <a:xfrm>
              <a:off x="1020" y="845"/>
              <a:ext cx="182" cy="182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>
                <a:latin typeface="Arial Narrow" pitchFamily="34" charset="0"/>
              </a:endParaRPr>
            </a:p>
          </p:txBody>
        </p:sp>
        <p:sp>
          <p:nvSpPr>
            <p:cNvPr id="10266" name="Oval 57"/>
            <p:cNvSpPr>
              <a:spLocks noChangeArrowheads="1"/>
            </p:cNvSpPr>
            <p:nvPr/>
          </p:nvSpPr>
          <p:spPr bwMode="auto">
            <a:xfrm>
              <a:off x="1337" y="527"/>
              <a:ext cx="182" cy="182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>
                <a:latin typeface="Arial Narrow" pitchFamily="34" charset="0"/>
              </a:endParaRPr>
            </a:p>
          </p:txBody>
        </p:sp>
        <p:sp>
          <p:nvSpPr>
            <p:cNvPr id="10267" name="Oval 58"/>
            <p:cNvSpPr>
              <a:spLocks noChangeArrowheads="1"/>
            </p:cNvSpPr>
            <p:nvPr/>
          </p:nvSpPr>
          <p:spPr bwMode="auto">
            <a:xfrm>
              <a:off x="1337" y="845"/>
              <a:ext cx="182" cy="182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>
                <a:latin typeface="Arial Narrow" pitchFamily="34" charset="0"/>
              </a:endParaRPr>
            </a:p>
          </p:txBody>
        </p:sp>
        <p:sp>
          <p:nvSpPr>
            <p:cNvPr id="10268" name="Oval 59"/>
            <p:cNvSpPr>
              <a:spLocks noChangeArrowheads="1"/>
            </p:cNvSpPr>
            <p:nvPr/>
          </p:nvSpPr>
          <p:spPr bwMode="auto">
            <a:xfrm>
              <a:off x="385" y="1117"/>
              <a:ext cx="182" cy="182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>
                <a:latin typeface="Arial Narrow" pitchFamily="34" charset="0"/>
              </a:endParaRPr>
            </a:p>
          </p:txBody>
        </p:sp>
        <p:sp>
          <p:nvSpPr>
            <p:cNvPr id="10269" name="Oval 60"/>
            <p:cNvSpPr>
              <a:spLocks noChangeArrowheads="1"/>
            </p:cNvSpPr>
            <p:nvPr/>
          </p:nvSpPr>
          <p:spPr bwMode="auto">
            <a:xfrm>
              <a:off x="385" y="1434"/>
              <a:ext cx="182" cy="182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>
                <a:latin typeface="Arial Narrow" pitchFamily="34" charset="0"/>
              </a:endParaRPr>
            </a:p>
          </p:txBody>
        </p:sp>
        <p:sp>
          <p:nvSpPr>
            <p:cNvPr id="10270" name="Oval 62"/>
            <p:cNvSpPr>
              <a:spLocks noChangeArrowheads="1"/>
            </p:cNvSpPr>
            <p:nvPr/>
          </p:nvSpPr>
          <p:spPr bwMode="auto">
            <a:xfrm>
              <a:off x="1338" y="255"/>
              <a:ext cx="182" cy="182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>
                <a:latin typeface="Arial Narrow" pitchFamily="34" charset="0"/>
              </a:endParaRPr>
            </a:p>
          </p:txBody>
        </p:sp>
        <p:sp>
          <p:nvSpPr>
            <p:cNvPr id="10271" name="Oval 63"/>
            <p:cNvSpPr>
              <a:spLocks noChangeArrowheads="1"/>
            </p:cNvSpPr>
            <p:nvPr/>
          </p:nvSpPr>
          <p:spPr bwMode="auto">
            <a:xfrm>
              <a:off x="385" y="255"/>
              <a:ext cx="182" cy="182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>
                <a:latin typeface="Arial Narrow" pitchFamily="34" charset="0"/>
              </a:endParaRPr>
            </a:p>
          </p:txBody>
        </p:sp>
        <p:sp>
          <p:nvSpPr>
            <p:cNvPr id="10272" name="Oval 64"/>
            <p:cNvSpPr>
              <a:spLocks noChangeArrowheads="1"/>
            </p:cNvSpPr>
            <p:nvPr/>
          </p:nvSpPr>
          <p:spPr bwMode="auto">
            <a:xfrm>
              <a:off x="1020" y="1117"/>
              <a:ext cx="182" cy="182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>
                <a:latin typeface="Arial Narrow" pitchFamily="34" charset="0"/>
              </a:endParaRPr>
            </a:p>
          </p:txBody>
        </p:sp>
      </p:grpSp>
      <p:pic>
        <p:nvPicPr>
          <p:cNvPr id="10250" name="Picture 68" descr="буквы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16275" y="908050"/>
            <a:ext cx="865188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51" name="Picture 69" descr="буквы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904288" y="3500438"/>
            <a:ext cx="792162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52" name="Picture 70" descr="буквы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759825" y="1989139"/>
            <a:ext cx="649288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53" name="Picture 72" descr="буквы1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680325" y="5734050"/>
            <a:ext cx="8636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54" name="Picture 73" descr="буквы1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351088" y="2420938"/>
            <a:ext cx="792162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5" name="Oval 74"/>
          <p:cNvSpPr>
            <a:spLocks noChangeArrowheads="1"/>
          </p:cNvSpPr>
          <p:nvPr/>
        </p:nvSpPr>
        <p:spPr bwMode="auto">
          <a:xfrm>
            <a:off x="7453313" y="4000500"/>
            <a:ext cx="914400" cy="914400"/>
          </a:xfrm>
          <a:prstGeom prst="ellipse">
            <a:avLst/>
          </a:prstGeom>
          <a:solidFill>
            <a:srgbClr val="44C8F5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ru-RU" altLang="ru-RU">
              <a:latin typeface="Arial Narrow" pitchFamily="34" charset="0"/>
            </a:endParaRPr>
          </a:p>
        </p:txBody>
      </p:sp>
      <p:pic>
        <p:nvPicPr>
          <p:cNvPr id="10256" name="Picture 27" descr="буквы8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239001" y="4929189"/>
            <a:ext cx="511175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7" name="Oval 75"/>
          <p:cNvSpPr>
            <a:spLocks noChangeArrowheads="1"/>
          </p:cNvSpPr>
          <p:nvPr/>
        </p:nvSpPr>
        <p:spPr bwMode="auto">
          <a:xfrm>
            <a:off x="9409113" y="5445125"/>
            <a:ext cx="914400" cy="914400"/>
          </a:xfrm>
          <a:prstGeom prst="ellipse">
            <a:avLst/>
          </a:prstGeom>
          <a:solidFill>
            <a:srgbClr val="ED1847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ru-RU" altLang="ru-RU">
              <a:latin typeface="Arial Narrow" pitchFamily="34" charset="0"/>
            </a:endParaRPr>
          </a:p>
        </p:txBody>
      </p:sp>
      <p:pic>
        <p:nvPicPr>
          <p:cNvPr id="10258" name="Picture 71" descr="буквы1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480551" y="5516563"/>
            <a:ext cx="792163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9" name="Oval 76"/>
          <p:cNvSpPr>
            <a:spLocks noChangeArrowheads="1"/>
          </p:cNvSpPr>
          <p:nvPr/>
        </p:nvSpPr>
        <p:spPr bwMode="auto">
          <a:xfrm>
            <a:off x="2135188" y="620713"/>
            <a:ext cx="431800" cy="431800"/>
          </a:xfrm>
          <a:prstGeom prst="ellipse">
            <a:avLst/>
          </a:prstGeom>
          <a:solidFill>
            <a:srgbClr val="ED1847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ru-RU" altLang="ru-RU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DE6BC9E-7EAD-404A-A1C6-6F00843F3896}"/>
              </a:ext>
            </a:extLst>
          </p:cNvPr>
          <p:cNvSpPr txBox="1"/>
          <p:nvPr/>
        </p:nvSpPr>
        <p:spPr>
          <a:xfrm>
            <a:off x="647114" y="518798"/>
            <a:ext cx="1114161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  <a:latin typeface="Arial Narrow" panose="020B0606020202030204" pitchFamily="34" charset="0"/>
              </a:rPr>
              <a:t>Социально-психологическая адаптация</a:t>
            </a:r>
          </a:p>
          <a:p>
            <a:endParaRPr lang="ru-RU" sz="1200" b="1" dirty="0">
              <a:latin typeface="Arial Narrow" panose="020B0606020202030204" pitchFamily="34" charset="0"/>
            </a:endParaRPr>
          </a:p>
          <a:p>
            <a:r>
              <a:rPr lang="ru-RU" sz="2200" b="1" i="1" dirty="0">
                <a:solidFill>
                  <a:srgbClr val="002060"/>
                </a:solidFill>
                <a:latin typeface="Arial Narrow" panose="020B0606020202030204" pitchFamily="34" charset="0"/>
              </a:rPr>
              <a:t>представляет собой феномен онтогенетического развития личности, характеризующийся особенностями психического содержания, направленности личности, восприятия </a:t>
            </a:r>
            <a:r>
              <a:rPr lang="ru-RU" sz="2200" b="1" i="1" dirty="0" smtClean="0">
                <a:solidFill>
                  <a:srgbClr val="002060"/>
                </a:solidFill>
                <a:latin typeface="Arial Narrow" panose="020B0606020202030204" pitchFamily="34" charset="0"/>
              </a:rPr>
              <a:t>социальных </a:t>
            </a:r>
            <a:r>
              <a:rPr lang="ru-RU" sz="2200" b="1" i="1" dirty="0">
                <a:solidFill>
                  <a:srgbClr val="002060"/>
                </a:solidFill>
                <a:latin typeface="Arial Narrow" panose="020B0606020202030204" pitchFamily="34" charset="0"/>
              </a:rPr>
              <a:t>явлений и их интерпретацией</a:t>
            </a:r>
          </a:p>
          <a:p>
            <a:endParaRPr lang="ru-RU" sz="2200" b="1" dirty="0">
              <a:latin typeface="Arial Narrow" panose="020B0606020202030204" pitchFamily="34" charset="0"/>
            </a:endParaRPr>
          </a:p>
          <a:p>
            <a:r>
              <a:rPr lang="ru-RU" sz="2200" b="1" dirty="0">
                <a:solidFill>
                  <a:srgbClr val="C00000"/>
                </a:solidFill>
                <a:latin typeface="Arial Narrow" panose="020B0606020202030204" pitchFamily="34" charset="0"/>
              </a:rPr>
              <a:t>Сущность феномена адаптации в современной психологической науке</a:t>
            </a:r>
          </a:p>
          <a:p>
            <a:endParaRPr lang="ru-RU" sz="22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Современное понимание феномена адаптации связано с представлением о том, что он связан с приспособлением к изменениям окружающей среды, является одним из основных факторов развития личности, защитных механизмов психики, познавательной активности.</a:t>
            </a:r>
          </a:p>
          <a:p>
            <a:endParaRPr lang="ru-RU" sz="2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В существующей психологической литературе процесс адаптации рассматривается как многосторонний, активный процесс, включающий в себя овладение учебной деятельностью и эффективное взаимодействие с окружающей средой, процесс изменения поведения и деятельности в новых условиях окружающей среды</a:t>
            </a:r>
          </a:p>
        </p:txBody>
      </p:sp>
    </p:spTree>
    <p:extLst>
      <p:ext uri="{BB962C8B-B14F-4D97-AF65-F5344CB8AC3E}">
        <p14:creationId xmlns:p14="http://schemas.microsoft.com/office/powerpoint/2010/main" xmlns="" val="2057388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30EF6E0-AD4E-4C7A-BB17-A727D6647A3D}"/>
              </a:ext>
            </a:extLst>
          </p:cNvPr>
          <p:cNvSpPr txBox="1"/>
          <p:nvPr/>
        </p:nvSpPr>
        <p:spPr>
          <a:xfrm>
            <a:off x="239151" y="154741"/>
            <a:ext cx="11690252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Arial Narrow" panose="020B0606020202030204" pitchFamily="34" charset="0"/>
              </a:rPr>
              <a:t>Изучая суть феномена адаптации, необходимо отметить </a:t>
            </a:r>
            <a:r>
              <a:rPr lang="ru-RU" b="1" i="1" u="sng" dirty="0">
                <a:solidFill>
                  <a:srgbClr val="C00000"/>
                </a:solidFill>
                <a:latin typeface="Arial Narrow" panose="020B0606020202030204" pitchFamily="34" charset="0"/>
              </a:rPr>
              <a:t>эволюцию понимания</a:t>
            </a:r>
            <a:r>
              <a:rPr lang="ru-RU" b="1" dirty="0">
                <a:latin typeface="Arial Narrow" panose="020B0606020202030204" pitchFamily="34" charset="0"/>
              </a:rPr>
              <a:t> этого понятия от сугубо биологического подхода к психолого-педагогическому. Изучение литературы показывает, что до середины </a:t>
            </a:r>
            <a:r>
              <a:rPr lang="en-US" b="1" dirty="0">
                <a:latin typeface="Arial Narrow" panose="020B0606020202030204" pitchFamily="34" charset="0"/>
              </a:rPr>
              <a:t>XX</a:t>
            </a:r>
            <a:r>
              <a:rPr lang="ru-RU" b="1" dirty="0">
                <a:latin typeface="Arial Narrow" panose="020B0606020202030204" pitchFamily="34" charset="0"/>
              </a:rPr>
              <a:t> века адаптационные процессы являлись предметом исследований, главным образом, в биологии и медицине, где этот термин использовался для обозначения жизнедеятельности организма в норме и патологии.</a:t>
            </a:r>
            <a:endParaRPr lang="en-US" b="1" dirty="0">
              <a:latin typeface="Arial Narrow" panose="020B0606020202030204" pitchFamily="34" charset="0"/>
            </a:endParaRPr>
          </a:p>
          <a:p>
            <a:endParaRPr lang="en-US" sz="12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Со временем универсальный характер адаптации, его значимость для личности становится предметом исследования также в психологии и социологии, а само понятие адаптации ассоциируется с процессом и результатом установления устойчивых взаимоотношений между личностью и средой.</a:t>
            </a:r>
            <a:endParaRPr lang="en-US" b="1" dirty="0">
              <a:latin typeface="Arial Narrow" panose="020B0606020202030204" pitchFamily="34" charset="0"/>
            </a:endParaRPr>
          </a:p>
          <a:p>
            <a:endParaRPr lang="en-US" sz="12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Параллельно в педагогике принципы адаптации начинают использоваться в дидактических разработках.</a:t>
            </a:r>
            <a:endParaRPr lang="en-US" b="1" dirty="0">
              <a:latin typeface="Arial Narrow" panose="020B0606020202030204" pitchFamily="34" charset="0"/>
            </a:endParaRPr>
          </a:p>
          <a:p>
            <a:endParaRPr lang="en-US" sz="12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Термин «</a:t>
            </a:r>
            <a:r>
              <a:rPr lang="ru-RU" b="1" i="1" u="sng" dirty="0">
                <a:solidFill>
                  <a:srgbClr val="C00000"/>
                </a:solidFill>
                <a:latin typeface="Arial Narrow" panose="020B0606020202030204" pitchFamily="34" charset="0"/>
              </a:rPr>
              <a:t>адаптация</a:t>
            </a:r>
            <a:r>
              <a:rPr lang="ru-RU" b="1" dirty="0">
                <a:latin typeface="Arial Narrow" panose="020B0606020202030204" pitchFamily="34" charset="0"/>
              </a:rPr>
              <a:t>» впервые использован физиологом </a:t>
            </a:r>
            <a:r>
              <a:rPr lang="ru-RU" b="1" dirty="0" err="1">
                <a:latin typeface="Arial Narrow" panose="020B0606020202030204" pitchFamily="34" charset="0"/>
              </a:rPr>
              <a:t>Аубертом</a:t>
            </a:r>
            <a:r>
              <a:rPr lang="ru-RU" b="1" dirty="0">
                <a:latin typeface="Arial Narrow" panose="020B0606020202030204" pitchFamily="34" charset="0"/>
              </a:rPr>
              <a:t> (1865 год), стал употребляться в медицинской и психологической литературе, где означал первоначально изменение восприимчивости органов чувств к действию раздражителей. В дальнейшем он рассматривался как любое приспособление организма к окружающим условиям.</a:t>
            </a:r>
          </a:p>
          <a:p>
            <a:endParaRPr lang="ru-RU" sz="12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Слово «адаптация» происходит от латинского </a:t>
            </a:r>
            <a:r>
              <a:rPr lang="ru-RU" b="1" i="1" u="sng" dirty="0">
                <a:solidFill>
                  <a:srgbClr val="C00000"/>
                </a:solidFill>
                <a:latin typeface="Arial Narrow" panose="020B0606020202030204" pitchFamily="34" charset="0"/>
              </a:rPr>
              <a:t>«</a:t>
            </a:r>
            <a:r>
              <a:rPr lang="ru-RU" b="1" i="1" u="sng" dirty="0" err="1">
                <a:solidFill>
                  <a:srgbClr val="C00000"/>
                </a:solidFill>
                <a:latin typeface="Arial Narrow" panose="020B0606020202030204" pitchFamily="34" charset="0"/>
              </a:rPr>
              <a:t>accommodation</a:t>
            </a:r>
            <a:r>
              <a:rPr lang="ru-RU" b="1" i="1" u="sng" dirty="0">
                <a:solidFill>
                  <a:srgbClr val="C00000"/>
                </a:solidFill>
                <a:latin typeface="Arial Narrow" panose="020B0606020202030204" pitchFamily="34" charset="0"/>
              </a:rPr>
              <a:t>» – адаптация (приспособление)</a:t>
            </a:r>
            <a:r>
              <a:rPr lang="ru-RU" b="1" dirty="0">
                <a:latin typeface="Arial Narrow" panose="020B0606020202030204" pitchFamily="34" charset="0"/>
              </a:rPr>
              <a:t>, означает «в биологии совокупность морфофизиологических, поведенческих, популяционных и др. особенностей биологического вида, обеспечивающую возможность специфического образа жизни особей в определенных условиях внешней среды», в то время, как в физиологии, биологии и медицине адаптация рассматривается как привыкание. С адаптацией также ассоциируют и сам процесс выработки приспособлений</a:t>
            </a:r>
            <a:r>
              <a:rPr lang="en-US" b="1" dirty="0">
                <a:latin typeface="Arial Narrow" panose="020B0606020202030204" pitchFamily="34" charset="0"/>
              </a:rPr>
              <a:t>.</a:t>
            </a:r>
            <a:endParaRPr lang="ru-RU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1362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E0B2740-E542-4A1A-9484-135A2D0D31DD}"/>
              </a:ext>
            </a:extLst>
          </p:cNvPr>
          <p:cNvSpPr txBox="1"/>
          <p:nvPr/>
        </p:nvSpPr>
        <p:spPr>
          <a:xfrm>
            <a:off x="407963" y="422031"/>
            <a:ext cx="11394831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 Narrow" panose="020B0606020202030204" pitchFamily="34" charset="0"/>
              </a:rPr>
              <a:t>В смысловом значении понятие «адаптация» рассматривается на основе механизма </a:t>
            </a:r>
            <a:r>
              <a:rPr lang="ru-RU" sz="2000" b="1" i="1" u="sng" dirty="0">
                <a:solidFill>
                  <a:srgbClr val="C00000"/>
                </a:solidFill>
                <a:latin typeface="Arial Narrow" panose="020B0606020202030204" pitchFamily="34" charset="0"/>
              </a:rPr>
              <a:t>гомеостаза (гомео- – неподвижность и греч. </a:t>
            </a:r>
            <a:r>
              <a:rPr lang="ru-RU" sz="2000" b="1" i="1" u="sng" dirty="0" err="1">
                <a:solidFill>
                  <a:srgbClr val="C00000"/>
                </a:solidFill>
                <a:latin typeface="Arial Narrow" panose="020B0606020202030204" pitchFamily="34" charset="0"/>
              </a:rPr>
              <a:t>stasis</a:t>
            </a:r>
            <a:r>
              <a:rPr lang="ru-RU" sz="2000" b="1" i="1" u="sng" dirty="0">
                <a:solidFill>
                  <a:srgbClr val="C00000"/>
                </a:solidFill>
                <a:latin typeface="Arial Narrow" panose="020B0606020202030204" pitchFamily="34" charset="0"/>
              </a:rPr>
              <a:t> – состояние)</a:t>
            </a:r>
            <a:r>
              <a:rPr lang="ru-RU" sz="2000" b="1" dirty="0">
                <a:latin typeface="Arial Narrow" panose="020B0606020202030204" pitchFamily="34" charset="0"/>
              </a:rPr>
              <a:t> – это </a:t>
            </a:r>
            <a:r>
              <a:rPr lang="ru-RU" sz="2000" b="1" dirty="0">
                <a:solidFill>
                  <a:srgbClr val="002060"/>
                </a:solidFill>
                <a:latin typeface="Arial Narrow" panose="020B0606020202030204" pitchFamily="34" charset="0"/>
              </a:rPr>
              <a:t>«относительное динамическое постоянство состава и свойств внутренней среды и устойчивость основных физиологических функций организма»</a:t>
            </a:r>
            <a:r>
              <a:rPr lang="ru-RU" sz="2000" b="1" dirty="0">
                <a:latin typeface="Arial Narrow" panose="020B0606020202030204" pitchFamily="34" charset="0"/>
              </a:rPr>
              <a:t>.</a:t>
            </a:r>
          </a:p>
          <a:p>
            <a:endParaRPr lang="ru-RU" sz="2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В целом, анализ точек зрения на рассматриваемый феномен показывает, что адаптация, с одной стороны, является непременным отличительным признаком всего живого, а, с другой стороны, характеризуется активным взаимодействием со средой.</a:t>
            </a:r>
          </a:p>
          <a:p>
            <a:endParaRPr lang="ru-RU" sz="2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При помощи адаптации как динамического процесса замкнутая система живых организмов, при некритическом изменении условий окружающей среды, поддерживает устойчивость, которая необходима для их существования. </a:t>
            </a:r>
            <a:r>
              <a:rPr lang="ru-RU" sz="20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Наиболее общей и важной характеристикой адаптации является ее активно-приспособительный характер</a:t>
            </a:r>
            <a:r>
              <a:rPr lang="ru-RU" sz="2000" b="1" dirty="0">
                <a:latin typeface="Arial Narrow" panose="020B0606020202030204" pitchFamily="34" charset="0"/>
              </a:rPr>
              <a:t>. </a:t>
            </a:r>
          </a:p>
          <a:p>
            <a:endParaRPr lang="ru-RU" sz="2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Современное понимание феномена адаптации связано со становлением нового этапа активного исследования этого явления на разных уровнях:</a:t>
            </a:r>
          </a:p>
          <a:p>
            <a:pPr marL="342900" indent="-342900">
              <a:buFontTx/>
              <a:buChar char="-"/>
            </a:pPr>
            <a:r>
              <a:rPr lang="ru-RU" sz="2000" b="1" i="1" dirty="0">
                <a:solidFill>
                  <a:srgbClr val="002060"/>
                </a:solidFill>
                <a:latin typeface="Arial Narrow" panose="020B0606020202030204" pitchFamily="34" charset="0"/>
              </a:rPr>
              <a:t>социально-психологическом;</a:t>
            </a:r>
          </a:p>
          <a:p>
            <a:pPr marL="342900" indent="-342900">
              <a:buFontTx/>
              <a:buChar char="-"/>
            </a:pPr>
            <a:r>
              <a:rPr lang="ru-RU" sz="2000" b="1" i="1" dirty="0">
                <a:solidFill>
                  <a:srgbClr val="002060"/>
                </a:solidFill>
                <a:latin typeface="Arial Narrow" panose="020B0606020202030204" pitchFamily="34" charset="0"/>
              </a:rPr>
              <a:t>социально-экономическом;</a:t>
            </a:r>
          </a:p>
          <a:p>
            <a:pPr marL="342900" indent="-342900">
              <a:buFontTx/>
              <a:buChar char="-"/>
            </a:pPr>
            <a:r>
              <a:rPr lang="ru-RU" sz="2000" b="1" i="1" dirty="0">
                <a:solidFill>
                  <a:srgbClr val="002060"/>
                </a:solidFill>
                <a:latin typeface="Arial Narrow" panose="020B0606020202030204" pitchFamily="34" charset="0"/>
              </a:rPr>
              <a:t>медико-биологическом;</a:t>
            </a:r>
          </a:p>
          <a:p>
            <a:pPr marL="342900" indent="-342900">
              <a:buFontTx/>
              <a:buChar char="-"/>
            </a:pPr>
            <a:r>
              <a:rPr lang="ru-RU" sz="2000" b="1" i="1" dirty="0">
                <a:solidFill>
                  <a:srgbClr val="002060"/>
                </a:solidFill>
                <a:latin typeface="Arial Narrow" panose="020B0606020202030204" pitchFamily="34" charset="0"/>
              </a:rPr>
              <a:t>психолого-педагогическом.</a:t>
            </a:r>
          </a:p>
        </p:txBody>
      </p:sp>
    </p:spTree>
    <p:extLst>
      <p:ext uri="{BB962C8B-B14F-4D97-AF65-F5344CB8AC3E}">
        <p14:creationId xmlns:p14="http://schemas.microsoft.com/office/powerpoint/2010/main" xmlns="" val="313612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2ADC4-38A9-4E7A-B839-98EA7BF3FB43}"/>
              </a:ext>
            </a:extLst>
          </p:cNvPr>
          <p:cNvSpPr txBox="1"/>
          <p:nvPr/>
        </p:nvSpPr>
        <p:spPr>
          <a:xfrm>
            <a:off x="436098" y="211013"/>
            <a:ext cx="11380764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 Narrow" panose="020B0606020202030204" pitchFamily="34" charset="0"/>
              </a:rPr>
              <a:t>В рамках современной науки можно говорить, что </a:t>
            </a:r>
            <a:r>
              <a:rPr lang="ru-RU" sz="2200" b="1" dirty="0">
                <a:solidFill>
                  <a:srgbClr val="C00000"/>
                </a:solidFill>
                <a:latin typeface="Arial Narrow" panose="020B0606020202030204" pitchFamily="34" charset="0"/>
              </a:rPr>
              <a:t>процесс адаптации</a:t>
            </a:r>
          </a:p>
          <a:p>
            <a:r>
              <a:rPr lang="ru-RU" sz="2000" b="1" i="1" dirty="0">
                <a:solidFill>
                  <a:srgbClr val="002060"/>
                </a:solidFill>
                <a:latin typeface="Arial Narrow" panose="020B0606020202030204" pitchFamily="34" charset="0"/>
              </a:rPr>
              <a:t>– это не только оптимизация функционирования организма, но и поддержание устойчивого состояния всей системы «организм – среда»</a:t>
            </a:r>
            <a:r>
              <a:rPr lang="ru-RU" sz="2000" b="1" dirty="0">
                <a:latin typeface="Arial Narrow" panose="020B0606020202030204" pitchFamily="34" charset="0"/>
              </a:rPr>
              <a:t>.</a:t>
            </a:r>
          </a:p>
          <a:p>
            <a:endParaRPr lang="ru-RU" sz="2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Процесс адаптации осуществляется каждый раз, когда в системе «организм – среда», под действием внешних и (или) внутренних факторов, возникают существенные изменения. При этом в процессе адаптации формируется такое новое гомеостатическое состояние, которое соответствует максимальной эффективности физиологических функций и поведенческих реакций. Так как это состояние нуждается в динамическом равновесии со средой, их взаимовлияние непрерывно, и, следовательно, также непрерывно происходит процесс адаптации.</a:t>
            </a:r>
          </a:p>
          <a:p>
            <a:endParaRPr lang="ru-RU" sz="2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В зарубежной и отечественной психологии постулируется тезис о том, что механизмы и развитие процесса адаптации являются общими для человека и животных.</a:t>
            </a:r>
          </a:p>
          <a:p>
            <a:endParaRPr lang="ru-RU" sz="2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Однако существуют и существенные различия: если в отношении животных процесс адаптации осуществляется </a:t>
            </a:r>
            <a:r>
              <a:rPr lang="ru-RU" sz="20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на физиологическом и инстинктивном уровне</a:t>
            </a:r>
            <a:r>
              <a:rPr lang="ru-RU" sz="2000" b="1" dirty="0">
                <a:latin typeface="Arial Narrow" panose="020B0606020202030204" pitchFamily="34" charset="0"/>
              </a:rPr>
              <a:t>, то процесс человеческой адаптации, наряду с физиологической, включает в себя и </a:t>
            </a:r>
            <a:r>
              <a:rPr lang="ru-RU" sz="20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психическую адаптацию</a:t>
            </a:r>
            <a:r>
              <a:rPr lang="ru-RU" sz="2000" b="1" dirty="0">
                <a:latin typeface="Arial Narrow" panose="020B0606020202030204" pitchFamily="34" charset="0"/>
              </a:rPr>
              <a:t>, которая, в свою очередь, играет определяющую роль в процессе установления и поддержания нормальных отношений в системе «индивидуум – среда».</a:t>
            </a:r>
          </a:p>
        </p:txBody>
      </p:sp>
    </p:spTree>
    <p:extLst>
      <p:ext uri="{BB962C8B-B14F-4D97-AF65-F5344CB8AC3E}">
        <p14:creationId xmlns:p14="http://schemas.microsoft.com/office/powerpoint/2010/main" xmlns="" val="593319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EA28778-B513-41ED-99DC-C3E84E7A07D8}"/>
              </a:ext>
            </a:extLst>
          </p:cNvPr>
          <p:cNvSpPr txBox="1"/>
          <p:nvPr/>
        </p:nvSpPr>
        <p:spPr>
          <a:xfrm>
            <a:off x="984738" y="1308294"/>
            <a:ext cx="1025534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Arial Narrow" panose="020B0606020202030204" pitchFamily="34" charset="0"/>
              </a:rPr>
              <a:t>В зарубежной и отечественной психологии в исследованиях адаптации выделяется 4 основных концептуальных подхода к адаптации:</a:t>
            </a:r>
          </a:p>
          <a:p>
            <a:endParaRPr lang="ru-RU" sz="2200" b="1" dirty="0">
              <a:latin typeface="Arial Narrow" panose="020B0606020202030204" pitchFamily="34" charset="0"/>
            </a:endParaRPr>
          </a:p>
          <a:p>
            <a:pPr marL="457200" indent="-457200">
              <a:buAutoNum type="arabicParenR"/>
            </a:pPr>
            <a:r>
              <a:rPr lang="ru-RU" sz="2200" b="1" i="1" dirty="0">
                <a:solidFill>
                  <a:srgbClr val="002060"/>
                </a:solidFill>
                <a:latin typeface="Arial Narrow" panose="020B0606020202030204" pitchFamily="34" charset="0"/>
              </a:rPr>
              <a:t>психофизиологический;</a:t>
            </a:r>
          </a:p>
          <a:p>
            <a:pPr marL="457200" indent="-457200">
              <a:buAutoNum type="arabicParenR"/>
            </a:pPr>
            <a:endParaRPr lang="ru-RU" sz="2200" b="1" i="1" dirty="0">
              <a:solidFill>
                <a:srgbClr val="002060"/>
              </a:solidFill>
              <a:latin typeface="Arial Narrow" panose="020B0606020202030204" pitchFamily="34" charset="0"/>
            </a:endParaRPr>
          </a:p>
          <a:p>
            <a:pPr marL="457200" indent="-457200">
              <a:buAutoNum type="arabicParenR"/>
            </a:pPr>
            <a:r>
              <a:rPr lang="ru-RU" sz="2200" b="1" i="1" dirty="0" err="1">
                <a:solidFill>
                  <a:srgbClr val="002060"/>
                </a:solidFill>
                <a:latin typeface="Arial Narrow" panose="020B0606020202030204" pitchFamily="34" charset="0"/>
              </a:rPr>
              <a:t>интеракционистский</a:t>
            </a:r>
            <a:r>
              <a:rPr lang="ru-RU" sz="2200" b="1" i="1" dirty="0">
                <a:solidFill>
                  <a:srgbClr val="002060"/>
                </a:solidFill>
                <a:latin typeface="Arial Narrow" panose="020B0606020202030204" pitchFamily="34" charset="0"/>
              </a:rPr>
              <a:t>;</a:t>
            </a:r>
          </a:p>
          <a:p>
            <a:pPr marL="457200" indent="-457200">
              <a:buAutoNum type="arabicParenR"/>
            </a:pPr>
            <a:endParaRPr lang="ru-RU" sz="2200" b="1" i="1" dirty="0">
              <a:solidFill>
                <a:srgbClr val="002060"/>
              </a:solidFill>
              <a:latin typeface="Arial Narrow" panose="020B0606020202030204" pitchFamily="34" charset="0"/>
            </a:endParaRPr>
          </a:p>
          <a:p>
            <a:pPr marL="457200" indent="-457200">
              <a:buAutoNum type="arabicParenR"/>
            </a:pPr>
            <a:r>
              <a:rPr lang="ru-RU" sz="2200" b="1" i="1" dirty="0">
                <a:solidFill>
                  <a:srgbClr val="002060"/>
                </a:solidFill>
                <a:latin typeface="Arial Narrow" panose="020B0606020202030204" pitchFamily="34" charset="0"/>
              </a:rPr>
              <a:t>психоаналитический;</a:t>
            </a:r>
          </a:p>
          <a:p>
            <a:pPr marL="457200" indent="-457200">
              <a:buAutoNum type="arabicParenR"/>
            </a:pPr>
            <a:endParaRPr lang="ru-RU" sz="2200" b="1" i="1" dirty="0">
              <a:solidFill>
                <a:srgbClr val="002060"/>
              </a:solidFill>
              <a:latin typeface="Arial Narrow" panose="020B0606020202030204" pitchFamily="34" charset="0"/>
            </a:endParaRPr>
          </a:p>
          <a:p>
            <a:pPr marL="457200" indent="-457200">
              <a:buAutoNum type="arabicParenR"/>
            </a:pPr>
            <a:r>
              <a:rPr lang="ru-RU" sz="2200" b="1" i="1" dirty="0">
                <a:solidFill>
                  <a:srgbClr val="002060"/>
                </a:solidFill>
                <a:latin typeface="Arial Narrow" panose="020B0606020202030204" pitchFamily="34" charset="0"/>
              </a:rPr>
              <a:t>социально-психологический подходы</a:t>
            </a:r>
          </a:p>
          <a:p>
            <a:pPr marL="342900" indent="-342900">
              <a:buFontTx/>
              <a:buChar char="-"/>
            </a:pPr>
            <a:endParaRPr lang="ru-RU" sz="2000" b="1" dirty="0">
              <a:latin typeface="Arial Narrow" panose="020B0606020202030204" pitchFamily="34" charset="0"/>
            </a:endParaRPr>
          </a:p>
          <a:p>
            <a:endParaRPr lang="ru-RU" sz="20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48904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6B1D675-C0E3-47E7-80F2-4A68BD878CAB}"/>
              </a:ext>
            </a:extLst>
          </p:cNvPr>
          <p:cNvSpPr txBox="1"/>
          <p:nvPr/>
        </p:nvSpPr>
        <p:spPr>
          <a:xfrm>
            <a:off x="84404" y="56269"/>
            <a:ext cx="12037255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1. Психофизиологический подход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 err="1">
                <a:latin typeface="Arial Narrow" panose="020B0606020202030204" pitchFamily="34" charset="0"/>
              </a:rPr>
              <a:t>Необихевиористское</a:t>
            </a:r>
            <a:r>
              <a:rPr lang="ru-RU" b="1" dirty="0">
                <a:latin typeface="Arial Narrow" panose="020B0606020202030204" pitchFamily="34" charset="0"/>
              </a:rPr>
              <a:t> определение адаптации также связано с биологической стороной адаптации как процесса, присущего всему живому. Так, биологическое определение понятия адаптации отражает явление как «процесс приспособления строения и функций организмов и их органов к условиям среды. Любая адаптация является также и результатом, т.е. конкретным историческим этапом приспособительного процесса – </a:t>
            </a:r>
            <a:r>
              <a:rPr lang="ru-RU" b="1" dirty="0" err="1">
                <a:latin typeface="Arial Narrow" panose="020B0606020202030204" pitchFamily="34" charset="0"/>
              </a:rPr>
              <a:t>адаптациогенеза</a:t>
            </a:r>
            <a:r>
              <a:rPr lang="ru-RU" b="1" dirty="0">
                <a:latin typeface="Arial Narrow" panose="020B0606020202030204" pitchFamily="34" charset="0"/>
              </a:rPr>
              <a:t>, протекающего в определенных местообитаниях».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 err="1">
                <a:latin typeface="Arial Narrow" panose="020B0606020202030204" pitchFamily="34" charset="0"/>
              </a:rPr>
              <a:t>Бихевиористы</a:t>
            </a:r>
            <a:r>
              <a:rPr lang="ru-RU" b="1" dirty="0">
                <a:latin typeface="Arial Narrow" panose="020B0606020202030204" pitchFamily="34" charset="0"/>
              </a:rPr>
              <a:t> также неоднозначно определяют адаптацию.</a:t>
            </a:r>
            <a:r>
              <a:rPr lang="ru-RU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 Адаптация – это не только состояние</a:t>
            </a:r>
            <a:r>
              <a:rPr lang="ru-RU" b="1" dirty="0">
                <a:latin typeface="Arial Narrow" panose="020B0606020202030204" pitchFamily="34" charset="0"/>
              </a:rPr>
              <a:t>, в котором потребности индивида и требования среды полностью удовлетворены (состояние гармонии между индивидом и природной или социальной средой), </a:t>
            </a:r>
            <a:r>
              <a:rPr lang="ru-RU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но и процесс достижения</a:t>
            </a:r>
            <a:r>
              <a:rPr lang="ru-RU" b="1" dirty="0">
                <a:latin typeface="Arial Narrow" panose="020B0606020202030204" pitchFamily="34" charset="0"/>
              </a:rPr>
              <a:t> этого гармоничного состояния.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При включении психики в механизм адаптации процесс приспособления стал рассматриваться вкупе с эмоциональным состоянием (эмоциональной напряженностью), с чем связано создание и развитие представлений о стрессе как факторе, запускающем процесс адаптации. Понятие «стресс» определяется как «состояние напряжения, возникающее у человека или животного под влиянием сильных воздействий»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Согласно Г. Селье, любой достаточно сильный физический или психический внешний стимул (стрессор) вызывает состояние стресса, которое проявляется в определенном неспецифическом отклике организма, не зависящем от характера стрессора и названном им «общим адаптационным синдромом». Синдром назван общим потому, что он направлен на преодоление отрицательного воздействия чрезвычайных раздражителей и временно повышает «неспецифическую резистентность» (сопротивляемость, устойчивость) организма; синдромом – из-за взаимозависимости наблюдаемых при этом явлений.</a:t>
            </a:r>
          </a:p>
        </p:txBody>
      </p:sp>
    </p:spTree>
    <p:extLst>
      <p:ext uri="{BB962C8B-B14F-4D97-AF65-F5344CB8AC3E}">
        <p14:creationId xmlns:p14="http://schemas.microsoft.com/office/powerpoint/2010/main" xmlns="" val="4064980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75EFFC58-EB36-4FF8-9298-B9838774C75B}"/>
              </a:ext>
            </a:extLst>
          </p:cNvPr>
          <p:cNvSpPr/>
          <p:nvPr/>
        </p:nvSpPr>
        <p:spPr>
          <a:xfrm>
            <a:off x="309489" y="196941"/>
            <a:ext cx="11662117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2. </a:t>
            </a:r>
            <a:r>
              <a:rPr lang="ru-RU" sz="2200" b="1" i="1" u="sng" dirty="0" err="1">
                <a:solidFill>
                  <a:srgbClr val="002060"/>
                </a:solidFill>
                <a:latin typeface="Arial Narrow" panose="020B0606020202030204" pitchFamily="34" charset="0"/>
              </a:rPr>
              <a:t>Интеракционистский</a:t>
            </a:r>
            <a:r>
              <a:rPr lang="ru-RU" sz="22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 подход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 err="1">
                <a:latin typeface="Arial Narrow" panose="020B0606020202030204" pitchFamily="34" charset="0"/>
              </a:rPr>
              <a:t>Интеракционистская</a:t>
            </a:r>
            <a:r>
              <a:rPr lang="ru-RU" b="1" dirty="0">
                <a:latin typeface="Arial Narrow" panose="020B0606020202030204" pitchFamily="34" charset="0"/>
              </a:rPr>
              <a:t> концепция изучения феномена адаптации (Л. Филипс) заключается в том, что все виды адаптации определяются и </a:t>
            </a:r>
            <a:r>
              <a:rPr lang="ru-RU" b="1" dirty="0" err="1">
                <a:latin typeface="Arial Narrow" panose="020B0606020202030204" pitchFamily="34" charset="0"/>
              </a:rPr>
              <a:t>внутрипсихическими</a:t>
            </a:r>
            <a:r>
              <a:rPr lang="ru-RU" b="1" dirty="0">
                <a:latin typeface="Arial Narrow" panose="020B0606020202030204" pitchFamily="34" charset="0"/>
              </a:rPr>
              <a:t>, и средовыми факторами. Эффективная адаптация личности – «та разновидность адаптации, при достижении которой личность удовлетворяет минимальным требованиям и ожиданиям общества».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Адаптированность (Л. Филипс) характеризуется двумя основными типами откликов на воздействия среды: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pPr marL="457200" indent="-457200">
              <a:buAutoNum type="arabicParenR"/>
            </a:pPr>
            <a:r>
              <a:rPr lang="ru-RU" sz="2000" b="1" dirty="0">
                <a:latin typeface="Arial Narrow" panose="020B0606020202030204" pitchFamily="34" charset="0"/>
              </a:rPr>
              <a:t>принятие воздействия и позитивный ответ на социальные ожидания, с которыми встречается каждый в соответствии со своим возрастом и полом. Такая адаптированность, по мнению автора, является выражением конформности к требованиям (нормам), предъявляемым обществом к поведению личности;</a:t>
            </a:r>
          </a:p>
          <a:p>
            <a:pPr marL="457200" indent="-457200">
              <a:buAutoNum type="arabicParenR"/>
            </a:pPr>
            <a:r>
              <a:rPr lang="ru-RU" sz="2000" b="1" dirty="0">
                <a:latin typeface="Arial Narrow" panose="020B0606020202030204" pitchFamily="34" charset="0"/>
              </a:rPr>
              <a:t>в более специфическом смысле адаптация не сводится просто к принятию социальных норм – она означает гибкость и эффективность при встрече с новыми и потенциально опасными для личности условиями, и, кроме того, подразумевает способность личности изменять события в желательном для себя направлении. В этом аспекте адаптация подразумевает успешное использование создавшихся условий для реализации своих целей. Такой процесс адаптации может наблюдаться в любой сфере человеческой деятельности. Адаптивное поведение характеризуется успешным принятием решений, проявлением инициативы и ясным определением собственного будущего.</a:t>
            </a:r>
          </a:p>
        </p:txBody>
      </p:sp>
    </p:spTree>
    <p:extLst>
      <p:ext uri="{BB962C8B-B14F-4D97-AF65-F5344CB8AC3E}">
        <p14:creationId xmlns:p14="http://schemas.microsoft.com/office/powerpoint/2010/main" xmlns="" val="3426750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1F3FA62A-B288-4A60-9A65-EAD536E89B00}"/>
              </a:ext>
            </a:extLst>
          </p:cNvPr>
          <p:cNvSpPr/>
          <p:nvPr/>
        </p:nvSpPr>
        <p:spPr>
          <a:xfrm>
            <a:off x="464235" y="155739"/>
            <a:ext cx="11127544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3. Психоаналитический подход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В психоаналитической концепции адаптации (Г. </a:t>
            </a:r>
            <a:r>
              <a:rPr lang="ru-RU" sz="2000" b="1" dirty="0" err="1">
                <a:latin typeface="Arial Narrow" panose="020B0606020202030204" pitchFamily="34" charset="0"/>
              </a:rPr>
              <a:t>Хартманн</a:t>
            </a:r>
            <a:r>
              <a:rPr lang="ru-RU" sz="2000" b="1" dirty="0">
                <a:latin typeface="Arial Narrow" panose="020B0606020202030204" pitchFamily="34" charset="0"/>
              </a:rPr>
              <a:t>) обосновано, что психоанализ «дает возможность распознавать те процессы, которые посредством прямого и активного воздействия окружающей среды, или индивида порождают состояние адаптивности между индивидом и окружающей средой, и исследовать взаимоотношения между ранее сформировавшимися средствами человеческой адаптивности и этими адаптационными процессами».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Современные психоаналитики широко пользуются понятиями «аллопластических» и «</a:t>
            </a:r>
            <a:r>
              <a:rPr lang="ru-RU" b="1" dirty="0" err="1">
                <a:latin typeface="Arial Narrow" panose="020B0606020202030204" pitchFamily="34" charset="0"/>
              </a:rPr>
              <a:t>аутопластических</a:t>
            </a:r>
            <a:r>
              <a:rPr lang="ru-RU" b="1" dirty="0">
                <a:latin typeface="Arial Narrow" panose="020B0606020202030204" pitchFamily="34" charset="0"/>
              </a:rPr>
              <a:t>» изменений (введены и структурно описаны 3. Фрейдом). Так, по Фрейду «адаптация может вызываться изменениями, которые индивид осуществляет в окружающей его среде (посредством применения орудий, технологии в самом широком смысле этого слова и т.д.), а также адекватными изменениями в его психофизической системе»).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Животным свойственно аллопластическое изменение (например, при строительстве гнезд или нор), однако широкий диапазон аллопластических адаптаций присущ только человеку. В этом смысле существуют </a:t>
            </a:r>
            <a:r>
              <a:rPr lang="ru-RU" b="1" dirty="0" smtClean="0">
                <a:latin typeface="Arial Narrow" panose="020B0606020202030204" pitchFamily="34" charset="0"/>
              </a:rPr>
              <a:t>2 </a:t>
            </a:r>
            <a:r>
              <a:rPr lang="ru-RU" b="1" dirty="0">
                <a:latin typeface="Arial Narrow" panose="020B0606020202030204" pitchFamily="34" charset="0"/>
              </a:rPr>
              <a:t>процесса: человеческое действие адаптирует окружающую среду к человеческим функциям, а затем человек адаптируется (вторично) к той окружающей среде, которую он создал. При этом подчеркивается, что аллопластическое действие не всегда является адаптивным, а </a:t>
            </a:r>
            <a:r>
              <a:rPr lang="ru-RU" b="1" dirty="0" err="1">
                <a:latin typeface="Arial Narrow" panose="020B0606020202030204" pitchFamily="34" charset="0"/>
              </a:rPr>
              <a:t>аутопластическое</a:t>
            </a:r>
            <a:r>
              <a:rPr lang="ru-RU" b="1" dirty="0">
                <a:latin typeface="Arial Narrow" panose="020B0606020202030204" pitchFamily="34" charset="0"/>
              </a:rPr>
              <a:t> действие иногда является адаптивным: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«часто более высокая эго-функция принимает решение о том, какое, аллопластическое или </a:t>
            </a:r>
            <a:r>
              <a:rPr lang="ru-RU" b="1" dirty="0" err="1">
                <a:latin typeface="Arial Narrow" panose="020B0606020202030204" pitchFamily="34" charset="0"/>
              </a:rPr>
              <a:t>аутопластическое</a:t>
            </a:r>
            <a:r>
              <a:rPr lang="ru-RU" b="1" dirty="0">
                <a:latin typeface="Arial Narrow" panose="020B0606020202030204" pitchFamily="34" charset="0"/>
              </a:rPr>
              <a:t> действие является подходящим для данной ситуации».</a:t>
            </a:r>
          </a:p>
        </p:txBody>
      </p:sp>
    </p:spTree>
    <p:extLst>
      <p:ext uri="{BB962C8B-B14F-4D97-AF65-F5344CB8AC3E}">
        <p14:creationId xmlns:p14="http://schemas.microsoft.com/office/powerpoint/2010/main" xmlns="" val="2130646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971023A-81BB-4AA3-9A6D-6EA7EB0FE020}"/>
              </a:ext>
            </a:extLst>
          </p:cNvPr>
          <p:cNvSpPr txBox="1"/>
          <p:nvPr/>
        </p:nvSpPr>
        <p:spPr>
          <a:xfrm>
            <a:off x="590843" y="281354"/>
            <a:ext cx="10986868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 Narrow" panose="020B0606020202030204" pitchFamily="34" charset="0"/>
              </a:rPr>
              <a:t> Таким образом, различают 2 разновидности адаптации: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– </a:t>
            </a:r>
            <a:r>
              <a:rPr lang="ru-RU" sz="2000" b="1" i="1" dirty="0">
                <a:solidFill>
                  <a:srgbClr val="C00000"/>
                </a:solidFill>
                <a:latin typeface="Arial Narrow" panose="020B0606020202030204" pitchFamily="34" charset="0"/>
              </a:rPr>
              <a:t>аллопластическая адаптация</a:t>
            </a:r>
            <a:r>
              <a:rPr lang="ru-RU" sz="2000" b="1" dirty="0">
                <a:latin typeface="Arial Narrow" panose="020B0606020202030204" pitchFamily="34" charset="0"/>
              </a:rPr>
              <a:t>, происходящая за счет изменений в мире, которые человек совершает для приведения его в соответствие со своими потребностями;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– </a:t>
            </a:r>
            <a:r>
              <a:rPr lang="ru-RU" sz="2000" b="1" i="1" dirty="0" err="1">
                <a:solidFill>
                  <a:srgbClr val="C00000"/>
                </a:solidFill>
                <a:latin typeface="Arial Narrow" panose="020B0606020202030204" pitchFamily="34" charset="0"/>
              </a:rPr>
              <a:t>аутопластическая</a:t>
            </a:r>
            <a:r>
              <a:rPr lang="ru-RU" sz="2000" b="1" i="1" dirty="0">
                <a:solidFill>
                  <a:srgbClr val="C00000"/>
                </a:solidFill>
                <a:latin typeface="Arial Narrow" panose="020B0606020202030204" pitchFamily="34" charset="0"/>
              </a:rPr>
              <a:t> адаптация</a:t>
            </a:r>
            <a:r>
              <a:rPr lang="ru-RU" sz="2000" b="1" dirty="0">
                <a:latin typeface="Arial Narrow" panose="020B0606020202030204" pitchFamily="34" charset="0"/>
              </a:rPr>
              <a:t>, которая обеспечивается изменениями структуры, умений, навыков личности, с помощью которых она приспосабливается к среде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Помимо этих двух психических разновидностей адаптации </a:t>
            </a:r>
            <a:r>
              <a:rPr lang="ru-RU" b="1" dirty="0" err="1">
                <a:latin typeface="Arial Narrow" panose="020B0606020202030204" pitchFamily="34" charset="0"/>
              </a:rPr>
              <a:t>Хартманн</a:t>
            </a:r>
            <a:r>
              <a:rPr lang="ru-RU" b="1" dirty="0">
                <a:latin typeface="Arial Narrow" panose="020B0606020202030204" pitchFamily="34" charset="0"/>
              </a:rPr>
              <a:t> добавляет третью форму адаптации, ни полностью независимую, ни идентичную аллопластическим и </a:t>
            </a:r>
            <a:r>
              <a:rPr lang="ru-RU" b="1" dirty="0" err="1">
                <a:latin typeface="Arial Narrow" panose="020B0606020202030204" pitchFamily="34" charset="0"/>
              </a:rPr>
              <a:t>аутопластическим</a:t>
            </a:r>
            <a:r>
              <a:rPr lang="ru-RU" b="1" dirty="0">
                <a:latin typeface="Arial Narrow" panose="020B0606020202030204" pitchFamily="34" charset="0"/>
              </a:rPr>
              <a:t> формам, основой которой является выбор новой окружающей среды, благоприятной для функционирования организма.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Кроме того, </a:t>
            </a:r>
            <a:r>
              <a:rPr lang="ru-RU" b="1" dirty="0" err="1">
                <a:latin typeface="Arial Narrow" panose="020B0606020202030204" pitchFamily="34" charset="0"/>
              </a:rPr>
              <a:t>Хартманн</a:t>
            </a:r>
            <a:r>
              <a:rPr lang="ru-RU" b="1" dirty="0">
                <a:latin typeface="Arial Narrow" panose="020B0606020202030204" pitchFamily="34" charset="0"/>
              </a:rPr>
              <a:t> подчеркивает большое значение конфликтов в развитии личности. Однако адаптация включает не только процессы, которые связанны с конфликтными ситуациями, но и процессы, входящие в свободную от конфликтов сферу Я.</a:t>
            </a:r>
          </a:p>
          <a:p>
            <a:endParaRPr lang="ru-RU" sz="1000" dirty="0"/>
          </a:p>
          <a:p>
            <a:r>
              <a:rPr lang="ru-RU" b="1" dirty="0">
                <a:latin typeface="Arial Narrow" panose="020B0606020202030204" pitchFamily="34" charset="0"/>
              </a:rPr>
              <a:t>С точки зрения психоанализа, при учете эволюционно-исторического фактора, «человек не приспосабливается к окружающей среде заново в каждом поколении; его отношение к ней обусловлено свойственной человеку эволюцией, а именно, воздействием традиции и сохранением его трудов… В трудах человека находят воплощение открытые им методы решения проблем, которые поэтому становятся факторами преемственности. Возникает сеть идентификаций и идеал-формаций, которая имеет громадное значение для форм и путей адаптации» (А. </a:t>
            </a:r>
            <a:r>
              <a:rPr lang="ru-RU" b="1" dirty="0" err="1">
                <a:latin typeface="Arial Narrow" panose="020B0606020202030204" pitchFamily="34" charset="0"/>
              </a:rPr>
              <a:t>Налчаджян</a:t>
            </a:r>
            <a:r>
              <a:rPr lang="ru-RU" b="1" dirty="0">
                <a:latin typeface="Arial Narrow" panose="020B060602020203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xmlns="" val="3641516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1E2138DA-7E30-45B6-B264-366058F8E9ED}"/>
              </a:ext>
            </a:extLst>
          </p:cNvPr>
          <p:cNvSpPr/>
          <p:nvPr/>
        </p:nvSpPr>
        <p:spPr>
          <a:xfrm>
            <a:off x="140677" y="97294"/>
            <a:ext cx="11901268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4. Социально-психологический подход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В рамках данного подхода адаптация понимается как явление, которое характеризует человека </a:t>
            </a:r>
            <a:r>
              <a:rPr lang="ru-RU" b="1" dirty="0" smtClean="0">
                <a:latin typeface="Arial Narrow" panose="020B0606020202030204" pitchFamily="34" charset="0"/>
              </a:rPr>
              <a:t>субъектом </a:t>
            </a:r>
            <a:r>
              <a:rPr lang="ru-RU" b="1" dirty="0">
                <a:latin typeface="Arial Narrow" panose="020B0606020202030204" pitchFamily="34" charset="0"/>
              </a:rPr>
              <a:t>и объектом социальных отношений, под воздействием которых он развивается, становясь, в итоге, их продуктом. Адаптация человека определяется в широком смысле как приспособление не только к биологическим, химическим и физическим условиям окружающей среды, но и </a:t>
            </a:r>
            <a:r>
              <a:rPr lang="ru-RU" b="1" dirty="0" smtClean="0">
                <a:latin typeface="Arial Narrow" panose="020B0606020202030204" pitchFamily="34" charset="0"/>
              </a:rPr>
              <a:t>приспособление </a:t>
            </a:r>
            <a:r>
              <a:rPr lang="ru-RU" b="1" dirty="0">
                <a:latin typeface="Arial Narrow" panose="020B0606020202030204" pitchFamily="34" charset="0"/>
              </a:rPr>
              <a:t>человека к ноосфере и техносфере, так как каждый фактор внешней среды действует на современного человека в условиях всей совокупности социальных и производственных отношений.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Под социальной адаптацией понимают «включенность» личности в социальную среду (А.А. </a:t>
            </a:r>
            <a:r>
              <a:rPr lang="ru-RU" b="1" dirty="0" err="1">
                <a:latin typeface="Arial Narrow" panose="020B0606020202030204" pitchFamily="34" charset="0"/>
              </a:rPr>
              <a:t>Реан</a:t>
            </a:r>
            <a:r>
              <a:rPr lang="ru-RU" b="1" dirty="0">
                <a:latin typeface="Arial Narrow" panose="020B0606020202030204" pitchFamily="34" charset="0"/>
              </a:rPr>
              <a:t>), т.е. в систему социальных и нравственных ценностей, норм и отношений, утвердившихся в обществе. Целенаправленное воздействие на процесс социально-психологической адаптации указывает на решение задач социализации личности, включение ее в структуру реальных возможностей, содержащихся в конкретной социальной среде, обеспечение необходимого уровня удовлетворения социальных притязаний личности, предупреждение неадекватных способов поведения в тех или иных жизненных ситуациях.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i="1" dirty="0">
                <a:solidFill>
                  <a:srgbClr val="C00000"/>
                </a:solidFill>
                <a:latin typeface="Arial Narrow" panose="020B0606020202030204" pitchFamily="34" charset="0"/>
              </a:rPr>
              <a:t>Социализация</a:t>
            </a:r>
            <a:r>
              <a:rPr lang="ru-RU" b="1" dirty="0">
                <a:latin typeface="Arial Narrow" panose="020B0606020202030204" pitchFamily="34" charset="0"/>
              </a:rPr>
              <a:t> – это и процесс, и результат усвоения и последующего активного воспроизведения индивидом социального опыта. Он неразрывно связан с общением и совместной деятельностью людей. Вместе с тем, с современной точки зрения, социализация не может рассматриваться как механическое отражение непосредственно испытанного или полученного в результате наблюдения социального опыта. Усвоение этого опыта субъективно: восприятие одних и тех же социальных ситуаций может быть различно. Разные личности могут выносить из объективно одинаковых ситуаций различный социальный опыт. На этом положении основывается единство двух противоположных процессов – социализации и индивидуализации.</a:t>
            </a:r>
          </a:p>
        </p:txBody>
      </p:sp>
    </p:spTree>
    <p:extLst>
      <p:ext uri="{BB962C8B-B14F-4D97-AF65-F5344CB8AC3E}">
        <p14:creationId xmlns:p14="http://schemas.microsoft.com/office/powerpoint/2010/main" xmlns="" val="3907071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8A79961-4C38-4B37-BE86-22CB64AF826B}"/>
              </a:ext>
            </a:extLst>
          </p:cNvPr>
          <p:cNvSpPr txBox="1"/>
          <p:nvPr/>
        </p:nvSpPr>
        <p:spPr>
          <a:xfrm>
            <a:off x="532227" y="1693951"/>
            <a:ext cx="11127545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1. Структура социально-психологической адаптации </a:t>
            </a:r>
            <a:r>
              <a:rPr lang="ru-RU" sz="2400" b="1" i="1" u="sng" dirty="0" err="1">
                <a:solidFill>
                  <a:srgbClr val="002060"/>
                </a:solidFill>
                <a:latin typeface="Arial Narrow" panose="020B0606020202030204" pitchFamily="34" charset="0"/>
              </a:rPr>
              <a:t>трёхкомпонентна</a:t>
            </a:r>
            <a:r>
              <a:rPr lang="ru-RU" sz="2400" b="1" dirty="0">
                <a:latin typeface="Arial Narrow" panose="020B0606020202030204" pitchFamily="34" charset="0"/>
              </a:rPr>
              <a:t>, и включает компоненты:</a:t>
            </a:r>
          </a:p>
          <a:p>
            <a:endParaRPr lang="ru-RU" sz="1200" b="1" dirty="0">
              <a:latin typeface="Arial Narrow" panose="020B0606020202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ru-RU" sz="2200" b="1" dirty="0">
                <a:latin typeface="Arial Narrow" panose="020B0606020202030204" pitchFamily="34" charset="0"/>
              </a:rPr>
              <a:t>когнитивный;</a:t>
            </a:r>
          </a:p>
          <a:p>
            <a:pPr marL="342900" indent="-342900">
              <a:buFontTx/>
              <a:buChar char="-"/>
            </a:pPr>
            <a:r>
              <a:rPr lang="ru-RU" sz="2200" b="1" dirty="0">
                <a:latin typeface="Arial Narrow" panose="020B0606020202030204" pitchFamily="34" charset="0"/>
              </a:rPr>
              <a:t>конативный;</a:t>
            </a:r>
          </a:p>
          <a:p>
            <a:pPr marL="342900" indent="-342900">
              <a:buFontTx/>
              <a:buChar char="-"/>
            </a:pPr>
            <a:r>
              <a:rPr lang="ru-RU" sz="2200" b="1" dirty="0">
                <a:latin typeface="Arial Narrow" panose="020B0606020202030204" pitchFamily="34" charset="0"/>
              </a:rPr>
              <a:t>эмоциональный.</a:t>
            </a:r>
          </a:p>
          <a:p>
            <a:pPr marL="342900" indent="-342900">
              <a:buFontTx/>
              <a:buChar char="-"/>
            </a:pPr>
            <a:endParaRPr lang="ru-RU" sz="2200" b="1" dirty="0">
              <a:latin typeface="Arial Narrow" panose="020B0606020202030204" pitchFamily="34" charset="0"/>
            </a:endParaRPr>
          </a:p>
          <a:p>
            <a:r>
              <a:rPr lang="ru-RU" sz="24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2. Содержанием ком­понентов различных типов социально-психологической адаптации</a:t>
            </a:r>
            <a:r>
              <a:rPr lang="ru-RU" sz="2400" b="1" dirty="0">
                <a:latin typeface="Arial Narrow" panose="020B0606020202030204" pitchFamily="34" charset="0"/>
              </a:rPr>
              <a:t> являются показатели:</a:t>
            </a:r>
          </a:p>
          <a:p>
            <a:endParaRPr lang="ru-RU" sz="1200" b="1" dirty="0">
              <a:latin typeface="Arial Narrow" panose="020B0606020202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ru-RU" sz="2200" b="1" dirty="0">
                <a:latin typeface="Arial Narrow" panose="020B0606020202030204" pitchFamily="34" charset="0"/>
              </a:rPr>
              <a:t>фрустрации;</a:t>
            </a:r>
          </a:p>
          <a:p>
            <a:pPr marL="342900" indent="-342900">
              <a:buFontTx/>
              <a:buChar char="-"/>
            </a:pPr>
            <a:r>
              <a:rPr lang="ru-RU" sz="2200" b="1" dirty="0">
                <a:latin typeface="Arial Narrow" panose="020B0606020202030204" pitchFamily="34" charset="0"/>
              </a:rPr>
              <a:t>тревожности;</a:t>
            </a:r>
          </a:p>
          <a:p>
            <a:pPr marL="342900" indent="-342900">
              <a:buFontTx/>
              <a:buChar char="-"/>
            </a:pPr>
            <a:r>
              <a:rPr lang="ru-RU" sz="2200" b="1" dirty="0">
                <a:latin typeface="Arial Narrow" panose="020B0606020202030204" pitchFamily="34" charset="0"/>
              </a:rPr>
              <a:t>ригидности.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E0A4FB-1787-42F8-A5D1-072008F49220}"/>
              </a:ext>
            </a:extLst>
          </p:cNvPr>
          <p:cNvSpPr txBox="1"/>
          <p:nvPr/>
        </p:nvSpPr>
        <p:spPr>
          <a:xfrm>
            <a:off x="562708" y="267286"/>
            <a:ext cx="11268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Arial Narrow" panose="020B0606020202030204" pitchFamily="34" charset="0"/>
              </a:rPr>
              <a:t>ДЕТЕРМИНАНТЫ, ОБУСЛОВЛИВАЮЩИЕ ВАРИАТИВНОСТЬ СОЦИАЛЬНО-ПСИХОЛОГИЧЕСКОЙ АДАПТАЦИИ</a:t>
            </a:r>
          </a:p>
        </p:txBody>
      </p:sp>
    </p:spTree>
    <p:extLst>
      <p:ext uri="{BB962C8B-B14F-4D97-AF65-F5344CB8AC3E}">
        <p14:creationId xmlns:p14="http://schemas.microsoft.com/office/powerpoint/2010/main" xmlns="" val="497812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3E3A466-5539-4393-A755-500150847465}"/>
              </a:ext>
            </a:extLst>
          </p:cNvPr>
          <p:cNvSpPr txBox="1"/>
          <p:nvPr/>
        </p:nvSpPr>
        <p:spPr>
          <a:xfrm>
            <a:off x="295421" y="478299"/>
            <a:ext cx="1160584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Когнитивный компонент социально-психологической адаптации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Когнитивный компонент составляют ассимиляция, аккомодация, </a:t>
            </a:r>
            <a:r>
              <a:rPr lang="ru-RU" b="1" dirty="0" smtClean="0">
                <a:latin typeface="Arial Narrow" panose="020B0606020202030204" pitchFamily="34" charset="0"/>
              </a:rPr>
              <a:t>обретение </a:t>
            </a:r>
            <a:r>
              <a:rPr lang="ru-RU" b="1" dirty="0">
                <a:latin typeface="Arial Narrow" panose="020B0606020202030204" pitchFamily="34" charset="0"/>
              </a:rPr>
              <a:t>статуса, места в социальной структуре общества, удовлетворение основных социальных потребностей, обеспечение соответствия общественного </a:t>
            </a:r>
            <a:r>
              <a:rPr lang="ru-RU" b="1" dirty="0" smtClean="0">
                <a:latin typeface="Arial Narrow" panose="020B0606020202030204" pitchFamily="34" charset="0"/>
              </a:rPr>
              <a:t>регламентированного </a:t>
            </a:r>
            <a:r>
              <a:rPr lang="ru-RU" b="1" dirty="0">
                <a:latin typeface="Arial Narrow" panose="020B0606020202030204" pitchFamily="34" charset="0"/>
              </a:rPr>
              <a:t>поведения и деятельности человека внутренней структуре его </a:t>
            </a:r>
            <a:r>
              <a:rPr lang="ru-RU" b="1" dirty="0" smtClean="0">
                <a:latin typeface="Arial Narrow" panose="020B0606020202030204" pitchFamily="34" charset="0"/>
              </a:rPr>
              <a:t>личности </a:t>
            </a:r>
            <a:r>
              <a:rPr lang="ru-RU" b="1" dirty="0">
                <a:latin typeface="Arial Narrow" panose="020B0606020202030204" pitchFamily="34" charset="0"/>
              </a:rPr>
              <a:t>(Я. </a:t>
            </a:r>
            <a:r>
              <a:rPr lang="ru-RU" b="1" dirty="0" err="1">
                <a:latin typeface="Arial Narrow" panose="020B0606020202030204" pitchFamily="34" charset="0"/>
              </a:rPr>
              <a:t>Щепаньский</a:t>
            </a:r>
            <a:r>
              <a:rPr lang="ru-RU" b="1" dirty="0">
                <a:latin typeface="Arial Narrow" panose="020B0606020202030204" pitchFamily="34" charset="0"/>
              </a:rPr>
              <a:t> и др.).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В содержании когнитивного компонента, представлены также способность к рефлексии, объективному анализу собственных притязаний и успехов, способность регулировать процессы </a:t>
            </a:r>
            <a:r>
              <a:rPr lang="ru-RU" b="1" dirty="0" smtClean="0">
                <a:latin typeface="Arial Narrow" panose="020B0606020202030204" pitchFamily="34" charset="0"/>
              </a:rPr>
              <a:t>социального </a:t>
            </a:r>
            <a:r>
              <a:rPr lang="ru-RU" b="1" dirty="0">
                <a:latin typeface="Arial Narrow" panose="020B0606020202030204" pitchFamily="34" charset="0"/>
              </a:rPr>
              <a:t>взаимодействия без нарушения их основной направленности и личной самооценки.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4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Конативный компонент социально-психологической адаптации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Определено содержание конативного компонента, который составляют совокупность знаний и представлений о правилах поведения в социуме, </a:t>
            </a:r>
            <a:r>
              <a:rPr lang="ru-RU" b="1" dirty="0" smtClean="0">
                <a:latin typeface="Arial Narrow" panose="020B0606020202030204" pitchFamily="34" charset="0"/>
              </a:rPr>
              <a:t>согласно </a:t>
            </a:r>
            <a:r>
              <a:rPr lang="ru-RU" b="1" dirty="0">
                <a:latin typeface="Arial Narrow" panose="020B0606020202030204" pitchFamily="34" charset="0"/>
              </a:rPr>
              <a:t>социальным ролям, способность предотвращения межличностных и внутриличностных конфликтов, склонность к подверженности социальному влиянию. Большое значение в этом аспекте имеет индивидуальный опыт </a:t>
            </a:r>
            <a:r>
              <a:rPr lang="ru-RU" b="1" dirty="0" smtClean="0">
                <a:latin typeface="Arial Narrow" panose="020B0606020202030204" pitchFamily="34" charset="0"/>
              </a:rPr>
              <a:t>взаимодействия </a:t>
            </a:r>
            <a:r>
              <a:rPr lang="ru-RU" b="1" dirty="0">
                <a:latin typeface="Arial Narrow" panose="020B0606020202030204" pitchFamily="34" charset="0"/>
              </a:rPr>
              <a:t>со средой, влияние культурных социальных традиций, ценностей, образцов и норм как отражение практики социального процесса в сознании </a:t>
            </a:r>
            <a:r>
              <a:rPr lang="ru-RU" b="1" dirty="0" smtClean="0">
                <a:latin typeface="Arial Narrow" panose="020B0606020202030204" pitchFamily="34" charset="0"/>
              </a:rPr>
              <a:t>индивида </a:t>
            </a:r>
            <a:r>
              <a:rPr lang="ru-RU" b="1" dirty="0">
                <a:latin typeface="Arial Narrow" panose="020B0606020202030204" pitchFamily="34" charset="0"/>
              </a:rPr>
              <a:t>(Л.С. Выготский и др.).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В содержании конативного компонента, выделены также выбор личностью вариаций поведения адекватных </a:t>
            </a:r>
            <a:r>
              <a:rPr lang="ru-RU" b="1" dirty="0" smtClean="0">
                <a:latin typeface="Arial Narrow" panose="020B0606020202030204" pitchFamily="34" charset="0"/>
              </a:rPr>
              <a:t>социальной </a:t>
            </a:r>
            <a:r>
              <a:rPr lang="ru-RU" b="1" dirty="0">
                <a:latin typeface="Arial Narrow" panose="020B0606020202030204" pitchFamily="34" charset="0"/>
              </a:rPr>
              <a:t>задаче, способность регулирования межличностных отношений, </a:t>
            </a:r>
            <a:r>
              <a:rPr lang="ru-RU" b="1" dirty="0" smtClean="0">
                <a:latin typeface="Arial Narrow" panose="020B0606020202030204" pitchFamily="34" charset="0"/>
              </a:rPr>
              <a:t>объективность </a:t>
            </a:r>
            <a:r>
              <a:rPr lang="ru-RU" b="1" dirty="0">
                <a:latin typeface="Arial Narrow" panose="020B0606020202030204" pitchFamily="34" charset="0"/>
              </a:rPr>
              <a:t>и рациональность направленности деятельности.</a:t>
            </a:r>
          </a:p>
        </p:txBody>
      </p:sp>
    </p:spTree>
    <p:extLst>
      <p:ext uri="{BB962C8B-B14F-4D97-AF65-F5344CB8AC3E}">
        <p14:creationId xmlns:p14="http://schemas.microsoft.com/office/powerpoint/2010/main" xmlns="" val="3091561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6F3AF74E-CC79-48DB-86E4-4D04CA09D428}"/>
              </a:ext>
            </a:extLst>
          </p:cNvPr>
          <p:cNvSpPr/>
          <p:nvPr/>
        </p:nvSpPr>
        <p:spPr>
          <a:xfrm>
            <a:off x="140676" y="173185"/>
            <a:ext cx="1183092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Эмоциональный компонент социально-психологической адаптации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Установлено, что эмоциональный компонент представлен в </a:t>
            </a:r>
            <a:r>
              <a:rPr lang="ru-RU" sz="2000" b="1" dirty="0" smtClean="0">
                <a:latin typeface="Arial Narrow" panose="020B0606020202030204" pitchFamily="34" charset="0"/>
              </a:rPr>
              <a:t>эмоционально-чувственном </a:t>
            </a:r>
            <a:r>
              <a:rPr lang="ru-RU" sz="2000" b="1" dirty="0">
                <a:latin typeface="Arial Narrow" panose="020B0606020202030204" pitchFamily="34" charset="0"/>
              </a:rPr>
              <a:t>восприятии и оценочной реакции. Результаты </a:t>
            </a:r>
            <a:r>
              <a:rPr lang="ru-RU" sz="2000" b="1" dirty="0" smtClean="0">
                <a:latin typeface="Arial Narrow" panose="020B0606020202030204" pitchFamily="34" charset="0"/>
              </a:rPr>
              <a:t>свидетельствуют </a:t>
            </a:r>
            <a:r>
              <a:rPr lang="ru-RU" sz="2000" b="1" dirty="0">
                <a:latin typeface="Arial Narrow" panose="020B0606020202030204" pitchFamily="34" charset="0"/>
              </a:rPr>
              <a:t>об определяющем значении эмоциональной и оценочной </a:t>
            </a:r>
            <a:r>
              <a:rPr lang="ru-RU" sz="2000" b="1" dirty="0" smtClean="0">
                <a:latin typeface="Arial Narrow" panose="020B0606020202030204" pitchFamily="34" charset="0"/>
              </a:rPr>
              <a:t>составляющих</a:t>
            </a:r>
            <a:r>
              <a:rPr lang="ru-RU" sz="2000" b="1" dirty="0">
                <a:latin typeface="Arial Narrow" panose="020B0606020202030204" pitchFamily="34" charset="0"/>
              </a:rPr>
              <a:t>, которые могут быть рассмотрены как система установок реагирования и восприятия ценностей, а также как Я-концептуальная целостность.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 smtClean="0">
                <a:latin typeface="Arial Narrow" panose="020B0606020202030204" pitchFamily="34" charset="0"/>
              </a:rPr>
              <a:t>Установлено</a:t>
            </a:r>
            <a:r>
              <a:rPr lang="ru-RU" b="1" dirty="0">
                <a:latin typeface="Arial Narrow" panose="020B0606020202030204" pitchFamily="34" charset="0"/>
              </a:rPr>
              <a:t>, что эмоциональный компонент является показателем эмоциональной </a:t>
            </a:r>
            <a:r>
              <a:rPr lang="ru-RU" b="1" dirty="0" smtClean="0">
                <a:latin typeface="Arial Narrow" panose="020B0606020202030204" pitchFamily="34" charset="0"/>
              </a:rPr>
              <a:t>зрелости </a:t>
            </a:r>
            <a:r>
              <a:rPr lang="ru-RU" b="1" dirty="0">
                <a:latin typeface="Arial Narrow" panose="020B0606020202030204" pitchFamily="34" charset="0"/>
              </a:rPr>
              <a:t>личности, что является одним из ведущих факторов в процессе </a:t>
            </a:r>
            <a:r>
              <a:rPr lang="ru-RU" b="1" dirty="0" smtClean="0">
                <a:latin typeface="Arial Narrow" panose="020B0606020202030204" pitchFamily="34" charset="0"/>
              </a:rPr>
              <a:t>адаптации</a:t>
            </a:r>
            <a:r>
              <a:rPr lang="ru-RU" b="1" dirty="0">
                <a:latin typeface="Arial Narrow" panose="020B0606020202030204" pitchFamily="34" charset="0"/>
              </a:rPr>
              <a:t>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Выделены составляющие эмоционального компонента, которые опреде­ляют социально-психологическую адаптацию – тревожность, фрустрация и </a:t>
            </a:r>
            <a:r>
              <a:rPr lang="ru-RU" b="1" dirty="0" smtClean="0">
                <a:latin typeface="Arial Narrow" panose="020B0606020202030204" pitchFamily="34" charset="0"/>
              </a:rPr>
              <a:t>ригидность </a:t>
            </a:r>
            <a:r>
              <a:rPr lang="ru-RU" b="1" dirty="0">
                <a:latin typeface="Arial Narrow" panose="020B0606020202030204" pitchFamily="34" charset="0"/>
              </a:rPr>
              <a:t>влияют на оценку проблемной ситуации, анализ адекватности </a:t>
            </a:r>
            <a:r>
              <a:rPr lang="ru-RU" b="1" dirty="0" smtClean="0">
                <a:latin typeface="Arial Narrow" panose="020B0606020202030204" pitchFamily="34" charset="0"/>
              </a:rPr>
              <a:t>стратегий </a:t>
            </a:r>
            <a:r>
              <a:rPr lang="ru-RU" b="1" dirty="0">
                <a:latin typeface="Arial Narrow" panose="020B0606020202030204" pitchFamily="34" charset="0"/>
              </a:rPr>
              <a:t>участников социального взаимодействия, прогноз дальнейшего развития событий и выбор поведенческой позиции. Определены механизмы воздействия выделенных эмоциональных составляющих: тревожность имеет значение в восприятии самооценки; фрустрация приводит к снижению уровня притязаний, возникновению внутриличностных конфликтов; ригидность исключает форми­рование новых структур и систем. Все это касается и выработки новых </a:t>
            </a:r>
            <a:r>
              <a:rPr lang="ru-RU" b="1" dirty="0" smtClean="0">
                <a:latin typeface="Arial Narrow" panose="020B0606020202030204" pitchFamily="34" charset="0"/>
              </a:rPr>
              <a:t>стратегий </a:t>
            </a:r>
            <a:r>
              <a:rPr lang="ru-RU" b="1" dirty="0">
                <a:latin typeface="Arial Narrow" panose="020B0606020202030204" pitchFamily="34" charset="0"/>
              </a:rPr>
              <a:t>поведения, вариативности развития социальных событий (А.А. </a:t>
            </a:r>
            <a:r>
              <a:rPr lang="ru-RU" b="1" dirty="0" err="1">
                <a:latin typeface="Arial Narrow" panose="020B0606020202030204" pitchFamily="34" charset="0"/>
              </a:rPr>
              <a:t>Налчаджян</a:t>
            </a:r>
            <a:r>
              <a:rPr lang="ru-RU" b="1" dirty="0">
                <a:latin typeface="Arial Narrow" panose="020B0606020202030204" pitchFamily="34" charset="0"/>
              </a:rPr>
              <a:t> и др.).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В содержании эмоционального компонента, </a:t>
            </a:r>
            <a:r>
              <a:rPr lang="ru-RU" b="1" dirty="0" smtClean="0">
                <a:latin typeface="Arial Narrow" panose="020B0606020202030204" pitchFamily="34" charset="0"/>
              </a:rPr>
              <a:t>выделены </a:t>
            </a:r>
            <a:r>
              <a:rPr lang="ru-RU" b="1" dirty="0">
                <a:latin typeface="Arial Narrow" panose="020B0606020202030204" pitchFamily="34" charset="0"/>
              </a:rPr>
              <a:t>также способность к эмпатии, отсутствие боязни ошибок в процессах </a:t>
            </a:r>
            <a:r>
              <a:rPr lang="ru-RU" b="1" dirty="0" smtClean="0">
                <a:latin typeface="Arial Narrow" panose="020B0606020202030204" pitchFamily="34" charset="0"/>
              </a:rPr>
              <a:t>взаимодействия</a:t>
            </a:r>
            <a:r>
              <a:rPr lang="ru-RU" b="1" dirty="0">
                <a:latin typeface="Arial Narrow" panose="020B0606020202030204" pitchFamily="34" charset="0"/>
              </a:rPr>
              <a:t>, гибкость в выборе стратегий проявления собственных </a:t>
            </a:r>
            <a:r>
              <a:rPr lang="ru-RU" b="1" dirty="0" smtClean="0">
                <a:latin typeface="Arial Narrow" panose="020B0606020202030204" pitchFamily="34" charset="0"/>
              </a:rPr>
              <a:t>эмоциональных </a:t>
            </a:r>
            <a:r>
              <a:rPr lang="ru-RU" b="1" dirty="0">
                <a:latin typeface="Arial Narrow" panose="020B0606020202030204" pitchFamily="34" charset="0"/>
              </a:rPr>
              <a:t>переживаний, способность восстанавливать эмоциональное равновесие.</a:t>
            </a:r>
          </a:p>
        </p:txBody>
      </p:sp>
    </p:spTree>
    <p:extLst>
      <p:ext uri="{BB962C8B-B14F-4D97-AF65-F5344CB8AC3E}">
        <p14:creationId xmlns:p14="http://schemas.microsoft.com/office/powerpoint/2010/main" xmlns="" val="3591086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C7E92099-66F6-4B9A-B2D4-5DC6344E2636}"/>
              </a:ext>
            </a:extLst>
          </p:cNvPr>
          <p:cNvSpPr/>
          <p:nvPr/>
        </p:nvSpPr>
        <p:spPr>
          <a:xfrm>
            <a:off x="253219" y="172217"/>
            <a:ext cx="11662115" cy="66479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Показатель фрустрации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200" b="1" dirty="0">
                <a:solidFill>
                  <a:srgbClr val="C00000"/>
                </a:solidFill>
                <a:latin typeface="Arial Narrow" panose="020B0606020202030204" pitchFamily="34" charset="0"/>
              </a:rPr>
              <a:t>Фрустрация</a:t>
            </a:r>
            <a:r>
              <a:rPr lang="ru-RU" sz="2000" b="1" dirty="0">
                <a:latin typeface="Arial Narrow" panose="020B0606020202030204" pitchFamily="34" charset="0"/>
              </a:rPr>
              <a:t> (от лат. </a:t>
            </a:r>
            <a:r>
              <a:rPr lang="ru-RU" sz="2000" b="1" dirty="0" err="1">
                <a:latin typeface="Arial Narrow" panose="020B0606020202030204" pitchFamily="34" charset="0"/>
              </a:rPr>
              <a:t>frustration</a:t>
            </a:r>
            <a:r>
              <a:rPr lang="ru-RU" sz="2000" b="1" dirty="0">
                <a:latin typeface="Arial Narrow" panose="020B0606020202030204" pitchFamily="34" charset="0"/>
              </a:rPr>
              <a:t> – «обман», «неудача», «тщетное ожидание, «расстройство замысла»)</a:t>
            </a:r>
            <a:r>
              <a:rPr lang="ru-RU" sz="2000" b="1" dirty="0">
                <a:solidFill>
                  <a:srgbClr val="C00000"/>
                </a:solidFill>
                <a:latin typeface="Arial Narrow" panose="020B0606020202030204" pitchFamily="34" charset="0"/>
              </a:rPr>
              <a:t> – психическое состояние, возникающее в ситуации реальной или предполагаемой невозможности удовлетворения тех или иных потребностей.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Это состояние проявляется в переживаниях разочарования, тревоги, раздражительности, отчаянии. Эффективность деятельности при этом существенно снижаются. Как и разочарование, фрустрация возникает при отсутствии некоего ожидаемого и желаемого результата, однако, в состоянии фрустрации, люди все еще продолжают борьбу за получение желаемого, даже если не знают точно, что нужно сделать для достижения успеха. Основным условием являются не только преграды (внешние и внутренние), препятствующие достижению цели, но и высокая мотивированность человека на определенные достижения.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Таким образом, фрустрация это несовпадение желаний личности с ее возможностями.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В работах З. Фрейда утверждается связь между фрустрацией и агрессией. В рамках </a:t>
            </a:r>
            <a:r>
              <a:rPr lang="ru-RU" sz="2000" b="1" dirty="0" err="1">
                <a:latin typeface="Arial Narrow" panose="020B0606020202030204" pitchFamily="34" charset="0"/>
              </a:rPr>
              <a:t>бихевиористских</a:t>
            </a:r>
            <a:r>
              <a:rPr lang="ru-RU" sz="2000" b="1" dirty="0">
                <a:latin typeface="Arial Narrow" panose="020B0606020202030204" pitchFamily="34" charset="0"/>
              </a:rPr>
              <a:t> теорий фрустрация определяется как изменение или затормаживание ожидаемой реакции при определенных условиях, как помеха в деятельности.</a:t>
            </a:r>
          </a:p>
          <a:p>
            <a:r>
              <a:rPr lang="ru-RU" sz="2000" b="1" dirty="0">
                <a:latin typeface="Arial Narrow" panose="020B0606020202030204" pitchFamily="34" charset="0"/>
              </a:rPr>
              <a:t>В настоящее время многие авторы используют понятие фрустрации и психологического стресса как синонимы; некоторые обоснованно рассматривают фрустрацию как частную форму психологического стресса</a:t>
            </a:r>
          </a:p>
        </p:txBody>
      </p:sp>
    </p:spTree>
    <p:extLst>
      <p:ext uri="{BB962C8B-B14F-4D97-AF65-F5344CB8AC3E}">
        <p14:creationId xmlns:p14="http://schemas.microsoft.com/office/powerpoint/2010/main" xmlns="" val="1701660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00A355D-4624-4ABC-B383-FBDCFB156224}"/>
              </a:ext>
            </a:extLst>
          </p:cNvPr>
          <p:cNvSpPr txBox="1"/>
          <p:nvPr/>
        </p:nvSpPr>
        <p:spPr>
          <a:xfrm>
            <a:off x="168812" y="126612"/>
            <a:ext cx="11859063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Показатель тревожности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solidFill>
                  <a:srgbClr val="C00000"/>
                </a:solidFill>
                <a:latin typeface="Arial Narrow" panose="020B0606020202030204" pitchFamily="34" charset="0"/>
              </a:rPr>
              <a:t>Тревожность </a:t>
            </a:r>
            <a:r>
              <a:rPr lang="ru-RU" sz="2000" b="1" dirty="0">
                <a:latin typeface="Arial Narrow" panose="020B0606020202030204" pitchFamily="34" charset="0"/>
              </a:rPr>
              <a:t>(с </a:t>
            </a:r>
            <a:r>
              <a:rPr lang="ru-RU" sz="2000" b="1" dirty="0" err="1">
                <a:latin typeface="Arial Narrow" panose="020B0606020202030204" pitchFamily="34" charset="0"/>
              </a:rPr>
              <a:t>т.зр</a:t>
            </a:r>
            <a:r>
              <a:rPr lang="ru-RU" sz="2000" b="1" dirty="0">
                <a:latin typeface="Arial Narrow" panose="020B0606020202030204" pitchFamily="34" charset="0"/>
              </a:rPr>
              <a:t>. классического психоанализа)</a:t>
            </a:r>
            <a:r>
              <a:rPr lang="ru-RU" sz="2000" b="1" dirty="0">
                <a:solidFill>
                  <a:srgbClr val="C00000"/>
                </a:solidFill>
                <a:latin typeface="Arial Narrow" panose="020B0606020202030204" pitchFamily="34" charset="0"/>
              </a:rPr>
              <a:t> – неприятное переживание, выступающее сигналом предвосхищаемой опасности</a:t>
            </a:r>
            <a:r>
              <a:rPr lang="ru-RU" sz="2000" b="1" dirty="0">
                <a:latin typeface="Arial Narrow" panose="020B0606020202030204" pitchFamily="34" charset="0"/>
              </a:rPr>
              <a:t>. </a:t>
            </a:r>
            <a:r>
              <a:rPr lang="ru-RU" b="1" dirty="0">
                <a:latin typeface="Arial Narrow" panose="020B0606020202030204" pitchFamily="34" charset="0"/>
              </a:rPr>
              <a:t>Содержание тревожности – чувства </a:t>
            </a:r>
            <a:r>
              <a:rPr lang="ru-RU" b="1" dirty="0" smtClean="0">
                <a:latin typeface="Arial Narrow" panose="020B0606020202030204" pitchFamily="34" charset="0"/>
              </a:rPr>
              <a:t>неопределенности </a:t>
            </a:r>
            <a:r>
              <a:rPr lang="ru-RU" b="1" dirty="0">
                <a:latin typeface="Arial Narrow" panose="020B0606020202030204" pitchFamily="34" charset="0"/>
              </a:rPr>
              <a:t>и беспомощности. Изначально З. Фрейд допускал существование бессознательной тревожности – позже пришел к заключению, что это состояние переживается сознательно и сопровождается возрастанием умения справляться с опасностью (с помощью борьбы или бегства).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Тревожность существует в Эго. Бессознательная тревожность в дальнейшем стала рассматриваться в русле исследований психологической защиты А. Фрейд и др. З. Фрейд – тревожность выступает повторением в наших фантазиях ситуаций, связанных с испытанными в прошлом опыте переживаниями беспомощности. Прообразом таких ситуаций является травма рождения.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З. Фрейд выделял 3 основных вида тревожности: </a:t>
            </a:r>
            <a:r>
              <a:rPr lang="ru-RU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объективную</a:t>
            </a:r>
            <a:r>
              <a:rPr lang="ru-RU" b="1" dirty="0">
                <a:latin typeface="Arial Narrow" panose="020B0606020202030204" pitchFamily="34" charset="0"/>
              </a:rPr>
              <a:t>, вызванную реальной внешней опасностью; </a:t>
            </a:r>
            <a:r>
              <a:rPr lang="ru-RU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невротическую</a:t>
            </a:r>
            <a:r>
              <a:rPr lang="ru-RU" b="1" dirty="0">
                <a:latin typeface="Arial Narrow" panose="020B0606020202030204" pitchFamily="34" charset="0"/>
              </a:rPr>
              <a:t>, вызванную опасностью неизвестной и неопределенной; </a:t>
            </a:r>
            <a:r>
              <a:rPr lang="ru-RU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моральную</a:t>
            </a:r>
            <a:r>
              <a:rPr lang="ru-RU" b="1" dirty="0">
                <a:latin typeface="Arial Narrow" panose="020B0606020202030204" pitchFamily="34" charset="0"/>
              </a:rPr>
              <a:t>, определяемую им как «тревожность совести».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Невротическая тревожность, по мнению автора, отличается от объективной тем, что «опасность является внутренней, а не внешней, и в том, что она сознательно не признается». Основной источник невротической тревожности – боязнь потенциального вреда, который может причинить освобождение влечений. Разграничение объективной и невротической тревожности условно, так как невротическая тревожность имеет тенденцию проецироваться вовне и приобретает вид реального страха, потому что от внешней опасности избавиться легче, чем от внутренней. Моральная тревожность определяется возникновением вследствие восприятия Эго опасности, идущей от Супер-Эго. Она представляет собой синтез объективной и невротической тревожности, так как Супер-Эго является голосом контроля с позиции родителей. </a:t>
            </a:r>
          </a:p>
        </p:txBody>
      </p:sp>
    </p:spTree>
    <p:extLst>
      <p:ext uri="{BB962C8B-B14F-4D97-AF65-F5344CB8AC3E}">
        <p14:creationId xmlns:p14="http://schemas.microsoft.com/office/powerpoint/2010/main" xmlns="" val="4058466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64D618E-E290-4C9B-8B80-6489D74FFE2D}"/>
              </a:ext>
            </a:extLst>
          </p:cNvPr>
          <p:cNvSpPr txBox="1"/>
          <p:nvPr/>
        </p:nvSpPr>
        <p:spPr>
          <a:xfrm>
            <a:off x="70338" y="298724"/>
            <a:ext cx="12093526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Показатель ригидности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Современные исследования показывают, что важнейшая характеристика поведенческой активности индивидуумов – их способность к </a:t>
            </a:r>
            <a:r>
              <a:rPr lang="ru-RU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спонтанности</a:t>
            </a:r>
            <a:r>
              <a:rPr lang="ru-RU" b="1" dirty="0">
                <a:latin typeface="Arial Narrow" panose="020B0606020202030204" pitchFamily="34" charset="0"/>
              </a:rPr>
              <a:t>, которой противопоставляется </a:t>
            </a:r>
            <a:r>
              <a:rPr lang="ru-RU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ригидность</a:t>
            </a:r>
            <a:r>
              <a:rPr lang="ru-RU" b="1" dirty="0">
                <a:latin typeface="Arial Narrow" panose="020B0606020202030204" pitchFamily="34" charset="0"/>
              </a:rPr>
              <a:t> поведения.</a:t>
            </a:r>
          </a:p>
          <a:p>
            <a:r>
              <a:rPr lang="ru-RU" sz="2200" b="1" dirty="0">
                <a:solidFill>
                  <a:srgbClr val="C00000"/>
                </a:solidFill>
                <a:latin typeface="Arial Narrow" panose="020B0606020202030204" pitchFamily="34" charset="0"/>
              </a:rPr>
              <a:t>Ригидность</a:t>
            </a:r>
            <a:r>
              <a:rPr lang="ru-RU" sz="2000" b="1" dirty="0">
                <a:latin typeface="Arial Narrow" panose="020B0606020202030204" pitchFamily="34" charset="0"/>
              </a:rPr>
              <a:t> (от лат. </a:t>
            </a:r>
            <a:r>
              <a:rPr lang="ru-RU" sz="2000" b="1" dirty="0" err="1">
                <a:latin typeface="Arial Narrow" panose="020B0606020202030204" pitchFamily="34" charset="0"/>
              </a:rPr>
              <a:t>rigidus</a:t>
            </a:r>
            <a:r>
              <a:rPr lang="ru-RU" sz="2000" b="1" dirty="0">
                <a:latin typeface="Arial Narrow" panose="020B0606020202030204" pitchFamily="34" charset="0"/>
              </a:rPr>
              <a:t> – жесткий, твердый)</a:t>
            </a:r>
            <a:r>
              <a:rPr lang="ru-RU" sz="2000" b="1" dirty="0">
                <a:solidFill>
                  <a:srgbClr val="C00000"/>
                </a:solidFill>
                <a:latin typeface="Arial Narrow" panose="020B0606020202030204" pitchFamily="34" charset="0"/>
              </a:rPr>
              <a:t> в целом – неготовность к изменениям программы действия в соответствии с новыми ситуационными требованиями.</a:t>
            </a:r>
          </a:p>
          <a:p>
            <a:endParaRPr lang="ru-RU" sz="8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Термин «ригидность» не имеет точного определения. Ригидность проявляется особенно ясно, когда индивидууму не удается изменить свое поведение, даже если потребности новой ситуации требуют этого. Различают следующие виды ригидности: </a:t>
            </a:r>
            <a:r>
              <a:rPr lang="ru-RU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когнитивная</a:t>
            </a:r>
            <a:r>
              <a:rPr lang="ru-RU" b="1" dirty="0">
                <a:latin typeface="Arial Narrow" panose="020B0606020202030204" pitchFamily="34" charset="0"/>
              </a:rPr>
              <a:t>; </a:t>
            </a:r>
            <a:r>
              <a:rPr lang="ru-RU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аффективная</a:t>
            </a:r>
            <a:r>
              <a:rPr lang="ru-RU" b="1" dirty="0">
                <a:latin typeface="Arial Narrow" panose="020B0606020202030204" pitchFamily="34" charset="0"/>
              </a:rPr>
              <a:t>; </a:t>
            </a:r>
            <a:r>
              <a:rPr lang="ru-RU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мотивационная</a:t>
            </a:r>
            <a:r>
              <a:rPr lang="ru-RU" b="1" dirty="0">
                <a:latin typeface="Arial Narrow" panose="020B0606020202030204" pitchFamily="34" charset="0"/>
              </a:rPr>
              <a:t>.</a:t>
            </a:r>
          </a:p>
          <a:p>
            <a:endParaRPr lang="ru-RU" sz="8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Ригидность подразделяется на </a:t>
            </a:r>
            <a:r>
              <a:rPr lang="ru-RU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первичную</a:t>
            </a:r>
            <a:r>
              <a:rPr lang="ru-RU" b="1" dirty="0">
                <a:latin typeface="Arial Narrow" panose="020B0606020202030204" pitchFamily="34" charset="0"/>
              </a:rPr>
              <a:t> и </a:t>
            </a:r>
            <a:r>
              <a:rPr lang="ru-RU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вторичную</a:t>
            </a:r>
            <a:r>
              <a:rPr lang="ru-RU" b="1" dirty="0">
                <a:latin typeface="Arial Narrow" panose="020B0606020202030204" pitchFamily="34" charset="0"/>
              </a:rPr>
              <a:t>. </a:t>
            </a:r>
            <a:r>
              <a:rPr lang="ru-RU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Первичная</a:t>
            </a:r>
            <a:r>
              <a:rPr lang="ru-RU" b="1" dirty="0">
                <a:latin typeface="Arial Narrow" panose="020B0606020202030204" pitchFamily="34" charset="0"/>
              </a:rPr>
              <a:t> связана с возникновением дефектов (с «изоляцией») в подкорковых структурах и выражается в неспособности менять установку. </a:t>
            </a:r>
            <a:r>
              <a:rPr lang="ru-RU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Вторичная</a:t>
            </a:r>
            <a:r>
              <a:rPr lang="ru-RU" b="1" dirty="0">
                <a:latin typeface="Arial Narrow" panose="020B0606020202030204" pitchFamily="34" charset="0"/>
              </a:rPr>
              <a:t> – следствие поражения высших корковых центров и проявляется в нарушении так называемого «абстрактного аттитюда», который свойственен только человеку и который позволяет ему осуществлять волевое поведение, выходить за рамки конкретной ситуации. Понятно, что нарушение этой функции генерирует ригидное поведение.</a:t>
            </a:r>
          </a:p>
          <a:p>
            <a:endParaRPr lang="ru-RU" sz="8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Важно отметить, что при ригидности также существует нетерпимость к неопределенности, строгое повиновение властным фигурам, нетерпимость к противоположному мнению, предубеждение, склонность создавать чрезмерно упрощенный взгляд на мир, тенденцию использовать резко поляризованные когнитивные конструкты, и циничный взгляд на природу человека. Дискуссия о ригидных, авторитарных и догматичных системах убеждений распространились на психопатологию. В клинике высоко догматичное и ригидное поведение можно наблюдать у обсессивно-</a:t>
            </a:r>
            <a:r>
              <a:rPr lang="ru-RU" b="1" dirty="0" err="1">
                <a:latin typeface="Arial Narrow" panose="020B0606020202030204" pitchFamily="34" charset="0"/>
              </a:rPr>
              <a:t>компульсивных</a:t>
            </a:r>
            <a:r>
              <a:rPr lang="ru-RU" b="1" dirty="0">
                <a:latin typeface="Arial Narrow" panose="020B0606020202030204" pitchFamily="34" charset="0"/>
              </a:rPr>
              <a:t> и параноидных пациентов.</a:t>
            </a:r>
          </a:p>
        </p:txBody>
      </p:sp>
    </p:spTree>
    <p:extLst>
      <p:ext uri="{BB962C8B-B14F-4D97-AF65-F5344CB8AC3E}">
        <p14:creationId xmlns:p14="http://schemas.microsoft.com/office/powerpoint/2010/main" xmlns="" val="3168995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C51154C-0440-4592-85A4-8DC81E1677D1}"/>
              </a:ext>
            </a:extLst>
          </p:cNvPr>
          <p:cNvSpPr txBox="1"/>
          <p:nvPr/>
        </p:nvSpPr>
        <p:spPr>
          <a:xfrm>
            <a:off x="506437" y="2025748"/>
            <a:ext cx="112119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 Narrow" panose="020B0606020202030204" pitchFamily="34" charset="0"/>
              </a:rPr>
              <a:t>Необходимым условием для </a:t>
            </a:r>
            <a:r>
              <a:rPr lang="ru-RU" sz="2000" b="1" dirty="0" smtClean="0">
                <a:latin typeface="Arial Narrow" panose="020B0606020202030204" pitchFamily="34" charset="0"/>
              </a:rPr>
              <a:t>достижения </a:t>
            </a:r>
            <a:r>
              <a:rPr lang="ru-RU" sz="2000" b="1" dirty="0">
                <a:latin typeface="Arial Narrow" panose="020B0606020202030204" pitchFamily="34" charset="0"/>
              </a:rPr>
              <a:t>успеха в профессиональной деятельности является развитие у человека способностей к управлению общественным мнением, социальными </a:t>
            </a:r>
            <a:r>
              <a:rPr lang="ru-RU" sz="2000" b="1" dirty="0" smtClean="0">
                <a:latin typeface="Arial Narrow" panose="020B0606020202030204" pitchFamily="34" charset="0"/>
              </a:rPr>
              <a:t>процессами</a:t>
            </a:r>
            <a:r>
              <a:rPr lang="ru-RU" sz="2000" b="1" dirty="0">
                <a:latin typeface="Arial Narrow" panose="020B0606020202030204" pitchFamily="34" charset="0"/>
              </a:rPr>
              <a:t>, а также к урегулированию напряженности в межличностном и </a:t>
            </a:r>
            <a:r>
              <a:rPr lang="ru-RU" sz="2000" b="1" dirty="0" smtClean="0">
                <a:latin typeface="Arial Narrow" panose="020B0606020202030204" pitchFamily="34" charset="0"/>
              </a:rPr>
              <a:t>межгрупповом </a:t>
            </a:r>
            <a:r>
              <a:rPr lang="ru-RU" sz="2000" b="1" dirty="0">
                <a:latin typeface="Arial Narrow" panose="020B0606020202030204" pitchFamily="34" charset="0"/>
              </a:rPr>
              <a:t>взаимодействии. Здесь большое значение имеет </a:t>
            </a:r>
            <a:r>
              <a:rPr lang="ru-RU" sz="2000" b="1" dirty="0" smtClean="0">
                <a:latin typeface="Arial Narrow" panose="020B0606020202030204" pitchFamily="34" charset="0"/>
              </a:rPr>
              <a:t>социально-психологическая </a:t>
            </a:r>
            <a:r>
              <a:rPr lang="ru-RU" sz="2000" b="1" dirty="0">
                <a:latin typeface="Arial Narrow" panose="020B0606020202030204" pitchFamily="34" charset="0"/>
              </a:rPr>
              <a:t>адаптация личности.</a:t>
            </a:r>
          </a:p>
          <a:p>
            <a:endParaRPr lang="ru-RU" sz="2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Вместе с тем, несмотря на ее определяющую роль для достижения профессионального успеха и профессиональной реализации, </a:t>
            </a:r>
            <a:r>
              <a:rPr lang="ru-RU" sz="2000" b="1" dirty="0" smtClean="0">
                <a:latin typeface="Arial Narrow" panose="020B0606020202030204" pitchFamily="34" charset="0"/>
              </a:rPr>
              <a:t>взаимосвязь </a:t>
            </a:r>
            <a:r>
              <a:rPr lang="ru-RU" sz="2000" b="1" dirty="0">
                <a:latin typeface="Arial Narrow" panose="020B0606020202030204" pitchFamily="34" charset="0"/>
              </a:rPr>
              <a:t>особенностей адаптации с эффективностью решения </a:t>
            </a:r>
            <a:r>
              <a:rPr lang="ru-RU" sz="2000" b="1" dirty="0" smtClean="0">
                <a:latin typeface="Arial Narrow" panose="020B0606020202030204" pitchFamily="34" charset="0"/>
              </a:rPr>
              <a:t>учебно-профессиональных </a:t>
            </a:r>
            <a:r>
              <a:rPr lang="ru-RU" sz="2000" b="1" dirty="0">
                <a:latin typeface="Arial Narrow" panose="020B0606020202030204" pitchFamily="34" charset="0"/>
              </a:rPr>
              <a:t>задач остается малоизученной. </a:t>
            </a:r>
            <a:r>
              <a:rPr lang="ru-RU" sz="2000" b="1" dirty="0" smtClean="0">
                <a:latin typeface="Arial Narrow" panose="020B0606020202030204" pitchFamily="34" charset="0"/>
              </a:rPr>
              <a:t>Необходимо </a:t>
            </a:r>
            <a:r>
              <a:rPr lang="ru-RU" sz="2000" b="1" dirty="0">
                <a:latin typeface="Arial Narrow" panose="020B0606020202030204" pitchFamily="34" charset="0"/>
              </a:rPr>
              <a:t>выявить психолого-педагогических факторы, обусловливающие тип социально-психологической адаптации, и определить психологических </a:t>
            </a:r>
            <a:r>
              <a:rPr lang="ru-RU" sz="2000" b="1" dirty="0" smtClean="0">
                <a:latin typeface="Arial Narrow" panose="020B0606020202030204" pitchFamily="34" charset="0"/>
              </a:rPr>
              <a:t>особенностей </a:t>
            </a:r>
            <a:r>
              <a:rPr lang="ru-RU" sz="2000" b="1" dirty="0">
                <a:latin typeface="Arial Narrow" panose="020B0606020202030204" pitchFamily="34" charset="0"/>
              </a:rPr>
              <a:t>адаптации студентов с разной стратегией решения </a:t>
            </a:r>
            <a:r>
              <a:rPr lang="ru-RU" sz="2000" b="1" dirty="0" smtClean="0">
                <a:latin typeface="Arial Narrow" panose="020B0606020202030204" pitchFamily="34" charset="0"/>
              </a:rPr>
              <a:t>учебно-профессиональных </a:t>
            </a:r>
            <a:r>
              <a:rPr lang="ru-RU" sz="2000" b="1" dirty="0">
                <a:latin typeface="Arial Narrow" panose="020B0606020202030204" pitchFamily="34" charset="0"/>
              </a:rPr>
              <a:t>задач.</a:t>
            </a:r>
          </a:p>
          <a:p>
            <a:endParaRPr lang="ru-RU" sz="2000" b="1" dirty="0">
              <a:latin typeface="Arial Narrow" panose="020B0606020202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5070F13-E135-4110-9094-B1417A5380B7}"/>
              </a:ext>
            </a:extLst>
          </p:cNvPr>
          <p:cNvSpPr txBox="1"/>
          <p:nvPr/>
        </p:nvSpPr>
        <p:spPr>
          <a:xfrm>
            <a:off x="661182" y="450166"/>
            <a:ext cx="8004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Arial Narrow" panose="020B0606020202030204" pitchFamily="34" charset="0"/>
              </a:rPr>
              <a:t>СОЦИАЛЬНО-ПСИХОЛОГИЧЕСКАЯ АДАПТАЦИЯ ЛИЧНОСТИ</a:t>
            </a:r>
          </a:p>
        </p:txBody>
      </p:sp>
    </p:spTree>
    <p:extLst>
      <p:ext uri="{BB962C8B-B14F-4D97-AF65-F5344CB8AC3E}">
        <p14:creationId xmlns:p14="http://schemas.microsoft.com/office/powerpoint/2010/main" xmlns="" val="1475644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74CF60-F8B3-4526-98D3-F2FC15ACEE36}"/>
              </a:ext>
            </a:extLst>
          </p:cNvPr>
          <p:cNvSpPr txBox="1"/>
          <p:nvPr/>
        </p:nvSpPr>
        <p:spPr>
          <a:xfrm>
            <a:off x="361071" y="305926"/>
            <a:ext cx="114370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solidFill>
                  <a:srgbClr val="00206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Особенности социально-психологической адаптации:</a:t>
            </a:r>
          </a:p>
          <a:p>
            <a:endParaRPr lang="ru-RU" sz="20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457200" lvl="0" indent="-457200">
              <a:buAutoNum type="arabicPeriod"/>
            </a:pP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Психологическая адаптация может выступать в качестве одной из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ведущих 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профессиональных характеристик, влияющей на успешность учебной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деятельности 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студентов.</a:t>
            </a:r>
          </a:p>
          <a:p>
            <a:pPr marL="457200" lvl="0" indent="-457200">
              <a:buAutoNum type="arabicPeriod"/>
            </a:pPr>
            <a:endParaRPr lang="ru-RU" sz="20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457200" lvl="0" indent="-457200">
              <a:buAutoNum type="arabicPeriod"/>
            </a:pP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Психологическая адаптация как одна из ведущих профессиональных характеристик может обусловливать социально-психологическую адаптацию студентов в зависимости от соотношения показателей тревожности,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фрустрации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, ригидности и по своему характеру делится на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2 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типа: конструктивный и деструктивный. При этом преобладающий тип социально-психологической адаптации взаимосвязан с особенностями решения учебно-профессиональных задач.</a:t>
            </a:r>
          </a:p>
          <a:p>
            <a:pPr marL="457200" lvl="0" indent="-457200">
              <a:buAutoNum type="arabicPeriod"/>
            </a:pPr>
            <a:endParaRPr lang="ru-RU" sz="20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457200" lvl="0" indent="-457200">
              <a:buAutoNum type="arabicPeriod"/>
            </a:pP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Стратегии решения учебно-профессиональных задач могут различаться у студентов с разными психологическими особенностями адаптации.</a:t>
            </a:r>
          </a:p>
          <a:p>
            <a:pPr marL="457200" lvl="0" indent="-457200">
              <a:buAutoNum type="arabicPeriod"/>
            </a:pPr>
            <a:endParaRPr lang="ru-RU" sz="20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457200" lvl="0" indent="-457200">
              <a:buAutoNum type="arabicPeriod"/>
            </a:pP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В зависимости от особенностей социально-психологической адаптации возможно организовать психолого-педагогические программы,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актуализирующие 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личностный ресурс и влияющие на эффективность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учебно-профессиональной 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подготовки студентов к различному характеру профессиональной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деятельности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689280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0261CFA-FC0B-4205-A45E-CF2288D8B38E}"/>
              </a:ext>
            </a:extLst>
          </p:cNvPr>
          <p:cNvSpPr txBox="1"/>
          <p:nvPr/>
        </p:nvSpPr>
        <p:spPr>
          <a:xfrm>
            <a:off x="393895" y="225074"/>
            <a:ext cx="11422967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solidFill>
                  <a:srgbClr val="00206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Теоретические положения социально-психологической адаптации:</a:t>
            </a:r>
          </a:p>
          <a:p>
            <a:endParaRPr lang="ru-RU" sz="20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– успешность учебной деятельности специалиста выступает как позитивный результат его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деятельности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, обусловленный эффективностью решения им учебно-профессиональных задач различной направленности;</a:t>
            </a:r>
          </a:p>
          <a:p>
            <a:endParaRPr lang="ru-RU" sz="20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– составление учебно-профессиональных задач различной направленности и обоснование связи эффективности их решения с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успешностью 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профессиональной подготовки;</a:t>
            </a:r>
          </a:p>
          <a:p>
            <a:endParaRPr lang="ru-RU" sz="20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– представление и описание содержания </a:t>
            </a:r>
            <a:r>
              <a:rPr lang="ru-RU" sz="2000" b="1" dirty="0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типов социально-психологической адаптации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, представляющих собой целостную систему показателей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психологического 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содержания адаптации, обусловливающих успешность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профессиональной 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подготовки специалистов и влияющих на эффективность решения учебно-профессиональных задач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различной 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направленности;</a:t>
            </a:r>
          </a:p>
          <a:p>
            <a:endParaRPr lang="ru-RU" sz="20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– описание и систематизация психолого-педагогических факторов,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обусловливающих </a:t>
            </a:r>
            <a:r>
              <a:rPr lang="ru-RU" sz="2000" b="1" dirty="0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тип социально-психологической адаптации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 и влияющих на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изменение 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ее типа в условиях новых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требований 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образовательной действительности, что способствует теоретической </a:t>
            </a:r>
            <a:r>
              <a:rPr lang="ru-RU" sz="2000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разработке </a:t>
            </a:r>
            <a:r>
              <a:rPr lang="ru-RU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нового содержания профессионального образования специалистов.</a:t>
            </a:r>
          </a:p>
        </p:txBody>
      </p:sp>
    </p:spTree>
    <p:extLst>
      <p:ext uri="{BB962C8B-B14F-4D97-AF65-F5344CB8AC3E}">
        <p14:creationId xmlns:p14="http://schemas.microsoft.com/office/powerpoint/2010/main" xmlns="" val="4146635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F2577F8-9F12-4784-B187-A2621BA15ACE}"/>
              </a:ext>
            </a:extLst>
          </p:cNvPr>
          <p:cNvSpPr txBox="1"/>
          <p:nvPr/>
        </p:nvSpPr>
        <p:spPr>
          <a:xfrm>
            <a:off x="182882" y="185656"/>
            <a:ext cx="1187313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Arial Narrow" panose="020B0606020202030204" pitchFamily="34" charset="0"/>
              </a:rPr>
              <a:t>Согласно теоретическим концепциям, успешность социально-психологической адаптации личности обеспечивает ее продуктивность в социальных процессах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Для определения типа социально-психологической адаптации используется программа обучения, которая предусматривает рассмотрение и решение студентами учебно-профессиональных задач, содержанием которых являются социальные ситуации, включающие социальную напряженность, ошибки в межличностном взаимодействии, конфликт, конфликтную ситуацию и другие </a:t>
            </a:r>
            <a:r>
              <a:rPr lang="ru-RU" b="1" dirty="0" err="1">
                <a:latin typeface="Arial Narrow" panose="020B0606020202030204" pitchFamily="34" charset="0"/>
              </a:rPr>
              <a:t>конфликтологические</a:t>
            </a:r>
            <a:r>
              <a:rPr lang="ru-RU" b="1" dirty="0">
                <a:latin typeface="Arial Narrow" panose="020B0606020202030204" pitchFamily="34" charset="0"/>
              </a:rPr>
              <a:t> случаи.</a:t>
            </a:r>
          </a:p>
          <a:p>
            <a:endParaRPr lang="ru-RU" sz="1000" b="1" dirty="0" smtClean="0">
              <a:latin typeface="Arial Narrow" panose="020B0606020202030204" pitchFamily="34" charset="0"/>
            </a:endParaRPr>
          </a:p>
          <a:p>
            <a:r>
              <a:rPr lang="ru-RU" b="1" dirty="0" smtClean="0">
                <a:latin typeface="Arial Narrow" panose="020B0606020202030204" pitchFamily="34" charset="0"/>
              </a:rPr>
              <a:t>При </a:t>
            </a:r>
            <a:r>
              <a:rPr lang="ru-RU" b="1" dirty="0">
                <a:latin typeface="Arial Narrow" panose="020B0606020202030204" pitchFamily="34" charset="0"/>
              </a:rPr>
              <a:t>решении таких учебно-профессиональных задач необходимо: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– рассмотреть ситуацию и определить ее характеристику;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– диагностировать типы личности участников по их поведению;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– предположить возможные выходы из осложненной ситуации;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– показать, насколько возможно ее решение при наличии данных типов личности персонажей – участников.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Развиваемые профессиональные качества – в данном процессе формируется ряд профессионально значимых качеств специалиста по рекламе и связям с общественностью: аналитические, диагностические, прогностические.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Положительным результатом</a:t>
            </a:r>
            <a:r>
              <a:rPr lang="ru-RU" b="1" i="1" dirty="0">
                <a:latin typeface="Arial Narrow" panose="020B0606020202030204" pitchFamily="34" charset="0"/>
              </a:rPr>
              <a:t> </a:t>
            </a:r>
            <a:r>
              <a:rPr lang="ru-RU" b="1" dirty="0">
                <a:latin typeface="Arial Narrow" panose="020B0606020202030204" pitchFamily="34" charset="0"/>
              </a:rPr>
              <a:t>решения учебно-профессиональных задач считалось умение найти возможность такой трансформации задачи, которая существенно не изменяет условий и статуса сложности проблемной ситуации, но при этом разрешает саму проблемную ситуацию.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Отрицательным результатом решения задач считалось однозначно отрицательное суждение, существенное изменение условий и статуса сложности проблемной ситуации через обесценивание важности ее решения или через отрицание самого существования решения.</a:t>
            </a:r>
          </a:p>
        </p:txBody>
      </p:sp>
    </p:spTree>
    <p:extLst>
      <p:ext uri="{BB962C8B-B14F-4D97-AF65-F5344CB8AC3E}">
        <p14:creationId xmlns:p14="http://schemas.microsoft.com/office/powerpoint/2010/main" xmlns="" val="2823352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5DCD4AE-485A-4A97-95BA-7C81E5E5A9BB}"/>
              </a:ext>
            </a:extLst>
          </p:cNvPr>
          <p:cNvSpPr txBox="1"/>
          <p:nvPr/>
        </p:nvSpPr>
        <p:spPr>
          <a:xfrm>
            <a:off x="464234" y="211016"/>
            <a:ext cx="1128228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 Narrow" panose="020B0606020202030204" pitchFamily="34" charset="0"/>
              </a:rPr>
              <a:t>В процессе диагностики и оценки эмпирических данных оказалось, что при средних и высоких показателях уровня социально-психологической адаптации, не все студенты демонстрируют средний и высокий уровень успешности решения предлагаемых учебно-профессиональных задач. Этот факт определил интерес к качественным особенностям социально-психологической адаптации, связанным с успехом в профессиональной деятельности.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В процессе наблюдения, анализа деятельности были выделены </a:t>
            </a:r>
            <a:r>
              <a:rPr lang="ru-RU" sz="2000" b="1" dirty="0" smtClean="0">
                <a:latin typeface="Arial Narrow" panose="020B0606020202030204" pitchFamily="34" charset="0"/>
              </a:rPr>
              <a:t>2 </a:t>
            </a:r>
            <a:r>
              <a:rPr lang="ru-RU" sz="2000" b="1" dirty="0">
                <a:latin typeface="Arial Narrow" panose="020B0606020202030204" pitchFamily="34" charset="0"/>
              </a:rPr>
              <a:t>основных подхода к решению учебно-профессиональных задач, демонстрируемых испытуемыми, предполагающих выраженную специфику принципа их рассмотрения студентами: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pPr marL="457200" indent="-457200">
              <a:buAutoNum type="arabicPeriod"/>
            </a:pPr>
            <a:r>
              <a:rPr lang="ru-RU" sz="2000" b="1" i="1" dirty="0">
                <a:solidFill>
                  <a:srgbClr val="C00000"/>
                </a:solidFill>
                <a:latin typeface="Arial Narrow" panose="020B0606020202030204" pitchFamily="34" charset="0"/>
              </a:rPr>
              <a:t>Активно-поисковая эвристическая стратегия.</a:t>
            </a:r>
            <a:r>
              <a:rPr lang="ru-RU" sz="2000" b="1" dirty="0">
                <a:latin typeface="Arial Narrow" panose="020B0606020202030204" pitchFamily="34" charset="0"/>
              </a:rPr>
              <a:t> Демонстрируется стремление найти ответ, проводится анализ ситуации, излагаются возможные пути решения, в поиске истины осуществляется активное взаимодействие с преподавателем и сокурсниками, рассматриваются разные варианты течения событий.</a:t>
            </a:r>
          </a:p>
          <a:p>
            <a:pPr marL="457200" indent="-457200">
              <a:buAutoNum type="arabicPeriod"/>
            </a:pPr>
            <a:endParaRPr lang="ru-RU" sz="2000" b="1" dirty="0">
              <a:latin typeface="Arial Narrow" panose="020B0606020202030204" pitchFamily="34" charset="0"/>
            </a:endParaRPr>
          </a:p>
          <a:p>
            <a:pPr marL="457200" indent="-457200">
              <a:buAutoNum type="arabicPeriod"/>
            </a:pPr>
            <a:r>
              <a:rPr lang="ru-RU" sz="2000" b="1" i="1" dirty="0">
                <a:solidFill>
                  <a:srgbClr val="C00000"/>
                </a:solidFill>
                <a:latin typeface="Arial Narrow" panose="020B0606020202030204" pitchFamily="34" charset="0"/>
              </a:rPr>
              <a:t>Пассивно-выжидательная позиция.</a:t>
            </a:r>
            <a:r>
              <a:rPr lang="ru-RU" sz="2000" b="1" dirty="0">
                <a:latin typeface="Arial Narrow" panose="020B0606020202030204" pitchFamily="34" charset="0"/>
              </a:rPr>
              <a:t> Наблюдается пассивное поведение, предпочтение наблюдать за активными участниками процесса «со стороны», не высказывается собственное мнение, на прямые вопросы о диагностике ситуации, предпочтительно отвечает: «не знаю», на предложение найти решение, либо звучит отказ, либо выносится суждение о невозможности решить задачу.</a:t>
            </a:r>
          </a:p>
        </p:txBody>
      </p:sp>
    </p:spTree>
    <p:extLst>
      <p:ext uri="{BB962C8B-B14F-4D97-AF65-F5344CB8AC3E}">
        <p14:creationId xmlns:p14="http://schemas.microsoft.com/office/powerpoint/2010/main" xmlns="" val="3674496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F04D1D8-A869-45B6-B65A-7FB323D0E655}"/>
              </a:ext>
            </a:extLst>
          </p:cNvPr>
          <p:cNvSpPr txBox="1"/>
          <p:nvPr/>
        </p:nvSpPr>
        <p:spPr>
          <a:xfrm>
            <a:off x="239151" y="159781"/>
            <a:ext cx="11718387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 Narrow" panose="020B0606020202030204" pitchFamily="34" charset="0"/>
              </a:rPr>
              <a:t>Проведенное тестирование с целью выявления уровня социально-психологической адаптации и эмоционального состояния студентов показало на выборке преимущественно умеренный и высокий уровень социально-психологической адаптации у студентов с разными подходами к решению учебно-профессиональных задач.</a:t>
            </a:r>
          </a:p>
          <a:p>
            <a:endParaRPr lang="ru-RU" sz="1000" b="1" i="1" dirty="0">
              <a:solidFill>
                <a:srgbClr val="002060"/>
              </a:solidFill>
              <a:latin typeface="Arial Narrow" panose="020B0606020202030204" pitchFamily="34" charset="0"/>
            </a:endParaRPr>
          </a:p>
          <a:p>
            <a:r>
              <a:rPr lang="ru-RU" sz="2000" b="1" i="1" dirty="0">
                <a:solidFill>
                  <a:srgbClr val="002060"/>
                </a:solidFill>
                <a:latin typeface="Arial Narrow" panose="020B0606020202030204" pitchFamily="34" charset="0"/>
              </a:rPr>
              <a:t>Однако наблюдалась разница в показателях эмоционального состояния студентов с различными подходами к решению учебно-профессиональных задач.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Студенты со средними и высокими показателями социально-психологической адаптации при</a:t>
            </a:r>
            <a:r>
              <a:rPr lang="ru-RU" sz="2000" b="1" dirty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ru-RU" sz="2000" b="1" i="1" u="sng" dirty="0">
                <a:solidFill>
                  <a:srgbClr val="C00000"/>
                </a:solidFill>
                <a:latin typeface="Arial Narrow" panose="020B0606020202030204" pitchFamily="34" charset="0"/>
              </a:rPr>
              <a:t>высоком уровне тревожности, ригидности и фрустрации</a:t>
            </a:r>
            <a:r>
              <a:rPr lang="ru-RU" sz="2000" b="1" dirty="0">
                <a:solidFill>
                  <a:srgbClr val="002060"/>
                </a:solidFill>
                <a:latin typeface="Arial Narrow" panose="020B0606020202030204" pitchFamily="34" charset="0"/>
              </a:rPr>
              <a:t> </a:t>
            </a:r>
            <a:r>
              <a:rPr lang="ru-RU" sz="2000" b="1" i="1" dirty="0">
                <a:solidFill>
                  <a:srgbClr val="002060"/>
                </a:solidFill>
                <a:latin typeface="Arial Narrow" panose="020B0606020202030204" pitchFamily="34" charset="0"/>
              </a:rPr>
              <a:t>не имели самостоятельных подходов к решению учебно-профессиональных задач, соглашались с предложенными им ответами, даже если ответы не являлись верными, или составляли однозначные суждения о невозможности решения</a:t>
            </a:r>
            <a:r>
              <a:rPr lang="ru-RU" sz="2000" b="1" dirty="0">
                <a:latin typeface="Arial Narrow" panose="020B0606020202030204" pitchFamily="34" charset="0"/>
              </a:rPr>
              <a:t>. Они также не принимали участия в решении следующей, аналогичной задачи, даже после того, как узнавали правильный подход к решению предыдущей. В ответ на прямой вопрос о способе решения, давали ответы: «трудно сказать», «эту ситуацию невозможно решить», что являлось показателем ухода от решения проблемы, или шутили о физическом устранении одного или нескольких персонажей задачи, что говорило о присутствии агрессивной реакции на происходящий процесс поиска решений. После того, как озвучивалось решение задачи, делали высказывания о легкости задания и сообщали в оправдание либо о «плохом самочувствии», либо о необходимости «думать о других проблемах», что, в свою очередь свидетельствовало об эмоциональной компенсации через обесценивание важности процесса.</a:t>
            </a:r>
          </a:p>
        </p:txBody>
      </p:sp>
    </p:spTree>
    <p:extLst>
      <p:ext uri="{BB962C8B-B14F-4D97-AF65-F5344CB8AC3E}">
        <p14:creationId xmlns:p14="http://schemas.microsoft.com/office/powerpoint/2010/main" xmlns="" val="1943118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950A9EF-BD9F-4715-A416-3A25B8FB4C8B}"/>
              </a:ext>
            </a:extLst>
          </p:cNvPr>
          <p:cNvSpPr txBox="1"/>
          <p:nvPr/>
        </p:nvSpPr>
        <p:spPr>
          <a:xfrm>
            <a:off x="281355" y="319566"/>
            <a:ext cx="11746523" cy="5718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Arial Narrow" panose="020B0606020202030204" pitchFamily="34" charset="0"/>
              </a:rPr>
              <a:t>Данный феномен регрессивного поведения позволил сделать вывод о существовании типа социально-психологической адаптации, не позволяющем быстро принимать самостоятельные решения. Так как показатели уровня социально-психологической адаптации оставались высокими, не смотря на высокий уровень таких эмоциональных состояний, как тревожность, фрустрация и ригидность, данную ситуацию нельзя рассматривать как дезадаптацию.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Соответственно, было сделано предположение, что выделенный комплекс адаптивной стратегии является особым типом социально-психологической адаптации. Об этом также свидетельствует то, что, несмотря на неудачу в решении задач, студенты не теряли своего социального статуса в группе, не утрачивали самоуважения, но и не стремились достичь успеха в процессе обучения.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В этом случае личность не имеет возможности реализовать свой интеллектуальный потенциал, не приобретает навыки, необходимые для профессиональной деятельности, так как негармоничное состояние эмоциональной сферы приводит к необходимости работы защитных механизмов психики, искажающих объективное восприятие реальности.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Данный тип социально-психологической адаптации был определен как </a:t>
            </a:r>
            <a:r>
              <a:rPr lang="ru-RU" sz="2000" b="1" i="1" u="sng" dirty="0">
                <a:solidFill>
                  <a:srgbClr val="C00000"/>
                </a:solidFill>
                <a:latin typeface="Arial Narrow" panose="020B0606020202030204" pitchFamily="34" charset="0"/>
              </a:rPr>
              <a:t>деструктивный</a:t>
            </a:r>
            <a:r>
              <a:rPr lang="ru-RU" sz="20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, так как при нем сохраняются внутриличностные напряжения, а социально-психологическая адаптация сводится к приспособлению и принятию основных правил и форм поведения.</a:t>
            </a:r>
            <a:endParaRPr lang="ru-RU" sz="2000" b="1" dirty="0">
              <a:latin typeface="Arial Narrow" panose="020B0606020202030204" pitchFamily="34" charset="0"/>
            </a:endParaRP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b="1" dirty="0">
                <a:latin typeface="Arial Narrow" panose="020B0606020202030204" pitchFamily="34" charset="0"/>
              </a:rPr>
              <a:t>Однако при этом личность, придерживаясь выработанного определенного комплекса поведенческих реакций и сохраняя свои социальные позиции, не находится в процессе личностного и профессионального развития. Отсутствие мотивации к развитию параллельно связано со страхом перед разрушением Я-образа, угроза которому актуализирует защитные механизмы.</a:t>
            </a:r>
          </a:p>
        </p:txBody>
      </p:sp>
    </p:spTree>
    <p:extLst>
      <p:ext uri="{BB962C8B-B14F-4D97-AF65-F5344CB8AC3E}">
        <p14:creationId xmlns:p14="http://schemas.microsoft.com/office/powerpoint/2010/main" xmlns="" val="1539621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7C491DF-649E-451C-AF2B-09E4227C57A7}"/>
              </a:ext>
            </a:extLst>
          </p:cNvPr>
          <p:cNvSpPr txBox="1"/>
          <p:nvPr/>
        </p:nvSpPr>
        <p:spPr>
          <a:xfrm>
            <a:off x="365760" y="281360"/>
            <a:ext cx="1138076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 Narrow" panose="020B0606020202030204" pitchFamily="34" charset="0"/>
              </a:rPr>
              <a:t>Напротив, студенты со средними и высокими показателями социально-психологической адаптации, имевшие </a:t>
            </a:r>
            <a:r>
              <a:rPr lang="ru-RU" sz="2000" b="1" i="1" u="sng" dirty="0">
                <a:solidFill>
                  <a:srgbClr val="C00000"/>
                </a:solidFill>
                <a:latin typeface="Arial Narrow" panose="020B0606020202030204" pitchFamily="34" charset="0"/>
              </a:rPr>
              <a:t>средний уровень тревожности, фрустрации и низкий уровень ригидности</a:t>
            </a:r>
            <a:r>
              <a:rPr lang="ru-RU" sz="2000" b="1" dirty="0">
                <a:latin typeface="Arial Narrow" panose="020B0606020202030204" pitchFamily="34" charset="0"/>
              </a:rPr>
              <a:t>, </a:t>
            </a:r>
            <a:r>
              <a:rPr lang="ru-RU" sz="2000" b="1" i="1" dirty="0">
                <a:solidFill>
                  <a:srgbClr val="002060"/>
                </a:solidFill>
                <a:latin typeface="Arial Narrow" panose="020B0606020202030204" pitchFamily="34" charset="0"/>
              </a:rPr>
              <a:t>демонстрировали активность в поиске решений учебно-профессиональных задач, предлагали варианты трансформации заданной в задаче ситуации, составляли различные суждения о способах выхода из конфликтного взаимодействия, определенного задачей, при затруднениях в выборе решения активно использовали учебные материалы (учебники, тексты лекций), свободно общались с преподавателем</a:t>
            </a:r>
            <a:r>
              <a:rPr lang="ru-RU" sz="2000" b="1" dirty="0">
                <a:latin typeface="Arial Narrow" panose="020B0606020202030204" pitchFamily="34" charset="0"/>
              </a:rPr>
              <a:t>. Процесс поиска решений оценивался ими как «интересный», при предложении решить еще одну задачу, активно соглашались, в процессе работы над следующей ситуацией, учитывали ошибки анализа предыдущей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Учебно-профессиональные задачи оценивали как сложные, однако не теряли интереса к процессу их решения. Таким образом, нами была отмечена динамика формирования профессионально значимых знаний, умений и навыков управления конфликтами.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Данный тип социально-психологической адаптации был определен как </a:t>
            </a:r>
            <a:r>
              <a:rPr lang="ru-RU" sz="2000" b="1" i="1" u="sng" dirty="0">
                <a:solidFill>
                  <a:srgbClr val="C00000"/>
                </a:solidFill>
                <a:latin typeface="Arial Narrow" panose="020B0606020202030204" pitchFamily="34" charset="0"/>
              </a:rPr>
              <a:t>конструктивный</a:t>
            </a:r>
            <a:r>
              <a:rPr lang="ru-RU" sz="2000" b="1" i="1" u="sng" dirty="0">
                <a:solidFill>
                  <a:srgbClr val="002060"/>
                </a:solidFill>
                <a:latin typeface="Arial Narrow" panose="020B0606020202030204" pitchFamily="34" charset="0"/>
              </a:rPr>
              <a:t>, так как он не сопровождается внутриличностным напряжением, имеет характер взаимного воздействия «ситуация – личность – ситуация», в котором у обеих сторон наблюдаются позитивные изменения.</a:t>
            </a:r>
            <a:r>
              <a:rPr lang="ru-RU" sz="2000" b="1" dirty="0">
                <a:latin typeface="Arial Narrow" panose="020B0606020202030204" pitchFamily="34" charset="0"/>
              </a:rPr>
              <a:t> </a:t>
            </a:r>
          </a:p>
          <a:p>
            <a:endParaRPr lang="ru-RU" sz="1000" b="1" dirty="0">
              <a:latin typeface="Arial Narrow" panose="020B0606020202030204" pitchFamily="34" charset="0"/>
            </a:endParaRPr>
          </a:p>
          <a:p>
            <a:r>
              <a:rPr lang="ru-RU" sz="2000" b="1" dirty="0">
                <a:latin typeface="Arial Narrow" panose="020B0606020202030204" pitchFamily="34" charset="0"/>
              </a:rPr>
              <a:t>Студенты, находившие быстрее всех правильные решения, получали социальное признание и проявляли мотивацию к развитию.</a:t>
            </a:r>
          </a:p>
        </p:txBody>
      </p:sp>
    </p:spTree>
    <p:extLst>
      <p:ext uri="{BB962C8B-B14F-4D97-AF65-F5344CB8AC3E}">
        <p14:creationId xmlns:p14="http://schemas.microsoft.com/office/powerpoint/2010/main" xmlns="" val="813923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BDDDD9DB-7EE0-4A95-B296-55351852336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88796" y="805457"/>
            <a:ext cx="5188267" cy="583809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B54DCEE-5EF0-4D0D-AE55-347DA0C2E136}"/>
              </a:ext>
            </a:extLst>
          </p:cNvPr>
          <p:cNvSpPr txBox="1"/>
          <p:nvPr/>
        </p:nvSpPr>
        <p:spPr>
          <a:xfrm>
            <a:off x="1181684" y="196948"/>
            <a:ext cx="993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  <a:latin typeface="Arial Narrow" panose="020B0606020202030204" pitchFamily="34" charset="0"/>
              </a:rPr>
              <a:t>Психическое содержание типов социально-психологической адаптации</a:t>
            </a:r>
            <a:endParaRPr lang="ru-RU" sz="2400" dirty="0">
              <a:solidFill>
                <a:srgbClr val="C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6DDF839-3A28-434E-BA50-19D619BCCB8F}"/>
              </a:ext>
            </a:extLst>
          </p:cNvPr>
          <p:cNvSpPr txBox="1"/>
          <p:nvPr/>
        </p:nvSpPr>
        <p:spPr>
          <a:xfrm>
            <a:off x="98476" y="1420837"/>
            <a:ext cx="33594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Arial Narrow" panose="020B0606020202030204" pitchFamily="34" charset="0"/>
              </a:rPr>
              <a:t>Содержание конструктивного типа СПА: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1) показатели тревожности и фрустрации среднего уровня и показатели ригидности низкого уровня;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2) в качестве психологической защиты – рационализация и изоляция; мотивация к достижению результата деятельности;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3) рациональные установки, двусторонний характер коммуникативной деятельности; внутренний локус контроля.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8F746DF-2835-4497-99FA-92E7355CDC5B}"/>
              </a:ext>
            </a:extLst>
          </p:cNvPr>
          <p:cNvSpPr txBox="1"/>
          <p:nvPr/>
        </p:nvSpPr>
        <p:spPr>
          <a:xfrm>
            <a:off x="8806375" y="1463042"/>
            <a:ext cx="321681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Arial Narrow" panose="020B0606020202030204" pitchFamily="34" charset="0"/>
              </a:rPr>
              <a:t>Содержание деструктивного типа СПА: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1) показатели тревожности, фрустрации и ригидности высокого уровня; 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2) психологическая защита в виде проекции, регрессии, реактивных образований;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3) иррациональные установки;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4) односторонняя коммуникативная деятельность;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5) внешний локус контроля</a:t>
            </a:r>
          </a:p>
        </p:txBody>
      </p:sp>
    </p:spTree>
    <p:extLst>
      <p:ext uri="{BB962C8B-B14F-4D97-AF65-F5344CB8AC3E}">
        <p14:creationId xmlns:p14="http://schemas.microsoft.com/office/powerpoint/2010/main" xmlns="" val="1970622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Oval 19"/>
          <p:cNvSpPr>
            <a:spLocks noChangeArrowheads="1"/>
          </p:cNvSpPr>
          <p:nvPr/>
        </p:nvSpPr>
        <p:spPr bwMode="auto">
          <a:xfrm>
            <a:off x="2927351" y="1341438"/>
            <a:ext cx="3744913" cy="374491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0">
            <a:noFill/>
            <a:round/>
            <a:headEnd/>
            <a:tailEnd/>
          </a:ln>
        </p:spPr>
        <p:txBody>
          <a:bodyPr wrap="none" anchor="ctr"/>
          <a:lstStyle/>
          <a:p>
            <a:endParaRPr lang="ru-RU" altLang="ru-RU"/>
          </a:p>
        </p:txBody>
      </p:sp>
      <p:sp>
        <p:nvSpPr>
          <p:cNvPr id="55299" name="Oval 20"/>
          <p:cNvSpPr>
            <a:spLocks noChangeAspect="1" noChangeArrowheads="1"/>
          </p:cNvSpPr>
          <p:nvPr/>
        </p:nvSpPr>
        <p:spPr bwMode="auto">
          <a:xfrm>
            <a:off x="2566989" y="1052514"/>
            <a:ext cx="4397375" cy="4397375"/>
          </a:xfrm>
          <a:prstGeom prst="ellipse">
            <a:avLst/>
          </a:prstGeom>
          <a:noFill/>
          <a:ln w="0">
            <a:solidFill>
              <a:srgbClr val="44C8F5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 altLang="ru-RU"/>
          </a:p>
        </p:txBody>
      </p:sp>
      <p:sp>
        <p:nvSpPr>
          <p:cNvPr id="55300" name="Oval 21"/>
          <p:cNvSpPr>
            <a:spLocks noChangeAspect="1" noChangeArrowheads="1"/>
          </p:cNvSpPr>
          <p:nvPr/>
        </p:nvSpPr>
        <p:spPr bwMode="auto">
          <a:xfrm>
            <a:off x="1524001" y="4764"/>
            <a:ext cx="6480175" cy="6480175"/>
          </a:xfrm>
          <a:prstGeom prst="ellipse">
            <a:avLst/>
          </a:prstGeom>
          <a:noFill/>
          <a:ln w="0">
            <a:solidFill>
              <a:srgbClr val="44C8F5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 altLang="ru-RU"/>
          </a:p>
        </p:txBody>
      </p:sp>
      <p:sp>
        <p:nvSpPr>
          <p:cNvPr id="55301" name="Oval 22"/>
          <p:cNvSpPr>
            <a:spLocks noChangeAspect="1" noChangeArrowheads="1"/>
          </p:cNvSpPr>
          <p:nvPr/>
        </p:nvSpPr>
        <p:spPr bwMode="auto">
          <a:xfrm>
            <a:off x="-96838" y="-1539875"/>
            <a:ext cx="9577388" cy="9577388"/>
          </a:xfrm>
          <a:prstGeom prst="ellipse">
            <a:avLst/>
          </a:prstGeom>
          <a:noFill/>
          <a:ln w="0">
            <a:solidFill>
              <a:srgbClr val="44C8F5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 altLang="ru-RU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5664201" y="4365626"/>
            <a:ext cx="1008063" cy="1008063"/>
            <a:chOff x="3198" y="3475"/>
            <a:chExt cx="576" cy="576"/>
          </a:xfrm>
        </p:grpSpPr>
        <p:sp>
          <p:nvSpPr>
            <p:cNvPr id="55313" name="Oval 24"/>
            <p:cNvSpPr>
              <a:spLocks noChangeArrowheads="1"/>
            </p:cNvSpPr>
            <p:nvPr/>
          </p:nvSpPr>
          <p:spPr bwMode="auto">
            <a:xfrm>
              <a:off x="3198" y="3475"/>
              <a:ext cx="576" cy="576"/>
            </a:xfrm>
            <a:prstGeom prst="ellipse">
              <a:avLst/>
            </a:prstGeom>
            <a:solidFill>
              <a:srgbClr val="44C8F5"/>
            </a:solidFill>
            <a:ln w="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  <p:pic>
          <p:nvPicPr>
            <p:cNvPr id="55314" name="Picture 25" descr="буквы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288" y="3566"/>
              <a:ext cx="408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774825" y="836613"/>
            <a:ext cx="914400" cy="914400"/>
            <a:chOff x="4422" y="3249"/>
            <a:chExt cx="576" cy="576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25625" name="Oval 27"/>
            <p:cNvSpPr>
              <a:spLocks noChangeArrowheads="1"/>
            </p:cNvSpPr>
            <p:nvPr/>
          </p:nvSpPr>
          <p:spPr bwMode="auto">
            <a:xfrm>
              <a:off x="4422" y="3249"/>
              <a:ext cx="576" cy="576"/>
            </a:xfrm>
            <a:prstGeom prst="ellipse">
              <a:avLst/>
            </a:prstGeom>
            <a:grpFill/>
            <a:ln w="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ru-RU" altLang="ru-RU"/>
            </a:p>
          </p:txBody>
        </p:sp>
        <p:pic>
          <p:nvPicPr>
            <p:cNvPr id="25626" name="Picture 28" descr="буквы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468" y="3294"/>
              <a:ext cx="454" cy="45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7680326" y="2924176"/>
            <a:ext cx="669925" cy="669925"/>
            <a:chOff x="3288" y="1842"/>
            <a:chExt cx="576" cy="576"/>
          </a:xfrm>
        </p:grpSpPr>
        <p:sp>
          <p:nvSpPr>
            <p:cNvPr id="55311" name="Oval 30"/>
            <p:cNvSpPr>
              <a:spLocks noChangeArrowheads="1"/>
            </p:cNvSpPr>
            <p:nvPr/>
          </p:nvSpPr>
          <p:spPr bwMode="auto">
            <a:xfrm>
              <a:off x="3288" y="1842"/>
              <a:ext cx="576" cy="576"/>
            </a:xfrm>
            <a:prstGeom prst="ellipse">
              <a:avLst/>
            </a:prstGeom>
            <a:solidFill>
              <a:srgbClr val="ED1847"/>
            </a:solidFill>
            <a:ln w="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  <p:pic>
          <p:nvPicPr>
            <p:cNvPr id="55312" name="Picture 32" descr="буквы9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379" y="1933"/>
              <a:ext cx="409" cy="4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6527800" y="404813"/>
            <a:ext cx="914400" cy="914400"/>
            <a:chOff x="2699" y="119"/>
            <a:chExt cx="576" cy="576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5621" name="Oval 36"/>
            <p:cNvSpPr>
              <a:spLocks noChangeArrowheads="1"/>
            </p:cNvSpPr>
            <p:nvPr/>
          </p:nvSpPr>
          <p:spPr bwMode="auto">
            <a:xfrm>
              <a:off x="2699" y="119"/>
              <a:ext cx="576" cy="576"/>
            </a:xfrm>
            <a:prstGeom prst="ellipse">
              <a:avLst/>
            </a:prstGeom>
            <a:grpFill/>
            <a:ln w="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ru-RU" altLang="ru-RU"/>
            </a:p>
          </p:txBody>
        </p:sp>
        <p:pic>
          <p:nvPicPr>
            <p:cNvPr id="25622" name="Picture 37" descr="буквы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789" y="210"/>
              <a:ext cx="363" cy="3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" name="Group 38"/>
          <p:cNvGrpSpPr>
            <a:grpSpLocks/>
          </p:cNvGrpSpPr>
          <p:nvPr/>
        </p:nvGrpSpPr>
        <p:grpSpPr bwMode="auto">
          <a:xfrm>
            <a:off x="2063750" y="5013325"/>
            <a:ext cx="914400" cy="914400"/>
            <a:chOff x="612" y="1888"/>
            <a:chExt cx="576" cy="576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5619" name="Oval 39"/>
            <p:cNvSpPr>
              <a:spLocks noChangeArrowheads="1"/>
            </p:cNvSpPr>
            <p:nvPr/>
          </p:nvSpPr>
          <p:spPr bwMode="auto">
            <a:xfrm>
              <a:off x="612" y="1888"/>
              <a:ext cx="576" cy="576"/>
            </a:xfrm>
            <a:prstGeom prst="ellipse">
              <a:avLst/>
            </a:prstGeom>
            <a:grpFill/>
            <a:ln w="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ru-RU" altLang="ru-RU"/>
            </a:p>
          </p:txBody>
        </p:sp>
        <p:pic>
          <p:nvPicPr>
            <p:cNvPr id="25620" name="Picture 40" descr="буквы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57" y="1979"/>
              <a:ext cx="408" cy="40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8688389" y="1268414"/>
            <a:ext cx="1006475" cy="936625"/>
            <a:chOff x="2835" y="2568"/>
            <a:chExt cx="634" cy="59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25617" name="Oval 42"/>
            <p:cNvSpPr>
              <a:spLocks noChangeArrowheads="1"/>
            </p:cNvSpPr>
            <p:nvPr/>
          </p:nvSpPr>
          <p:spPr bwMode="auto">
            <a:xfrm>
              <a:off x="2835" y="2568"/>
              <a:ext cx="576" cy="576"/>
            </a:xfrm>
            <a:prstGeom prst="ellipse">
              <a:avLst/>
            </a:prstGeom>
            <a:grpFill/>
            <a:ln w="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ru-RU" altLang="ru-RU"/>
            </a:p>
          </p:txBody>
        </p:sp>
        <p:pic>
          <p:nvPicPr>
            <p:cNvPr id="25618" name="Picture 43" descr="буквы4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925" y="2614"/>
              <a:ext cx="544" cy="54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8112125" y="5661025"/>
            <a:ext cx="914400" cy="914400"/>
            <a:chOff x="249" y="3339"/>
            <a:chExt cx="576" cy="576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5615" name="Oval 45"/>
            <p:cNvSpPr>
              <a:spLocks noChangeArrowheads="1"/>
            </p:cNvSpPr>
            <p:nvPr/>
          </p:nvSpPr>
          <p:spPr bwMode="auto">
            <a:xfrm>
              <a:off x="249" y="3339"/>
              <a:ext cx="576" cy="576"/>
            </a:xfrm>
            <a:prstGeom prst="ellipse">
              <a:avLst/>
            </a:prstGeom>
            <a:grpFill/>
            <a:ln w="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ru-RU" altLang="ru-RU"/>
            </a:p>
          </p:txBody>
        </p:sp>
        <p:pic>
          <p:nvPicPr>
            <p:cNvPr id="25616" name="Picture 46" descr="буквы5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40" y="3430"/>
              <a:ext cx="363" cy="3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5309" name="Заголовок 1"/>
          <p:cNvSpPr>
            <a:spLocks/>
          </p:cNvSpPr>
          <p:nvPr/>
        </p:nvSpPr>
        <p:spPr bwMode="auto">
          <a:xfrm>
            <a:off x="3287713" y="2420938"/>
            <a:ext cx="3313112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r>
              <a:rPr lang="ru-RU" altLang="ru-RU" sz="4000" b="1">
                <a:solidFill>
                  <a:schemeClr val="bg1"/>
                </a:solidFill>
              </a:rPr>
              <a:t>СПАСИБО</a:t>
            </a:r>
          </a:p>
        </p:txBody>
      </p:sp>
      <p:sp>
        <p:nvSpPr>
          <p:cNvPr id="55310" name="Rectangle 48"/>
          <p:cNvSpPr>
            <a:spLocks noChangeArrowheads="1"/>
          </p:cNvSpPr>
          <p:nvPr/>
        </p:nvSpPr>
        <p:spPr bwMode="auto">
          <a:xfrm>
            <a:off x="3359150" y="3068638"/>
            <a:ext cx="3384550" cy="157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36000" rIns="36000" bIns="36000"/>
          <a:lstStyle/>
          <a:p>
            <a:r>
              <a:rPr lang="ru-RU" altLang="ru-RU" dirty="0">
                <a:solidFill>
                  <a:schemeClr val="bg1"/>
                </a:solidFill>
                <a:latin typeface="Proxima Nova Rg" pitchFamily="50" charset="0"/>
              </a:rPr>
              <a:t>Самарский государственный</a:t>
            </a:r>
            <a:br>
              <a:rPr lang="ru-RU" altLang="ru-RU" dirty="0">
                <a:solidFill>
                  <a:schemeClr val="bg1"/>
                </a:solidFill>
                <a:latin typeface="Proxima Nova Rg" pitchFamily="50" charset="0"/>
              </a:rPr>
            </a:br>
            <a:r>
              <a:rPr lang="ru-RU" altLang="ru-RU" dirty="0">
                <a:solidFill>
                  <a:schemeClr val="bg1"/>
                </a:solidFill>
                <a:latin typeface="Proxima Nova Rg" pitchFamily="50" charset="0"/>
              </a:rPr>
              <a:t>технический университет</a:t>
            </a:r>
            <a:endParaRPr lang="en-US" altLang="ru-RU" dirty="0">
              <a:solidFill>
                <a:schemeClr val="bg1"/>
              </a:solidFill>
              <a:latin typeface="Proxima Nova Rg" pitchFamily="50" charset="0"/>
            </a:endParaRPr>
          </a:p>
          <a:p>
            <a:endParaRPr lang="en-US" altLang="ru-RU" dirty="0">
              <a:solidFill>
                <a:schemeClr val="bg1"/>
              </a:solidFill>
              <a:latin typeface="Proxima Nova Rg" pitchFamily="50" charset="0"/>
            </a:endParaRPr>
          </a:p>
          <a:p>
            <a:r>
              <a:rPr lang="en-US" altLang="ru-RU" dirty="0">
                <a:solidFill>
                  <a:schemeClr val="bg1"/>
                </a:solidFill>
                <a:latin typeface="Proxima Nova Rg" pitchFamily="50" charset="0"/>
                <a:hlinkClick r:id="rId9"/>
              </a:rPr>
              <a:t>https://samgtu.ru/</a:t>
            </a:r>
            <a:endParaRPr lang="ru-RU" altLang="ru-RU" dirty="0">
              <a:solidFill>
                <a:schemeClr val="bg1"/>
              </a:solidFill>
              <a:latin typeface="Proxima Nova Rg" pitchFamily="50" charset="0"/>
            </a:endParaRPr>
          </a:p>
          <a:p>
            <a:endParaRPr lang="ru-RU" altLang="ru-RU" dirty="0">
              <a:solidFill>
                <a:srgbClr val="004282"/>
              </a:solidFill>
              <a:latin typeface="Proxima Nova Rg" pitchFamily="50" charset="0"/>
            </a:endParaRPr>
          </a:p>
          <a:p>
            <a:endParaRPr lang="ru-RU" altLang="ru-RU" dirty="0">
              <a:solidFill>
                <a:srgbClr val="004282"/>
              </a:solidFill>
              <a:latin typeface="Proxima Nova Rg" pitchFamily="50" charset="0"/>
            </a:endParaRPr>
          </a:p>
          <a:p>
            <a:endParaRPr lang="ru-RU" altLang="ru-RU" dirty="0">
              <a:solidFill>
                <a:srgbClr val="004282"/>
              </a:solidFill>
              <a:latin typeface="Proxima Nova Rg" pitchFamily="50" charset="0"/>
            </a:endParaRPr>
          </a:p>
          <a:p>
            <a:r>
              <a:rPr lang="ru-RU" altLang="ru-RU" dirty="0">
                <a:solidFill>
                  <a:srgbClr val="004282"/>
                </a:solidFill>
                <a:latin typeface="Proxima Nova Rg" pitchFamily="50" charset="0"/>
              </a:rPr>
              <a:t>Кафедра </a:t>
            </a:r>
            <a:r>
              <a:rPr lang="ru-RU" altLang="ru-RU" dirty="0" err="1">
                <a:solidFill>
                  <a:srgbClr val="004282"/>
                </a:solidFill>
                <a:latin typeface="Proxima Nova Rg" pitchFamily="50" charset="0"/>
              </a:rPr>
              <a:t>ПМКиРКИ</a:t>
            </a:r>
            <a:endParaRPr lang="ru-RU" altLang="ru-RU" dirty="0">
              <a:solidFill>
                <a:srgbClr val="004282"/>
              </a:solidFill>
              <a:latin typeface="Proxima Nova Rg" pitchFamily="5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4269</Words>
  <Application>Microsoft Office PowerPoint</Application>
  <PresentationFormat>Произвольный</PresentationFormat>
  <Paragraphs>232</Paragraphs>
  <Slides>27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28" baseType="lpstr">
      <vt:lpstr>Тема Office</vt:lpstr>
      <vt:lpstr>ПЕДАГОГИКА И Психология   Тема 6 «Социально-психологическая адаптация личности в профессиональном пространстве»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Andrei Sechnoi</dc:creator>
  <cp:lastModifiedBy>Elena</cp:lastModifiedBy>
  <cp:revision>54</cp:revision>
  <dcterms:created xsi:type="dcterms:W3CDTF">2021-02-07T16:46:11Z</dcterms:created>
  <dcterms:modified xsi:type="dcterms:W3CDTF">2021-03-19T06:42:10Z</dcterms:modified>
</cp:coreProperties>
</file>