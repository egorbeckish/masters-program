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68" r:id="rId2"/>
    <p:sldId id="257" r:id="rId3"/>
    <p:sldId id="258" r:id="rId4"/>
    <p:sldId id="272" r:id="rId5"/>
    <p:sldId id="270" r:id="rId6"/>
    <p:sldId id="260" r:id="rId7"/>
    <p:sldId id="261" r:id="rId8"/>
    <p:sldId id="262" r:id="rId9"/>
    <p:sldId id="271" r:id="rId10"/>
    <p:sldId id="273" r:id="rId11"/>
    <p:sldId id="274" r:id="rId12"/>
    <p:sldId id="264" r:id="rId13"/>
    <p:sldId id="275" r:id="rId14"/>
    <p:sldId id="259" r:id="rId15"/>
    <p:sldId id="276" r:id="rId16"/>
    <p:sldId id="277" r:id="rId17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Calibri Light" panose="020F0302020204030204" pitchFamily="34" charset="0"/>
      <p:regular r:id="rId23"/>
      <p:italic r:id="rId24"/>
    </p:embeddedFont>
    <p:embeddedFont>
      <p:font typeface="SB Sans Display Bold" panose="020B0604020202020204" charset="0"/>
      <p:regular r:id="rId25"/>
    </p:embeddedFont>
    <p:embeddedFont>
      <p:font typeface="SB Sans Text" panose="020B0604020202020204" charset="-52"/>
      <p:regular r:id="rId2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1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7425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3981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E92E54-7432-4E7F-96E6-6AFA6192DB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659C453-260A-4002-8663-D023EBDF02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4D7ACB-BE80-401A-BFA7-8206A426F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45485-0305-4F2D-BABF-ECF16D95408E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E6D8716-082B-4AF7-8582-7C3F6BDD9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0996C26-D85E-4551-882A-0CE720781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3BA24-16B4-4BCE-96DB-06AB7F3E02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149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0FD50F-F427-4227-BA61-1469DA592B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00313" y="71437"/>
            <a:ext cx="6858000" cy="1310879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ru-RU" sz="1400" b="1" dirty="0">
                <a:latin typeface="SB Sans Display Bold" panose="020B0604020202020204" charset="0"/>
                <a:ea typeface="Times New Roman" panose="02020603050405020304" pitchFamily="18" charset="0"/>
                <a:cs typeface="SB Sans Display Bold" panose="020B0604020202020204" charset="0"/>
              </a:rPr>
              <a:t>Министерство науки и высшего образования Российской Федерации</a:t>
            </a:r>
            <a:br>
              <a:rPr lang="ru-RU" sz="1400" b="1" dirty="0">
                <a:latin typeface="SB Sans Display Bold" panose="020B0604020202020204" charset="0"/>
                <a:ea typeface="Calibri" panose="020F0502020204030204" pitchFamily="34" charset="0"/>
                <a:cs typeface="SB Sans Display Bold" panose="020B0604020202020204" charset="0"/>
              </a:rPr>
            </a:br>
            <a:r>
              <a:rPr lang="ru-RU" sz="1400" b="1" dirty="0">
                <a:latin typeface="SB Sans Display Bold" panose="020B0604020202020204" charset="0"/>
                <a:ea typeface="Times New Roman" panose="02020603050405020304" pitchFamily="18" charset="0"/>
                <a:cs typeface="SB Sans Display Bold" panose="020B0604020202020204" charset="0"/>
              </a:rPr>
              <a:t>федеральное государственное бюджетное образовательное учреждение </a:t>
            </a:r>
            <a:br>
              <a:rPr lang="ru-RU" sz="1400" b="1" dirty="0">
                <a:latin typeface="SB Sans Display Bold" panose="020B0604020202020204" charset="0"/>
                <a:ea typeface="Times New Roman" panose="02020603050405020304" pitchFamily="18" charset="0"/>
                <a:cs typeface="SB Sans Display Bold" panose="020B0604020202020204" charset="0"/>
              </a:rPr>
            </a:br>
            <a:r>
              <a:rPr lang="ru-RU" sz="1400" b="1" dirty="0">
                <a:latin typeface="SB Sans Display Bold" panose="020B0604020202020204" charset="0"/>
                <a:ea typeface="Times New Roman" panose="02020603050405020304" pitchFamily="18" charset="0"/>
                <a:cs typeface="SB Sans Display Bold" panose="020B0604020202020204" charset="0"/>
              </a:rPr>
              <a:t>высшего образования</a:t>
            </a:r>
            <a:br>
              <a:rPr lang="ru-RU" sz="1400" b="1" dirty="0">
                <a:latin typeface="SB Sans Display Bold" panose="020B0604020202020204" charset="0"/>
                <a:ea typeface="Calibri" panose="020F0502020204030204" pitchFamily="34" charset="0"/>
                <a:cs typeface="SB Sans Display Bold" panose="020B0604020202020204" charset="0"/>
              </a:rPr>
            </a:br>
            <a:r>
              <a:rPr lang="ru-RU" sz="1400" b="1" dirty="0">
                <a:latin typeface="SB Sans Display Bold" panose="020B0604020202020204" charset="0"/>
                <a:ea typeface="Times New Roman" panose="02020603050405020304" pitchFamily="18" charset="0"/>
                <a:cs typeface="SB Sans Display Bold" panose="020B0604020202020204" charset="0"/>
              </a:rPr>
              <a:t>«Самарский государственный технический университет»</a:t>
            </a:r>
            <a:br>
              <a:rPr lang="ru-RU" sz="1400" b="1" dirty="0">
                <a:latin typeface="SB Sans Display Bold" panose="020B0604020202020204" charset="0"/>
                <a:ea typeface="Times New Roman" panose="02020603050405020304" pitchFamily="18" charset="0"/>
                <a:cs typeface="SB Sans Display Bold" panose="020B0604020202020204" charset="0"/>
              </a:rPr>
            </a:br>
            <a:r>
              <a:rPr lang="ru-RU" sz="1400" b="1" dirty="0">
                <a:latin typeface="SB Sans Display Bold" panose="020B0604020202020204" charset="0"/>
                <a:ea typeface="Times New Roman" panose="02020603050405020304" pitchFamily="18" charset="0"/>
                <a:cs typeface="SB Sans Display Bold" panose="020B0604020202020204" charset="0"/>
              </a:rPr>
              <a:t>(ФГБОУ ВО «</a:t>
            </a:r>
            <a:r>
              <a:rPr lang="ru-RU" sz="1400" b="1" dirty="0" err="1">
                <a:latin typeface="SB Sans Display Bold" panose="020B0604020202020204" charset="0"/>
                <a:ea typeface="Times New Roman" panose="02020603050405020304" pitchFamily="18" charset="0"/>
                <a:cs typeface="SB Sans Display Bold" panose="020B0604020202020204" charset="0"/>
              </a:rPr>
              <a:t>СамГТУ</a:t>
            </a:r>
            <a:r>
              <a:rPr lang="ru-RU" sz="1400" b="1" dirty="0">
                <a:latin typeface="SB Sans Display Bold" panose="020B0604020202020204" charset="0"/>
                <a:ea typeface="Times New Roman" panose="02020603050405020304" pitchFamily="18" charset="0"/>
                <a:cs typeface="SB Sans Display Bold" panose="020B0604020202020204" charset="0"/>
              </a:rPr>
              <a:t>»)</a:t>
            </a:r>
            <a:endParaRPr lang="ru-RU" sz="1400" b="1" dirty="0">
              <a:latin typeface="SB Sans Display Bold" panose="020B0604020202020204" charset="0"/>
              <a:cs typeface="SB Sans Display Bold" panose="020B0604020202020204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553E7E6-51AF-41AF-AA9A-51034BA05C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64957" y="4164807"/>
            <a:ext cx="3779044" cy="978694"/>
          </a:xfrm>
        </p:spPr>
        <p:txBody>
          <a:bodyPr>
            <a:normAutofit/>
          </a:bodyPr>
          <a:lstStyle/>
          <a:p>
            <a:pPr algn="r"/>
            <a:r>
              <a:rPr lang="ru-RU" sz="1100" b="1" dirty="0">
                <a:latin typeface="SB Sans Display Bold" panose="020B0604020202020204" charset="0"/>
                <a:cs typeface="SB Sans Display Bold" panose="020B0604020202020204" charset="0"/>
              </a:rPr>
              <a:t>Студент</a:t>
            </a:r>
            <a:r>
              <a:rPr lang="en-US" sz="1100" b="1" dirty="0">
                <a:latin typeface="SB Sans Display Bold" panose="020B0604020202020204" charset="0"/>
                <a:cs typeface="SB Sans Display Bold" panose="020B0604020202020204" charset="0"/>
              </a:rPr>
              <a:t>: </a:t>
            </a:r>
            <a:r>
              <a:rPr lang="ru-RU" sz="1100" b="1" dirty="0">
                <a:latin typeface="SB Sans Display Bold" panose="020B0604020202020204" charset="0"/>
                <a:cs typeface="SB Sans Display Bold" panose="020B0604020202020204" charset="0"/>
              </a:rPr>
              <a:t>Бекиш Егор Павлович</a:t>
            </a:r>
            <a:endParaRPr lang="en-US" sz="1100" b="1" dirty="0">
              <a:latin typeface="SB Sans Display Bold" panose="020B0604020202020204" charset="0"/>
              <a:cs typeface="SB Sans Display Bold" panose="020B0604020202020204" charset="0"/>
            </a:endParaRPr>
          </a:p>
          <a:p>
            <a:pPr algn="r"/>
            <a:r>
              <a:rPr lang="ru-RU" sz="1100" b="1" dirty="0">
                <a:latin typeface="SB Sans Display Bold" panose="020B0604020202020204" charset="0"/>
                <a:cs typeface="SB Sans Display Bold" panose="020B0604020202020204" charset="0"/>
              </a:rPr>
              <a:t>Группа</a:t>
            </a:r>
            <a:r>
              <a:rPr lang="en-US" sz="1100" b="1" dirty="0">
                <a:latin typeface="SB Sans Display Bold" panose="020B0604020202020204" charset="0"/>
                <a:cs typeface="SB Sans Display Bold" panose="020B0604020202020204" charset="0"/>
              </a:rPr>
              <a:t>: </a:t>
            </a:r>
            <a:r>
              <a:rPr lang="ru-RU" sz="1100" b="1" dirty="0">
                <a:solidFill>
                  <a:srgbClr val="212529"/>
                </a:solidFill>
                <a:latin typeface="SB Sans Display Bold" panose="020B0604020202020204" charset="0"/>
                <a:cs typeface="SB Sans Display Bold" panose="020B0604020202020204" charset="0"/>
              </a:rPr>
              <a:t>1-ИИЭиГО-25ИАИТ-113М</a:t>
            </a:r>
            <a:endParaRPr lang="en-US" sz="1100" b="1" dirty="0">
              <a:solidFill>
                <a:srgbClr val="212529"/>
              </a:solidFill>
              <a:latin typeface="SB Sans Display Bold" panose="020B0604020202020204" charset="0"/>
              <a:cs typeface="SB Sans Display Bold" panose="020B0604020202020204" charset="0"/>
            </a:endParaRPr>
          </a:p>
          <a:p>
            <a:pPr algn="r"/>
            <a:r>
              <a:rPr lang="ru-RU" sz="1100" b="1" dirty="0">
                <a:solidFill>
                  <a:srgbClr val="212529"/>
                </a:solidFill>
                <a:latin typeface="SB Sans Display Bold" panose="020B0604020202020204" charset="0"/>
                <a:cs typeface="SB Sans Display Bold" panose="020B0604020202020204" charset="0"/>
              </a:rPr>
              <a:t>Преподаватель</a:t>
            </a:r>
            <a:r>
              <a:rPr lang="en-US" sz="1100" b="1" dirty="0">
                <a:solidFill>
                  <a:srgbClr val="212529"/>
                </a:solidFill>
                <a:latin typeface="SB Sans Display Bold" panose="020B0604020202020204" charset="0"/>
                <a:cs typeface="SB Sans Display Bold" panose="020B0604020202020204" charset="0"/>
              </a:rPr>
              <a:t>: </a:t>
            </a:r>
            <a:r>
              <a:rPr lang="ru-RU" sz="1100" b="1" dirty="0">
                <a:solidFill>
                  <a:srgbClr val="212529"/>
                </a:solidFill>
                <a:latin typeface="SB Sans Display Bold" panose="020B0604020202020204" charset="0"/>
                <a:cs typeface="SB Sans Display Bold" panose="020B0604020202020204" charset="0"/>
              </a:rPr>
              <a:t>Бейлина Наталья Семеновна</a:t>
            </a:r>
          </a:p>
          <a:p>
            <a:pPr algn="r"/>
            <a:endParaRPr lang="ru-RU" sz="1100" b="1" dirty="0">
              <a:latin typeface="SB Sans Display Bold" panose="020B0604020202020204" charset="0"/>
              <a:cs typeface="SB Sans Display Bold" panose="020B060402020202020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37A29E3-3D77-42A0-A6A4-2A391E8BA5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743200" cy="153139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F87980F-0555-4DCA-BEFA-BA2D244E1193}"/>
              </a:ext>
            </a:extLst>
          </p:cNvPr>
          <p:cNvSpPr txBox="1"/>
          <p:nvPr/>
        </p:nvSpPr>
        <p:spPr>
          <a:xfrm>
            <a:off x="962619" y="1989996"/>
            <a:ext cx="721876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100" b="1" dirty="0">
                <a:latin typeface="SB Sans Display Bold" panose="020B0604020202020204" charset="0"/>
                <a:cs typeface="SB Sans Display Bold" panose="020B0604020202020204" charset="0"/>
              </a:rPr>
              <a:t>Высшее образование в современной России</a:t>
            </a:r>
          </a:p>
          <a:p>
            <a:pPr algn="ctr"/>
            <a:r>
              <a:rPr lang="ru-RU" sz="2100" b="1" dirty="0">
                <a:latin typeface="SB Sans Display Bold" panose="020B0604020202020204" charset="0"/>
                <a:ea typeface="Calibri" panose="020F0502020204030204" pitchFamily="34" charset="0"/>
                <a:cs typeface="SB Sans Display Bold" panose="020B0604020202020204" charset="0"/>
              </a:rPr>
              <a:t>Характеристика российской системы высшего и послевузовского профессионального образования</a:t>
            </a:r>
            <a:endParaRPr lang="ru-RU" sz="2100" b="1" dirty="0">
              <a:latin typeface="SB Sans Display Bold" panose="020B0604020202020204" charset="0"/>
              <a:cs typeface="SB Sans Display Bold" panose="020B060402020202020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AF227B-92AC-4DA4-9971-6DB88A2225BF}"/>
              </a:ext>
            </a:extLst>
          </p:cNvPr>
          <p:cNvSpPr txBox="1"/>
          <p:nvPr/>
        </p:nvSpPr>
        <p:spPr>
          <a:xfrm>
            <a:off x="3793810" y="4843418"/>
            <a:ext cx="155637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350" dirty="0">
                <a:latin typeface="SB Sans Display Bold" panose="020B0604020202020204" charset="0"/>
                <a:cs typeface="SB Sans Display Bold" panose="020B0604020202020204" charset="0"/>
              </a:rPr>
              <a:t>Самара, 2026 г.</a:t>
            </a:r>
          </a:p>
        </p:txBody>
      </p:sp>
    </p:spTree>
    <p:extLst>
      <p:ext uri="{BB962C8B-B14F-4D97-AF65-F5344CB8AC3E}">
        <p14:creationId xmlns:p14="http://schemas.microsoft.com/office/powerpoint/2010/main" val="2057415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1" descr="https://cdn-app.sberdevices.ru/misc/0.0.0/assets/gigachat-web/f279b7d8_Image-Shape.png">
            <a:extLst>
              <a:ext uri="{FF2B5EF4-FFF2-40B4-BE49-F238E27FC236}">
                <a16:creationId xmlns:a16="http://schemas.microsoft.com/office/drawing/2014/main" id="{7AB38889-C88A-407D-8400-957475C2B2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57" r="3357"/>
          <a:stretch/>
        </p:blipFill>
        <p:spPr>
          <a:xfrm>
            <a:off x="3099163" y="257175"/>
            <a:ext cx="5770517" cy="4620986"/>
          </a:xfrm>
          <a:prstGeom prst="rect">
            <a:avLst/>
          </a:prstGeom>
        </p:spPr>
      </p:pic>
      <p:pic>
        <p:nvPicPr>
          <p:cNvPr id="2" name="Image 0" descr="https://prod-gc.cdn.giga.chat/7edaa9c8-85ee-49fc-8884-ecce5370b8e1/019ce6b8-c36d-7e16-8269-a94de521d0af.jpg"/>
          <p:cNvPicPr>
            <a:picLocks noChangeAspect="1"/>
          </p:cNvPicPr>
          <p:nvPr/>
        </p:nvPicPr>
        <p:blipFill>
          <a:blip r:embed="rId4"/>
          <a:srcRect t="3262" b="3262"/>
          <a:stretch/>
        </p:blipFill>
        <p:spPr>
          <a:xfrm>
            <a:off x="274320" y="257175"/>
            <a:ext cx="2824843" cy="46209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3435" y="366200"/>
            <a:ext cx="3931920" cy="3086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100" b="1" kern="0" spc="-40" dirty="0">
                <a:solidFill>
                  <a:srgbClr val="000000"/>
                </a:solidFill>
                <a:latin typeface="SB Sans Display Bold" pitchFamily="34" charset="0"/>
                <a:ea typeface="SB Sans Display Bold" pitchFamily="34" charset="-122"/>
                <a:cs typeface="SB Sans Display Bold" pitchFamily="34" charset="-120"/>
              </a:rPr>
              <a:t>Терминологический аппарат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3383280" y="771525"/>
            <a:ext cx="5392230" cy="1543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just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Высшее образование — система подготовки специалистов с высшим образованием, осуществляемая в вузах. </a:t>
            </a:r>
            <a:endParaRPr lang="ru-RU" sz="1300" kern="0" spc="-30" dirty="0">
              <a:solidFill>
                <a:srgbClr val="000000"/>
              </a:solidFill>
              <a:latin typeface="SB Sans Text" pitchFamily="34" charset="0"/>
              <a:ea typeface="SB Sans Text" pitchFamily="34" charset="-122"/>
              <a:cs typeface="SB Sans Text" pitchFamily="34" charset="-120"/>
            </a:endParaRPr>
          </a:p>
          <a:p>
            <a:pPr marL="285750" indent="-285750" algn="just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3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Послевузовское</a:t>
            </a: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образование — подготовка научных и научно-педагогических кадров в аспирантуре, докторантуре и ординатуре.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1" descr="https://cdn-app.sberdevices.ru/misc/0.0.0/assets/gigachat-web/f279b7d8_Image-Shape.png">
            <a:extLst>
              <a:ext uri="{FF2B5EF4-FFF2-40B4-BE49-F238E27FC236}">
                <a16:creationId xmlns:a16="http://schemas.microsoft.com/office/drawing/2014/main" id="{1DB71DDF-5031-4390-BD82-D9CE2D5BB8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57" r="3357"/>
          <a:stretch/>
        </p:blipFill>
        <p:spPr>
          <a:xfrm>
            <a:off x="313410" y="898825"/>
            <a:ext cx="4369526" cy="3339194"/>
          </a:xfrm>
          <a:prstGeom prst="rect">
            <a:avLst/>
          </a:prstGeom>
        </p:spPr>
      </p:pic>
      <p:pic>
        <p:nvPicPr>
          <p:cNvPr id="2" name="Image 0" descr="https://prod-gc.cdn.giga.chat/7edaa9c8-85ee-49fc-8884-ecce5370b8e1/019ce6b9-1e26-7d4f-b127-4ae0ca673afe.jpg"/>
          <p:cNvPicPr>
            <a:picLocks noChangeAspect="1"/>
          </p:cNvPicPr>
          <p:nvPr/>
        </p:nvPicPr>
        <p:blipFill>
          <a:blip r:embed="rId4"/>
          <a:srcRect l="13674" r="13674"/>
          <a:stretch/>
        </p:blipFill>
        <p:spPr>
          <a:xfrm>
            <a:off x="4682936" y="902153"/>
            <a:ext cx="4245429" cy="333919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60382" y="921909"/>
            <a:ext cx="2875583" cy="3086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4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100" b="1" kern="0" spc="-40" dirty="0">
                <a:solidFill>
                  <a:srgbClr val="000000"/>
                </a:solidFill>
                <a:latin typeface="SB Sans Display Bold" pitchFamily="34" charset="0"/>
                <a:ea typeface="SB Sans Display Bold" pitchFamily="34" charset="-122"/>
                <a:cs typeface="SB Sans Display Bold" pitchFamily="34" charset="-120"/>
              </a:rPr>
              <a:t>Авторы определений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529145" y="1562213"/>
            <a:ext cx="3931920" cy="30354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Высшее образование определяется Федеральным законом РФ № 273-ФЗ от 29.12.2012 г. как система подготовки специалистов с высшим образованием, осуществляемая в вузах. Послевузовское образование также регулируется этим законом и включает подготовку научных и научно-педагогических кадров в аспирантуре, докторантуре и ординатуре.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1" descr="https://cdn-app.sberdevices.ru/misc/0.0.0/assets/gigachat-web/f279b7d8_Image-Shape.png">
            <a:extLst>
              <a:ext uri="{FF2B5EF4-FFF2-40B4-BE49-F238E27FC236}">
                <a16:creationId xmlns:a16="http://schemas.microsoft.com/office/drawing/2014/main" id="{9F35F55A-77BB-41F0-B0F3-3EFC5F1D88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57" r="3357"/>
          <a:stretch/>
        </p:blipFill>
        <p:spPr>
          <a:xfrm>
            <a:off x="3099162" y="257175"/>
            <a:ext cx="5573989" cy="4620986"/>
          </a:xfrm>
          <a:prstGeom prst="rect">
            <a:avLst/>
          </a:prstGeom>
        </p:spPr>
      </p:pic>
      <p:pic>
        <p:nvPicPr>
          <p:cNvPr id="2" name="Image 0" descr="https://prod-gc.cdn.giga.chat/7edaa9c8-85ee-49fc-8884-ecce5370b8e1/019ce78f-5187-72b7-8919-617d3b490b41.jpg"/>
          <p:cNvPicPr>
            <a:picLocks noChangeAspect="1"/>
          </p:cNvPicPr>
          <p:nvPr/>
        </p:nvPicPr>
        <p:blipFill>
          <a:blip r:embed="rId4"/>
          <a:srcRect t="3262" b="3262"/>
          <a:stretch/>
        </p:blipFill>
        <p:spPr>
          <a:xfrm>
            <a:off x="274320" y="257175"/>
            <a:ext cx="2824843" cy="46209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83280" y="308610"/>
            <a:ext cx="3693084" cy="5657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100" b="1" kern="0" spc="-40" dirty="0">
                <a:solidFill>
                  <a:srgbClr val="000000"/>
                </a:solidFill>
                <a:latin typeface="SB Sans Display Bold" pitchFamily="34" charset="0"/>
                <a:ea typeface="SB Sans Display Bold" pitchFamily="34" charset="-122"/>
                <a:cs typeface="SB Sans Display Bold" pitchFamily="34" charset="-120"/>
              </a:rPr>
              <a:t>История развития высшего образования в России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3383280" y="1076466"/>
            <a:ext cx="5064684" cy="24514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Высшее образование в России имеет богатую историю, начиная с древних университетов, таких как Московский университет, основанный в 1755 году. В советский период была создана единая система высшего образования, включающая университеты, институты и академии. Современная система включает бакалавриат, магистратуру и аспирантуру, а также государственные и частные вузы.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1" descr="https://cdn-app.sberdevices.ru/misc/0.0.0/assets/gigachat-web/f279b7d8_Image-Shape.png">
            <a:extLst>
              <a:ext uri="{FF2B5EF4-FFF2-40B4-BE49-F238E27FC236}">
                <a16:creationId xmlns:a16="http://schemas.microsoft.com/office/drawing/2014/main" id="{55FE8C31-E97B-40F4-9BA1-D596C4257D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57" r="3357"/>
          <a:stretch/>
        </p:blipFill>
        <p:spPr>
          <a:xfrm>
            <a:off x="122439" y="234707"/>
            <a:ext cx="4710494" cy="46209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2439" y="234707"/>
            <a:ext cx="4533786" cy="5657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100" b="1" kern="0" spc="-40" dirty="0">
                <a:solidFill>
                  <a:srgbClr val="000000"/>
                </a:solidFill>
                <a:latin typeface="SB Sans Display Bold" pitchFamily="34" charset="0"/>
                <a:ea typeface="SB Sans Display Bold" pitchFamily="34" charset="-122"/>
                <a:cs typeface="SB Sans Display Bold" pitchFamily="34" charset="-120"/>
              </a:rPr>
              <a:t>Структура высшего образования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260281" y="798787"/>
            <a:ext cx="4258101" cy="1851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just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3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Бакалавриат</a:t>
            </a: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: 4 </a:t>
            </a:r>
            <a:r>
              <a:rPr lang="en-US" sz="13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года</a:t>
            </a: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3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обучения</a:t>
            </a: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, </a:t>
            </a:r>
            <a:r>
              <a:rPr lang="en-US" sz="13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базовая</a:t>
            </a: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3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ступень</a:t>
            </a: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3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высшего</a:t>
            </a: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3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образования</a:t>
            </a:r>
            <a:endParaRPr lang="en-US" sz="1300" dirty="0"/>
          </a:p>
          <a:p>
            <a:pPr marL="177800" indent="-177800" algn="just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3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Специалитет</a:t>
            </a: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: 5-6 </a:t>
            </a:r>
            <a:r>
              <a:rPr lang="en-US" sz="13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лет</a:t>
            </a: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3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обучения</a:t>
            </a: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, </a:t>
            </a:r>
            <a:r>
              <a:rPr lang="en-US" sz="13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углубленная</a:t>
            </a: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3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подготовка</a:t>
            </a: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3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специалистов</a:t>
            </a:r>
            <a:endParaRPr lang="en-US" sz="1300" dirty="0"/>
          </a:p>
          <a:p>
            <a:pPr marL="177800" indent="-177800" algn="just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3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Магистратура</a:t>
            </a: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: 2 </a:t>
            </a:r>
            <a:r>
              <a:rPr lang="en-US" sz="13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года</a:t>
            </a: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3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обучения</a:t>
            </a: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, </a:t>
            </a:r>
            <a:r>
              <a:rPr lang="en-US" sz="13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углубленное</a:t>
            </a: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3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изучение</a:t>
            </a: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3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специальности</a:t>
            </a: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3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после</a:t>
            </a: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3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бакалавриата</a:t>
            </a:r>
            <a:endParaRPr lang="en-US" sz="13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5644E2E-FFD6-45AD-A559-A71BD542E9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2933" y="234707"/>
            <a:ext cx="3997168" cy="4630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725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rod-gc.cdn.giga.chat/7edaa9c8-85ee-49fc-8884-ecce5370b8e1/019ce6b8-c735-7ec7-8b82-9e728707da00.jpg"/>
          <p:cNvPicPr>
            <a:picLocks noChangeAspect="1"/>
          </p:cNvPicPr>
          <p:nvPr/>
        </p:nvPicPr>
        <p:blipFill>
          <a:blip r:embed="rId3"/>
          <a:srcRect t="19372" b="19372"/>
          <a:stretch/>
        </p:blipFill>
        <p:spPr>
          <a:xfrm>
            <a:off x="4572000" y="257175"/>
            <a:ext cx="4310743" cy="4620986"/>
          </a:xfrm>
          <a:prstGeom prst="rect">
            <a:avLst/>
          </a:prstGeom>
        </p:spPr>
      </p:pic>
      <p:pic>
        <p:nvPicPr>
          <p:cNvPr id="3" name="Image 1" descr="https://cdn-app.sberdevices.ru/misc/0.0.0/assets/gigachat-web/f279b7d8_Image-Shape.png"/>
          <p:cNvPicPr>
            <a:picLocks noChangeAspect="1"/>
          </p:cNvPicPr>
          <p:nvPr/>
        </p:nvPicPr>
        <p:blipFill>
          <a:blip r:embed="rId4"/>
          <a:srcRect l="3357" r="3357"/>
          <a:stretch/>
        </p:blipFill>
        <p:spPr>
          <a:xfrm>
            <a:off x="274320" y="257175"/>
            <a:ext cx="4310743" cy="462098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370768"/>
            <a:ext cx="2743200" cy="3086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100" b="1" kern="0" spc="-40" dirty="0">
                <a:solidFill>
                  <a:srgbClr val="000000"/>
                </a:solidFill>
                <a:latin typeface="SB Sans Display Bold" pitchFamily="34" charset="0"/>
                <a:ea typeface="SB Sans Display Bold" pitchFamily="34" charset="-122"/>
                <a:cs typeface="SB Sans Display Bold" pitchFamily="34" charset="-120"/>
              </a:rPr>
              <a:t>Формы обучения</a:t>
            </a:r>
            <a:endParaRPr lang="en-US" sz="2100" dirty="0"/>
          </a:p>
        </p:txBody>
      </p:sp>
      <p:sp>
        <p:nvSpPr>
          <p:cNvPr id="5" name="Text 1"/>
          <p:cNvSpPr/>
          <p:nvPr/>
        </p:nvSpPr>
        <p:spPr>
          <a:xfrm>
            <a:off x="496779" y="870313"/>
            <a:ext cx="3852763" cy="33947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just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Очная форма: обучение в дневное время, полный контакт с преподавателями</a:t>
            </a:r>
            <a:endParaRPr lang="en-US" sz="1300" dirty="0"/>
          </a:p>
          <a:p>
            <a:pPr marL="177800" indent="-177800" algn="just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Заочная форма: самостоятельное изучение, периодические сессии</a:t>
            </a:r>
            <a:endParaRPr lang="en-US" sz="1300" dirty="0"/>
          </a:p>
          <a:p>
            <a:pPr marL="177800" indent="-177800" algn="just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Очно-заочная форма: сочетание очных занятий и самостоятельной работы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1" descr="https://cdn-app.sberdevices.ru/misc/0.0.0/assets/gigachat-web/f279b7d8_Image-Shape.png">
            <a:extLst>
              <a:ext uri="{FF2B5EF4-FFF2-40B4-BE49-F238E27FC236}">
                <a16:creationId xmlns:a16="http://schemas.microsoft.com/office/drawing/2014/main" id="{3E3C389A-5ADA-49DA-8265-4D9AD9A9E7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57" r="3357"/>
          <a:stretch/>
        </p:blipFill>
        <p:spPr>
          <a:xfrm>
            <a:off x="274320" y="257175"/>
            <a:ext cx="6492240" cy="46209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08610"/>
            <a:ext cx="3931920" cy="3086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100" b="1" kern="0" spc="-40" dirty="0">
                <a:solidFill>
                  <a:srgbClr val="000000"/>
                </a:solidFill>
                <a:latin typeface="SB Sans Display Bold" pitchFamily="34" charset="0"/>
                <a:ea typeface="SB Sans Display Bold" pitchFamily="34" charset="-122"/>
                <a:cs typeface="SB Sans Display Bold" pitchFamily="34" charset="-120"/>
              </a:rPr>
              <a:t>Типы вузов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365760" y="771525"/>
            <a:ext cx="6144222" cy="3909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just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Университеты: многопрофильные образовательные учреждения с широким спектром специальностей и научных направлений.</a:t>
            </a:r>
            <a:endParaRPr lang="en-US" sz="1300" dirty="0"/>
          </a:p>
          <a:p>
            <a:pPr marL="177800" indent="-177800" algn="just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Институты: узкоспециализированные учебные заведения с ограниченным числом направлений подготовки.</a:t>
            </a:r>
            <a:endParaRPr lang="en-US" sz="1300" dirty="0"/>
          </a:p>
          <a:p>
            <a:pPr marL="177800" indent="-177800" algn="just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Академии: образовательные учреждения, ориентированные на подготовку специалистов в определенной области науки или искусства.</a:t>
            </a:r>
            <a:endParaRPr lang="en-US" sz="1300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EB2E7616-A1FD-4CBA-984D-861F21B862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249010"/>
            <a:ext cx="2139043" cy="462915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1" descr="https://cdn-app.sberdevices.ru/misc/0.0.0/assets/gigachat-web/f279b7d8_Image-Shape.png">
            <a:extLst>
              <a:ext uri="{FF2B5EF4-FFF2-40B4-BE49-F238E27FC236}">
                <a16:creationId xmlns:a16="http://schemas.microsoft.com/office/drawing/2014/main" id="{26383149-E60E-4F5F-90D1-317A73C5FE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57" r="3357"/>
          <a:stretch/>
        </p:blipFill>
        <p:spPr>
          <a:xfrm>
            <a:off x="274320" y="684460"/>
            <a:ext cx="4845638" cy="37745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750658"/>
            <a:ext cx="3931920" cy="5657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100" b="1" kern="0" spc="-40" dirty="0">
                <a:solidFill>
                  <a:srgbClr val="000000"/>
                </a:solidFill>
                <a:latin typeface="SB Sans Display Bold" pitchFamily="34" charset="0"/>
                <a:ea typeface="SB Sans Display Bold" pitchFamily="34" charset="-122"/>
                <a:cs typeface="SB Sans Display Bold" pitchFamily="34" charset="-120"/>
              </a:rPr>
              <a:t>Государственные и негосударственные вузы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365759" y="1834149"/>
            <a:ext cx="4206241" cy="26231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just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Государственные вузы: финансируются из бюджета, обеспечивают доступное образование для широких слоев населения.</a:t>
            </a:r>
            <a:endParaRPr lang="en-US" sz="1300" dirty="0"/>
          </a:p>
          <a:p>
            <a:pPr marL="177800" indent="-177800" algn="just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Негосударственные вузы: финансируются за счет средств учредителей и обучающихся, предлагают альтернативные образовательные программы и условия обучения.</a:t>
            </a:r>
            <a:endParaRPr lang="en-US" sz="1300" dirty="0"/>
          </a:p>
        </p:txBody>
      </p:sp>
      <p:pic>
        <p:nvPicPr>
          <p:cNvPr id="16" name="Image 0" descr="https://prod-gc.cdn.giga.chat/7edaa9c8-85ee-49fc-8884-ecce5370b8e1/019ce78f-60bf-74b2-a77f-e4bd01eea5e0.jpg">
            <a:extLst>
              <a:ext uri="{FF2B5EF4-FFF2-40B4-BE49-F238E27FC236}">
                <a16:creationId xmlns:a16="http://schemas.microsoft.com/office/drawing/2014/main" id="{4CB6FD6C-B938-4CF7-A354-8A2C596CEF8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674" r="13674"/>
          <a:stretch/>
        </p:blipFill>
        <p:spPr>
          <a:xfrm>
            <a:off x="5119958" y="676295"/>
            <a:ext cx="3841845" cy="37827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1" descr="https://cdn-app.sberdevices.ru/misc/0.0.0/assets/gigachat-web/f279b7d8_Image-Shape.png">
            <a:extLst>
              <a:ext uri="{FF2B5EF4-FFF2-40B4-BE49-F238E27FC236}">
                <a16:creationId xmlns:a16="http://schemas.microsoft.com/office/drawing/2014/main" id="{EE82005B-A989-4DC7-952D-A58568F7D2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57" r="3357"/>
          <a:stretch/>
        </p:blipFill>
        <p:spPr>
          <a:xfrm>
            <a:off x="274320" y="257175"/>
            <a:ext cx="4297680" cy="4620986"/>
          </a:xfrm>
          <a:prstGeom prst="rect">
            <a:avLst/>
          </a:prstGeom>
        </p:spPr>
      </p:pic>
      <p:pic>
        <p:nvPicPr>
          <p:cNvPr id="2" name="Image 0" descr="https://prod-gc.cdn.giga.chat/7edaa9c8-85ee-49fc-8884-ecce5370b8e1/019ce74e-024c-7938-b640-fd9358cf24f4.jpg"/>
          <p:cNvPicPr>
            <a:picLocks noChangeAspect="1"/>
          </p:cNvPicPr>
          <p:nvPr/>
        </p:nvPicPr>
        <p:blipFill>
          <a:blip r:embed="rId4"/>
          <a:srcRect t="19079" b="19079"/>
          <a:stretch/>
        </p:blipFill>
        <p:spPr>
          <a:xfrm>
            <a:off x="4572000" y="257175"/>
            <a:ext cx="4269921" cy="46209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08610"/>
            <a:ext cx="3931920" cy="5657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100" b="1" kern="0" spc="-40" dirty="0">
                <a:solidFill>
                  <a:srgbClr val="000000"/>
                </a:solidFill>
                <a:latin typeface="SB Sans Display Bold" pitchFamily="34" charset="0"/>
                <a:ea typeface="SB Sans Display Bold" pitchFamily="34" charset="-122"/>
                <a:cs typeface="SB Sans Display Bold" pitchFamily="34" charset="-120"/>
              </a:rPr>
              <a:t>Финансирование высшего образования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365759" y="1028700"/>
            <a:ext cx="4042467" cy="30929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just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3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Бюджетное</a:t>
            </a: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3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финансирование</a:t>
            </a: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: </a:t>
            </a:r>
            <a:r>
              <a:rPr lang="en-US" sz="13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обучение</a:t>
            </a: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3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за</a:t>
            </a: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 </a:t>
            </a:r>
            <a:r>
              <a:rPr lang="en-US" sz="13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счет</a:t>
            </a: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3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средств</a:t>
            </a: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3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федерального</a:t>
            </a: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и </a:t>
            </a:r>
            <a:r>
              <a:rPr lang="en-US" sz="13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регионального</a:t>
            </a: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3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бюджетов</a:t>
            </a: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, </a:t>
            </a:r>
            <a:r>
              <a:rPr lang="en-US" sz="13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выделяемых</a:t>
            </a: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3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на</a:t>
            </a: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 </a:t>
            </a:r>
            <a:r>
              <a:rPr lang="en-US" sz="13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подготовку</a:t>
            </a: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3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специалистов</a:t>
            </a: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.</a:t>
            </a:r>
            <a:endParaRPr lang="en-US" sz="1300" dirty="0"/>
          </a:p>
          <a:p>
            <a:pPr marL="177800" indent="-177800" algn="just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3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Платное</a:t>
            </a: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3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обучение</a:t>
            </a: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: </a:t>
            </a:r>
            <a:r>
              <a:rPr lang="en-US" sz="13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обучение</a:t>
            </a: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3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за</a:t>
            </a: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 </a:t>
            </a:r>
            <a:r>
              <a:rPr lang="en-US" sz="13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счет</a:t>
            </a: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3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средств</a:t>
            </a: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3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граждан</a:t>
            </a: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3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или</a:t>
            </a: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3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организаций</a:t>
            </a: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, </a:t>
            </a:r>
            <a:r>
              <a:rPr lang="en-US" sz="13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не</a:t>
            </a: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 </a:t>
            </a:r>
            <a:r>
              <a:rPr lang="en-US" sz="13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включенных</a:t>
            </a: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в </a:t>
            </a:r>
            <a:r>
              <a:rPr lang="en-US" sz="13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бюджетную</a:t>
            </a: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3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систему</a:t>
            </a: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.</a:t>
            </a:r>
            <a:endParaRPr lang="ru-RU" sz="1300" kern="0" spc="-30" dirty="0">
              <a:solidFill>
                <a:srgbClr val="000000"/>
              </a:solidFill>
              <a:latin typeface="SB Sans Text" pitchFamily="34" charset="0"/>
              <a:ea typeface="SB Sans Text" pitchFamily="34" charset="-122"/>
              <a:cs typeface="SB Sans Text" pitchFamily="34" charset="-120"/>
            </a:endParaRPr>
          </a:p>
          <a:p>
            <a:pPr marL="177800" indent="-177800" algn="just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FontTx/>
              <a:buChar char="•"/>
            </a:pPr>
            <a:r>
              <a:rPr lang="en-US" sz="13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Гранты</a:t>
            </a: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и </a:t>
            </a:r>
            <a:r>
              <a:rPr lang="en-US" sz="13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стипендии</a:t>
            </a: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: </a:t>
            </a:r>
            <a:r>
              <a:rPr lang="en-US" sz="13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поддержка</a:t>
            </a: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3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талантливых</a:t>
            </a: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3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студентов</a:t>
            </a: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и </a:t>
            </a:r>
            <a:r>
              <a:rPr lang="en-US" sz="13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аспирантов</a:t>
            </a: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, </a:t>
            </a:r>
            <a:r>
              <a:rPr lang="en-US" sz="13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ежегодно</a:t>
            </a: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3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выделяется</a:t>
            </a: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3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более</a:t>
            </a: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100 </a:t>
            </a:r>
            <a:r>
              <a:rPr lang="en-US" sz="13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тысяч</a:t>
            </a: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3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грантов</a:t>
            </a: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1" descr="https://cdn-app.sberdevices.ru/misc/0.0.0/assets/gigachat-web/f279b7d8_Image-Shape.png">
            <a:extLst>
              <a:ext uri="{FF2B5EF4-FFF2-40B4-BE49-F238E27FC236}">
                <a16:creationId xmlns:a16="http://schemas.microsoft.com/office/drawing/2014/main" id="{B24AE784-016B-40BD-9678-3A9E41D1FD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57" r="3357"/>
          <a:stretch/>
        </p:blipFill>
        <p:spPr>
          <a:xfrm>
            <a:off x="4619768" y="838909"/>
            <a:ext cx="4310743" cy="3479968"/>
          </a:xfrm>
          <a:prstGeom prst="rect">
            <a:avLst/>
          </a:prstGeom>
        </p:spPr>
      </p:pic>
      <p:pic>
        <p:nvPicPr>
          <p:cNvPr id="2" name="Image 0" descr="https://prod-gc.cdn.giga.chat/7edaa9c8-85ee-49fc-8884-ecce5370b8e1/019ce78f-4df1-743a-9652-54b003326f0e.jpg"/>
          <p:cNvPicPr>
            <a:picLocks noChangeAspect="1"/>
          </p:cNvPicPr>
          <p:nvPr/>
        </p:nvPicPr>
        <p:blipFill>
          <a:blip r:embed="rId4"/>
          <a:srcRect l="13674" r="13674"/>
          <a:stretch/>
        </p:blipFill>
        <p:spPr>
          <a:xfrm>
            <a:off x="195358" y="838909"/>
            <a:ext cx="4424410" cy="34799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87461" y="838909"/>
            <a:ext cx="3164719" cy="5657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100" b="1" kern="0" spc="-40" dirty="0">
                <a:solidFill>
                  <a:srgbClr val="000000"/>
                </a:solidFill>
                <a:latin typeface="SB Sans Display Bold" pitchFamily="34" charset="0"/>
                <a:ea typeface="SB Sans Display Bold" pitchFamily="34" charset="-122"/>
                <a:cs typeface="SB Sans Display Bold" pitchFamily="34" charset="-120"/>
              </a:rPr>
              <a:t>Международный опыт и сотрудничество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4873813" y="1466110"/>
            <a:ext cx="3931920" cy="36518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just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Обмен студентами: более 100 тысяч российских студентов ежегодно участвуют в международных программах обмена.</a:t>
            </a:r>
            <a:endParaRPr lang="en-US" sz="1300" dirty="0"/>
          </a:p>
          <a:p>
            <a:pPr marL="177800" indent="-177800" algn="just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Совместные программы: российские вузы реализуют более 500 совместных образовательных программ с зарубежными университетами.</a:t>
            </a:r>
            <a:endParaRPr lang="en-US" sz="1300" dirty="0"/>
          </a:p>
          <a:p>
            <a:pPr marL="177800" indent="-177800" algn="just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Международные рейтинги: российские университеты стабильно входят в топ-500 мировых рейтингов.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1" descr="https://cdn-app.sberdevices.ru/misc/0.0.0/assets/gigachat-web/f279b7d8_Image-Shape.png">
            <a:extLst>
              <a:ext uri="{FF2B5EF4-FFF2-40B4-BE49-F238E27FC236}">
                <a16:creationId xmlns:a16="http://schemas.microsoft.com/office/drawing/2014/main" id="{D494DECA-CC0D-435B-8C81-9364512241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57" r="3357"/>
          <a:stretch/>
        </p:blipFill>
        <p:spPr>
          <a:xfrm>
            <a:off x="251704" y="257176"/>
            <a:ext cx="4320296" cy="4620986"/>
          </a:xfrm>
          <a:prstGeom prst="rect">
            <a:avLst/>
          </a:prstGeom>
        </p:spPr>
      </p:pic>
      <p:pic>
        <p:nvPicPr>
          <p:cNvPr id="2" name="Image 0" descr="https://prod-gc.cdn.giga.chat/7edaa9c8-85ee-49fc-8884-ecce5370b8e1/019ce78f-520a-730e-a0b3-ccf2c840efa6.jpg"/>
          <p:cNvPicPr>
            <a:picLocks noChangeAspect="1"/>
          </p:cNvPicPr>
          <p:nvPr/>
        </p:nvPicPr>
        <p:blipFill>
          <a:blip r:embed="rId4"/>
          <a:srcRect t="19079" b="19079"/>
          <a:stretch/>
        </p:blipFill>
        <p:spPr>
          <a:xfrm>
            <a:off x="4572000" y="257175"/>
            <a:ext cx="4269921" cy="46209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08610"/>
            <a:ext cx="3931920" cy="3086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100" b="1" kern="0" spc="-40" dirty="0">
                <a:solidFill>
                  <a:srgbClr val="000000"/>
                </a:solidFill>
                <a:latin typeface="SB Sans Display Bold" pitchFamily="34" charset="0"/>
                <a:ea typeface="SB Sans Display Bold" pitchFamily="34" charset="-122"/>
                <a:cs typeface="SB Sans Display Bold" pitchFamily="34" charset="-120"/>
              </a:rPr>
              <a:t>Перспективы развития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365760" y="771525"/>
            <a:ext cx="3931920" cy="3909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just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Цифровизация образования: внедрение онлайн-курсов и цифровых платформ для повышения доступности и качества обучения.</a:t>
            </a:r>
            <a:endParaRPr lang="en-US" sz="1300" dirty="0"/>
          </a:p>
          <a:p>
            <a:pPr marL="177800" indent="-177800" algn="just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Интеграция с рынком труда: развитие программ, ориентированных на потребности работодателей и современные технологии.</a:t>
            </a:r>
            <a:endParaRPr lang="en-US" sz="1300" dirty="0"/>
          </a:p>
          <a:p>
            <a:pPr marL="177800" indent="-177800" algn="just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Поддержка талантливой молодежи: создание условий для развития научных и инновационных проектов, привлечение молодых специалистов в науку и промышленность.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rod-gc.cdn.giga.chat/7edaa9c8-85ee-49fc-8884-ecce5370b8e1/019ce6b9-1d6d-77db-8ad5-03d38adf0ef8.jpg"/>
          <p:cNvPicPr>
            <a:picLocks noChangeAspect="1"/>
          </p:cNvPicPr>
          <p:nvPr/>
        </p:nvPicPr>
        <p:blipFill>
          <a:blip r:embed="rId3"/>
          <a:srcRect t="19372" b="19372"/>
          <a:stretch/>
        </p:blipFill>
        <p:spPr>
          <a:xfrm>
            <a:off x="4572000" y="257175"/>
            <a:ext cx="4310743" cy="4620986"/>
          </a:xfrm>
          <a:prstGeom prst="rect">
            <a:avLst/>
          </a:prstGeom>
        </p:spPr>
      </p:pic>
      <p:pic>
        <p:nvPicPr>
          <p:cNvPr id="3" name="Image 1" descr="https://cdn-app.sberdevices.ru/misc/0.0.0/assets/gigachat-web/f279b7d8_Image-Shape.png"/>
          <p:cNvPicPr>
            <a:picLocks noChangeAspect="1"/>
          </p:cNvPicPr>
          <p:nvPr/>
        </p:nvPicPr>
        <p:blipFill>
          <a:blip r:embed="rId4"/>
          <a:srcRect l="3357" r="3357"/>
          <a:stretch/>
        </p:blipFill>
        <p:spPr>
          <a:xfrm>
            <a:off x="274320" y="257175"/>
            <a:ext cx="4310743" cy="462098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72895" y="514350"/>
            <a:ext cx="3948297" cy="5657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100" b="1" kern="0" spc="-40" dirty="0">
                <a:solidFill>
                  <a:srgbClr val="000000"/>
                </a:solidFill>
                <a:latin typeface="SB Sans Display Bold" pitchFamily="34" charset="0"/>
                <a:ea typeface="SB Sans Display Bold" pitchFamily="34" charset="-122"/>
                <a:cs typeface="SB Sans Display Bold" pitchFamily="34" charset="-120"/>
              </a:rPr>
              <a:t>Послевузовское образование</a:t>
            </a:r>
            <a:endParaRPr lang="en-US" sz="2100" dirty="0"/>
          </a:p>
        </p:txBody>
      </p:sp>
      <p:sp>
        <p:nvSpPr>
          <p:cNvPr id="5" name="Text 1"/>
          <p:cNvSpPr/>
          <p:nvPr/>
        </p:nvSpPr>
        <p:spPr>
          <a:xfrm>
            <a:off x="496778" y="1080135"/>
            <a:ext cx="3900530" cy="32142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just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Аспирантура: подготовка научных кадров с присвоением степени кандидата наук</a:t>
            </a:r>
            <a:endParaRPr lang="en-US" sz="1300" dirty="0"/>
          </a:p>
          <a:p>
            <a:pPr marL="177800" indent="-177800" algn="just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Докторантура: подготовка докторов наук для научной и </a:t>
            </a:r>
            <a:r>
              <a:rPr lang="en-US" sz="13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педагогической</a:t>
            </a: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3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деятельности</a:t>
            </a:r>
            <a:endParaRPr lang="ru-RU" sz="1300" kern="0" spc="-30" dirty="0">
              <a:solidFill>
                <a:srgbClr val="000000"/>
              </a:solidFill>
              <a:latin typeface="SB Sans Text" pitchFamily="34" charset="0"/>
              <a:ea typeface="SB Sans Text" pitchFamily="34" charset="-122"/>
              <a:cs typeface="SB Sans Text" pitchFamily="34" charset="-120"/>
            </a:endParaRPr>
          </a:p>
          <a:p>
            <a:pPr marL="177800" indent="-177800" algn="just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3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Программы</a:t>
            </a: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3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повышения</a:t>
            </a: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3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квалификации</a:t>
            </a: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: </a:t>
            </a:r>
            <a:r>
              <a:rPr lang="en-US" sz="13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краткосрочные</a:t>
            </a: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3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курсы</a:t>
            </a: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, </a:t>
            </a:r>
            <a:r>
              <a:rPr lang="en-US" sz="13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семинары</a:t>
            </a:r>
            <a:r>
              <a:rPr lang="ru-RU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1" descr="https://cdn-app.sberdevices.ru/misc/0.0.0/assets/gigachat-web/f279b7d8_Image-Shape.png">
            <a:extLst>
              <a:ext uri="{FF2B5EF4-FFF2-40B4-BE49-F238E27FC236}">
                <a16:creationId xmlns:a16="http://schemas.microsoft.com/office/drawing/2014/main" id="{0FDFC456-E7E7-4DAD-95F0-7AD5C93C3A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57" r="3357"/>
          <a:stretch/>
        </p:blipFill>
        <p:spPr>
          <a:xfrm>
            <a:off x="4531348" y="902152"/>
            <a:ext cx="4310743" cy="3339193"/>
          </a:xfrm>
          <a:prstGeom prst="rect">
            <a:avLst/>
          </a:prstGeom>
        </p:spPr>
      </p:pic>
      <p:pic>
        <p:nvPicPr>
          <p:cNvPr id="2" name="Image 0" descr="https://prod-gc.cdn.giga.chat/7edaa9c8-85ee-49fc-8884-ecce5370b8e1/019ce813-ba4f-79ba-9bc7-fea2c3c59f2c.jpg"/>
          <p:cNvPicPr>
            <a:picLocks noChangeAspect="1"/>
          </p:cNvPicPr>
          <p:nvPr/>
        </p:nvPicPr>
        <p:blipFill>
          <a:blip r:embed="rId4"/>
          <a:srcRect l="13674" r="13674"/>
          <a:stretch/>
        </p:blipFill>
        <p:spPr>
          <a:xfrm>
            <a:off x="292451" y="902153"/>
            <a:ext cx="4245429" cy="333919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51155" y="999602"/>
            <a:ext cx="3931920" cy="3086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100" b="1" kern="0" spc="-40" dirty="0">
                <a:solidFill>
                  <a:srgbClr val="000000"/>
                </a:solidFill>
                <a:latin typeface="SB Sans Display Bold" pitchFamily="34" charset="0"/>
                <a:ea typeface="SB Sans Display Bold" pitchFamily="34" charset="-122"/>
                <a:cs typeface="SB Sans Display Bold" pitchFamily="34" charset="-120"/>
              </a:rPr>
              <a:t>Научные степени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4720760" y="1594485"/>
            <a:ext cx="3931920" cy="23660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just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Кандидат наук: первая ученая степень, присваивается после защиты диссертации в аспирантуре</a:t>
            </a:r>
            <a:endParaRPr lang="en-US" sz="1300" dirty="0"/>
          </a:p>
          <a:p>
            <a:pPr marL="177800" indent="-177800" algn="just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Доктор наук: высшая ученая степень, присваивается после защиты докторской диссертации в докторантуре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1" descr="https://cdn-app.sberdevices.ru/misc/0.0.0/assets/gigachat-web/f279b7d8_Image-Shape.png">
            <a:extLst>
              <a:ext uri="{FF2B5EF4-FFF2-40B4-BE49-F238E27FC236}">
                <a16:creationId xmlns:a16="http://schemas.microsoft.com/office/drawing/2014/main" id="{7EC17016-7DAB-42C2-89E7-6726DCC506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57" r="3357"/>
          <a:stretch/>
        </p:blipFill>
        <p:spPr>
          <a:xfrm>
            <a:off x="274320" y="1010787"/>
            <a:ext cx="4310743" cy="3339193"/>
          </a:xfrm>
          <a:prstGeom prst="rect">
            <a:avLst/>
          </a:prstGeom>
        </p:spPr>
      </p:pic>
      <p:pic>
        <p:nvPicPr>
          <p:cNvPr id="2" name="Image 0" descr="https://prod-gc.cdn.giga.chat/7edaa9c8-85ee-49fc-8884-ecce5370b8e1/019ce820-ac23-7b09-be97-72515898968f.jpg"/>
          <p:cNvPicPr>
            <a:picLocks noChangeAspect="1"/>
          </p:cNvPicPr>
          <p:nvPr/>
        </p:nvPicPr>
        <p:blipFill>
          <a:blip r:embed="rId4"/>
          <a:srcRect l="13674" r="13674"/>
          <a:stretch/>
        </p:blipFill>
        <p:spPr>
          <a:xfrm>
            <a:off x="4572000" y="1010787"/>
            <a:ext cx="4245429" cy="333919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3731" y="1175200"/>
            <a:ext cx="3931920" cy="3086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100" b="1" kern="0" spc="-40" dirty="0">
                <a:solidFill>
                  <a:srgbClr val="000000"/>
                </a:solidFill>
                <a:latin typeface="SB Sans Display Bold" pitchFamily="34" charset="0"/>
                <a:ea typeface="SB Sans Display Bold" pitchFamily="34" charset="-122"/>
                <a:cs typeface="SB Sans Display Bold" pitchFamily="34" charset="-120"/>
              </a:rPr>
              <a:t>Аспирантура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365760" y="1594485"/>
            <a:ext cx="3931920" cy="31375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Цель аспирантуры: подготовка научных и научно-педагогических кадров высшей квалификации.</a:t>
            </a:r>
            <a:endParaRPr lang="en-US" sz="1300" dirty="0"/>
          </a:p>
          <a:p>
            <a:pPr marL="177800" indent="-17780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Продолжительность обучения: 3 года очно, 4 года </a:t>
            </a:r>
            <a:r>
              <a:rPr lang="en-US" sz="13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заочно</a:t>
            </a: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1" descr="https://cdn-app.sberdevices.ru/misc/0.0.0/assets/gigachat-web/f279b7d8_Image-Shape.png">
            <a:extLst>
              <a:ext uri="{FF2B5EF4-FFF2-40B4-BE49-F238E27FC236}">
                <a16:creationId xmlns:a16="http://schemas.microsoft.com/office/drawing/2014/main" id="{157F4EFD-9101-4186-A627-44D239377B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57" r="3357"/>
          <a:stretch/>
        </p:blipFill>
        <p:spPr>
          <a:xfrm>
            <a:off x="2649032" y="265339"/>
            <a:ext cx="6099184" cy="4612822"/>
          </a:xfrm>
          <a:prstGeom prst="rect">
            <a:avLst/>
          </a:prstGeom>
        </p:spPr>
      </p:pic>
      <p:pic>
        <p:nvPicPr>
          <p:cNvPr id="2" name="Image 0" descr="https://prod-gc.cdn.giga.chat/7edaa9c8-85ee-49fc-8884-ecce5370b8e1/019ce820-d6f7-71da-a6df-63fd95119173.jpg"/>
          <p:cNvPicPr>
            <a:picLocks noChangeAspect="1"/>
          </p:cNvPicPr>
          <p:nvPr/>
        </p:nvPicPr>
        <p:blipFill>
          <a:blip r:embed="rId4"/>
          <a:srcRect l="6714" r="6714"/>
          <a:stretch/>
        </p:blipFill>
        <p:spPr>
          <a:xfrm>
            <a:off x="363032" y="257175"/>
            <a:ext cx="2286000" cy="46209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923352" y="364127"/>
            <a:ext cx="3931920" cy="3086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100" b="1" kern="0" spc="-40" dirty="0">
                <a:solidFill>
                  <a:srgbClr val="000000"/>
                </a:solidFill>
                <a:latin typeface="SB Sans Display Bold" pitchFamily="34" charset="0"/>
                <a:ea typeface="SB Sans Display Bold" pitchFamily="34" charset="-122"/>
                <a:cs typeface="SB Sans Display Bold" pitchFamily="34" charset="-120"/>
              </a:rPr>
              <a:t>Докторантура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2898786" y="853412"/>
            <a:ext cx="5599676" cy="36518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just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Цель докторантуры: подготовка высококвалифицированных научных кадров, способных вести самостоятельные исследования и преподавать в вузах.</a:t>
            </a:r>
            <a:endParaRPr lang="en-US" sz="1300" dirty="0"/>
          </a:p>
          <a:p>
            <a:pPr marL="177800" indent="-177800" algn="just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Продолжительность обучения: 3–4 года, в зависимости от формы обучения (очная или </a:t>
            </a:r>
            <a:r>
              <a:rPr lang="en-US" sz="13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заочная</a:t>
            </a: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).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1" descr="https://cdn-app.sberdevices.ru/misc/0.0.0/assets/gigachat-web/f279b7d8_Image-Shape.png">
            <a:extLst>
              <a:ext uri="{FF2B5EF4-FFF2-40B4-BE49-F238E27FC236}">
                <a16:creationId xmlns:a16="http://schemas.microsoft.com/office/drawing/2014/main" id="{56D43048-62A2-4433-8657-258576AFC1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57" r="3357"/>
          <a:stretch/>
        </p:blipFill>
        <p:spPr>
          <a:xfrm>
            <a:off x="2832640" y="385293"/>
            <a:ext cx="6031676" cy="4348264"/>
          </a:xfrm>
          <a:prstGeom prst="rect">
            <a:avLst/>
          </a:prstGeom>
        </p:spPr>
      </p:pic>
      <p:pic>
        <p:nvPicPr>
          <p:cNvPr id="2" name="Image 0" descr="https://prod-gc.cdn.giga.chat/7edaa9c8-85ee-49fc-8884-ecce5370b8e1/019ce820-ad5e-7bc9-b0ad-0bc8ac708a5f.jpg"/>
          <p:cNvPicPr>
            <a:picLocks noChangeAspect="1"/>
          </p:cNvPicPr>
          <p:nvPr/>
        </p:nvPicPr>
        <p:blipFill>
          <a:blip r:embed="rId4"/>
          <a:srcRect t="276" b="276"/>
          <a:stretch/>
        </p:blipFill>
        <p:spPr>
          <a:xfrm>
            <a:off x="332008" y="381627"/>
            <a:ext cx="2500632" cy="43519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163550" y="468460"/>
            <a:ext cx="5475482" cy="5657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100" b="1" kern="0" spc="-40" dirty="0">
                <a:solidFill>
                  <a:srgbClr val="000000"/>
                </a:solidFill>
                <a:latin typeface="SB Sans Display Bold" pitchFamily="34" charset="0"/>
                <a:ea typeface="SB Sans Display Bold" pitchFamily="34" charset="-122"/>
                <a:cs typeface="SB Sans Display Bold" pitchFamily="34" charset="-120"/>
              </a:rPr>
              <a:t>Программы повышения квалификации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3295568" y="939991"/>
            <a:ext cx="5475481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just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Виды программ: тематические курсы, семинары, тренинги, стажировки.</a:t>
            </a:r>
            <a:endParaRPr lang="en-US" sz="1300" dirty="0"/>
          </a:p>
          <a:p>
            <a:pPr marL="177800" indent="-177800" algn="just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Формы обучения: очная, заочная, дистанционная, смешанная.</a:t>
            </a:r>
            <a:endParaRPr lang="en-US" sz="1300" dirty="0"/>
          </a:p>
          <a:p>
            <a:pPr marL="177800" indent="-177800" algn="just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3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Преимущества: актуализация знаний, повышение профессиональной компетентности, карьерный рост.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</TotalTime>
  <Words>668</Words>
  <Application>Microsoft Office PowerPoint</Application>
  <PresentationFormat>Экран (16:9)</PresentationFormat>
  <Paragraphs>73</Paragraphs>
  <Slides>16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2" baseType="lpstr">
      <vt:lpstr>SB Sans Display Bold</vt:lpstr>
      <vt:lpstr>Arial</vt:lpstr>
      <vt:lpstr>SB Sans Text</vt:lpstr>
      <vt:lpstr>Calibri</vt:lpstr>
      <vt:lpstr>Calibri Light</vt:lpstr>
      <vt:lpstr>Office Theme</vt:lpstr>
      <vt:lpstr>Министерство науки и высшего образования Российской Федерации федеральное государственное бюджетное образовательное учреждение  высшего образования «Самарский государственный технический университет» (ФГБОУ ВО «СамГТУ»)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Егор Бекиш</cp:lastModifiedBy>
  <cp:revision>19</cp:revision>
  <dcterms:created xsi:type="dcterms:W3CDTF">2026-03-13T12:59:22Z</dcterms:created>
  <dcterms:modified xsi:type="dcterms:W3CDTF">2026-03-13T17:15:53Z</dcterms:modified>
</cp:coreProperties>
</file>