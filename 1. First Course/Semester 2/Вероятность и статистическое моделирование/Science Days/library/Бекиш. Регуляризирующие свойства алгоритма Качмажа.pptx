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2" r:id="rId4"/>
    <p:sldId id="258" r:id="rId5"/>
    <p:sldId id="259" r:id="rId6"/>
    <p:sldId id="260" r:id="rId7"/>
    <p:sldId id="265" r:id="rId8"/>
    <p:sldId id="274" r:id="rId9"/>
    <p:sldId id="266" r:id="rId10"/>
    <p:sldId id="268" r:id="rId11"/>
    <p:sldId id="270" r:id="rId12"/>
    <p:sldId id="271" r:id="rId13"/>
    <p:sldId id="276" r:id="rId14"/>
    <p:sldId id="275" r:id="rId15"/>
    <p:sldId id="277" r:id="rId16"/>
    <p:sldId id="269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2E9E7-5BFE-439D-8920-F2348EA47E9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DF61FB-4BD5-4DE4-B5B2-E3673B7805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69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81CBC-8638-483B-A2C4-7A922C5F4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A6A565-6DFC-4F92-A9A7-522B6A47C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987D94-E1E1-4FD6-A07A-44FDD9D67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3610-35FF-4BEF-95D0-FB9713E81EA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AEDAA9-8EFB-42D2-BDA2-589F6009D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D0C190-93E3-4F38-892B-2514B44EB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B347-8A99-4956-BD8D-6E1A6EAC23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152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B33B25-2373-4C24-9BD0-D9FC810B6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29C659-8A9B-4BE2-AD77-5FD964F3C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5F27EC-70B4-4B3E-8809-BB1E39A8C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3610-35FF-4BEF-95D0-FB9713E81EA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16A282-CA82-4E8E-BB0D-ECAD90765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E6F7C2-48D9-4844-94C8-63A0A8F5A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B347-8A99-4956-BD8D-6E1A6EAC23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63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A05BCA-9BBA-4E11-A9F1-5AC0FB3D6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EC1507-B605-4900-9D2F-69F93B965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1926D1-780C-4AAF-A604-244D70F74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3610-35FF-4BEF-95D0-FB9713E81EA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1F1410-3154-40CD-B8C9-48A69E92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8F35A7-DBB8-4C92-BE45-2C3A09BFC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B347-8A99-4956-BD8D-6E1A6EAC23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077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1AF001-D32A-4FBD-A2DA-019AF618E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B28E38-C881-4B37-97D3-7928B6B62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FBEF8F-EE6E-42A3-BDB5-8445D88CD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4246320-D60F-4AA6-81D1-607F425DC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3610-35FF-4BEF-95D0-FB9713E81EA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709CC4-2BB1-4EF0-A0B0-5D72320E1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9751E6-B8FF-4E1C-84C2-AFAD4862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B347-8A99-4956-BD8D-6E1A6EAC23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3660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8BE11F-678C-4829-8832-02C73AFB0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F8184B-D7BF-4E78-B7C7-335003DB1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96A244-C76E-402D-9A1F-9F6535AF3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36380B1-A498-417D-8FC1-F278AB71D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A108235-F701-4AD7-9740-F82351E3B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68D711-B931-4674-A444-A36C87C7E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3610-35FF-4BEF-95D0-FB9713E81EA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54F60C5-B296-46B6-8ACF-D8563343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9F79EEE-CFA8-4F96-AC8C-EB80BDF3A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B347-8A99-4956-BD8D-6E1A6EAC23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9687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47E5B9-5A91-418E-8AB3-2BF421C5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E49E58B-B516-43FE-9E7E-4286DC6E9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3610-35FF-4BEF-95D0-FB9713E81EA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C0B47C-C86F-40EA-84B1-BFD2D5B08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86BE78-AF1B-47B3-9734-A414F491C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B347-8A99-4956-BD8D-6E1A6EAC23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077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B9E1333-4C49-4F0F-88A3-6AAC8B2F7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3610-35FF-4BEF-95D0-FB9713E81EA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A7B9346-39D0-498E-9F17-A2DF3A19B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C5D56E-C046-48E8-9F91-908AE3D3F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B347-8A99-4956-BD8D-6E1A6EAC23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952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AED8F-4463-44DE-973D-B30415E60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3AD58A-32B3-479C-B307-644268C5A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026829-B206-4DAA-9D7E-58DFC291C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64E98D-929A-43CE-8DC2-45B75EBBA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3610-35FF-4BEF-95D0-FB9713E81EA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4BF071-073A-4ED7-A260-A82F3BCC2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255AA3-2D28-45F5-A4EE-A063A2A43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B347-8A99-4956-BD8D-6E1A6EAC23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826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A9C73-9532-479B-8BC9-E0820097F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2A59FB5-FD6D-40DC-8F6F-F7D9B71EC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CC1BF3-60C0-44AA-AB52-A4486201D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96CE75-5CDE-4BA1-A2D9-0E06016AB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3610-35FF-4BEF-95D0-FB9713E81EA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0AD2B7-198F-4314-B7B7-58814A1D4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ABA379-681A-47B0-B856-2DD607F9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B347-8A99-4956-BD8D-6E1A6EAC23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036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220B85-1E52-474F-A0A5-B5CA12C64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F645AAA-1DE0-45E3-B597-23A91CA37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2D773-36C6-40B8-B1B5-3DB3ADB79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3610-35FF-4BEF-95D0-FB9713E81EA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4EC850-6F4A-4B96-8B8E-6871E3DF2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929C76-6B70-463D-8468-4B434FF52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B347-8A99-4956-BD8D-6E1A6EAC23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126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0190C6D-0DD2-4323-AC42-4AE41CB70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610B4E-1A4F-4A8C-852A-128523072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BFC196-81AE-4080-9B2B-80A3A65D8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13610-35FF-4BEF-95D0-FB9713E81EA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8623F8-5181-4972-889B-4EFC08EA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1C4851-E72E-4818-89F8-054D2025F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B347-8A99-4956-BD8D-6E1A6EAC23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4801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8E7730-961A-4E99-9EDC-7D3E16E6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29D109-F224-49A8-8CB0-A3555EB0C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006357-D68C-4467-A6C5-669C741E1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13610-35FF-4BEF-95D0-FB9713E81EA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CD162D-8CCB-4B9C-8A20-D9E9DE71D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11CC25-1536-4BAC-BD5D-0D4F46312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7B347-8A99-4956-BD8D-6E1A6EAC23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912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C97DD-D302-4789-9F41-D47B8854A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63301"/>
            <a:ext cx="9144000" cy="1531398"/>
          </a:xfrm>
        </p:spPr>
        <p:txBody>
          <a:bodyPr>
            <a:normAutofit fontScale="90000"/>
          </a:bodyPr>
          <a:lstStyle/>
          <a:p>
            <a:r>
              <a:rPr lang="ru-RU" sz="54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Регуляризирующие свойства алгоритма </a:t>
            </a:r>
            <a:r>
              <a:rPr lang="ru-RU" sz="5400" b="0" i="0" dirty="0" err="1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Качмажа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36D803-D8B6-4301-96D7-1B5064655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5564188"/>
            <a:ext cx="9144000" cy="1293812"/>
          </a:xfrm>
        </p:spPr>
        <p:txBody>
          <a:bodyPr>
            <a:normAutofit/>
          </a:bodyPr>
          <a:lstStyle/>
          <a:p>
            <a:pPr algn="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Бекиш Егор Павлович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1-ИИЭиГО-25ИАИТ-113М</a:t>
            </a:r>
            <a:endParaRPr lang="en-US" sz="2000" dirty="0">
              <a:solidFill>
                <a:srgbClr val="2125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Сидоров Юрий Вячеславович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A7EFBD-D84E-4759-A249-FFB296A27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1531398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F7D9277-1541-4542-BDC9-D1FDD0D00A1C}"/>
              </a:ext>
            </a:extLst>
          </p:cNvPr>
          <p:cNvSpPr txBox="1">
            <a:spLocks/>
          </p:cNvSpPr>
          <p:nvPr/>
        </p:nvSpPr>
        <p:spPr>
          <a:xfrm>
            <a:off x="2859881" y="95789"/>
            <a:ext cx="9520237" cy="15313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ru-RU" sz="1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</a:t>
            </a:r>
            <a:br>
              <a:rPr lang="ru-RU" sz="1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br>
              <a:rPr lang="ru-RU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«Самарский государственный технический университет»</a:t>
            </a:r>
            <a:br>
              <a:rPr lang="ru-RU" sz="1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(ФГБОУ ВО «</a:t>
            </a:r>
            <a:r>
              <a:rPr lang="ru-RU" sz="18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СамГТУ</a:t>
            </a:r>
            <a:r>
              <a:rPr lang="ru-RU" sz="1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»)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942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A448E5-2218-480E-B44C-1F834BA7CE7B}"/>
              </a:ext>
            </a:extLst>
          </p:cNvPr>
          <p:cNvSpPr txBox="1"/>
          <p:nvPr/>
        </p:nvSpPr>
        <p:spPr>
          <a:xfrm>
            <a:off x="361950" y="105459"/>
            <a:ext cx="3486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AD2EF-DDC0-4ADB-A4DA-40AA57F1840D}"/>
              </a:ext>
            </a:extLst>
          </p:cNvPr>
          <p:cNvSpPr txBox="1"/>
          <p:nvPr/>
        </p:nvSpPr>
        <p:spPr>
          <a:xfrm>
            <a:off x="957262" y="946994"/>
            <a:ext cx="1027747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данной работе исследуются регуляризирующие свойства проекционного алгоритма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Качмажа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решения задач восстановления изображений. </a:t>
            </a:r>
          </a:p>
          <a:p>
            <a:pPr indent="450000"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Рассмотрены два подхода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450000" indent="4500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Классический вариант.</a:t>
            </a:r>
          </a:p>
          <a:p>
            <a:pPr marL="450000" indent="4500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классического алгоритма к расширенной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регуляризованной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системе. </a:t>
            </a:r>
          </a:p>
        </p:txBody>
      </p:sp>
      <p:sp>
        <p:nvSpPr>
          <p:cNvPr id="3" name="Блок-схема: узел 2">
            <a:extLst>
              <a:ext uri="{FF2B5EF4-FFF2-40B4-BE49-F238E27FC236}">
                <a16:creationId xmlns:a16="http://schemas.microsoft.com/office/drawing/2014/main" id="{3F3AAF7E-2B70-4BBD-AE07-3535138CBA93}"/>
              </a:ext>
            </a:extLst>
          </p:cNvPr>
          <p:cNvSpPr/>
          <p:nvPr/>
        </p:nvSpPr>
        <p:spPr>
          <a:xfrm>
            <a:off x="11234738" y="6096000"/>
            <a:ext cx="623887" cy="58102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8D60E-8E58-4145-8EDE-629BDA8FD28C}"/>
              </a:ext>
            </a:extLst>
          </p:cNvPr>
          <p:cNvSpPr txBox="1"/>
          <p:nvPr/>
        </p:nvSpPr>
        <p:spPr>
          <a:xfrm>
            <a:off x="11382375" y="6201846"/>
            <a:ext cx="40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27030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1B8576-1B6F-423D-8613-793779BC5639}"/>
              </a:ext>
            </a:extLst>
          </p:cNvPr>
          <p:cNvSpPr txBox="1"/>
          <p:nvPr/>
        </p:nvSpPr>
        <p:spPr>
          <a:xfrm>
            <a:off x="228600" y="152400"/>
            <a:ext cx="6029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9E424-BFDE-420B-AAF9-575A90A84054}"/>
              </a:ext>
            </a:extLst>
          </p:cNvPr>
          <p:cNvSpPr txBox="1"/>
          <p:nvPr/>
        </p:nvSpPr>
        <p:spPr>
          <a:xfrm>
            <a:off x="857250" y="1304925"/>
            <a:ext cx="10553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Изображение сводится к системы линейной алгебраических уравнений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95D3EA-10CA-4C7C-841B-EEB90C97700C}"/>
                  </a:ext>
                </a:extLst>
              </p:cNvPr>
              <p:cNvSpPr txBox="1"/>
              <p:nvPr/>
            </p:nvSpPr>
            <p:spPr>
              <a:xfrm>
                <a:off x="5582109" y="2080231"/>
                <a:ext cx="1027782" cy="385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95D3EA-10CA-4C7C-841B-EEB90C977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2109" y="2080231"/>
                <a:ext cx="1027782" cy="385105"/>
              </a:xfrm>
              <a:prstGeom prst="rect">
                <a:avLst/>
              </a:prstGeom>
              <a:blipFill>
                <a:blip r:embed="rId2"/>
                <a:stretch>
                  <a:fillRect l="-7143" t="-20635" r="-35714" b="-349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58B94C-13D8-4FA6-850E-47E18D75420E}"/>
                  </a:ext>
                </a:extLst>
              </p:cNvPr>
              <p:cNvSpPr txBox="1"/>
              <p:nvPr/>
            </p:nvSpPr>
            <p:spPr>
              <a:xfrm>
                <a:off x="857250" y="3429000"/>
                <a:ext cx="9296400" cy="472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ru-RU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зашумленная правая часть, где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гауссовский шум.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58B94C-13D8-4FA6-850E-47E18D754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3429000"/>
                <a:ext cx="9296400" cy="472822"/>
              </a:xfrm>
              <a:prstGeom prst="rect">
                <a:avLst/>
              </a:prstGeom>
              <a:blipFill>
                <a:blip r:embed="rId3"/>
                <a:stretch>
                  <a:fillRect t="-7792" b="-28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Блок-схема: узел 5">
            <a:extLst>
              <a:ext uri="{FF2B5EF4-FFF2-40B4-BE49-F238E27FC236}">
                <a16:creationId xmlns:a16="http://schemas.microsoft.com/office/drawing/2014/main" id="{50C65FF5-5617-4DA6-9F8A-6748392B4D8C}"/>
              </a:ext>
            </a:extLst>
          </p:cNvPr>
          <p:cNvSpPr/>
          <p:nvPr/>
        </p:nvSpPr>
        <p:spPr>
          <a:xfrm>
            <a:off x="11234738" y="6096000"/>
            <a:ext cx="623887" cy="58102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E44BD0-2759-4ACC-8E3F-0996401BE8BF}"/>
              </a:ext>
            </a:extLst>
          </p:cNvPr>
          <p:cNvSpPr txBox="1"/>
          <p:nvPr/>
        </p:nvSpPr>
        <p:spPr>
          <a:xfrm>
            <a:off x="11382375" y="6201846"/>
            <a:ext cx="40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5799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7024C-A847-4E7B-BE92-DDFE86B72B0E}"/>
              </a:ext>
            </a:extLst>
          </p:cNvPr>
          <p:cNvSpPr txBox="1"/>
          <p:nvPr/>
        </p:nvSpPr>
        <p:spPr>
          <a:xfrm>
            <a:off x="361950" y="86409"/>
            <a:ext cx="5667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72FC38-5C30-47E1-B1F8-5DB36557C15D}"/>
              </a:ext>
            </a:extLst>
          </p:cNvPr>
          <p:cNvSpPr txBox="1"/>
          <p:nvPr/>
        </p:nvSpPr>
        <p:spPr>
          <a:xfrm>
            <a:off x="952500" y="950267"/>
            <a:ext cx="6915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Стандартный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проекционный  алгоритм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Качмажа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63C895-CEEF-4BB4-AFB0-641BB0C1A46C}"/>
                  </a:ext>
                </a:extLst>
              </p:cNvPr>
              <p:cNvSpPr txBox="1"/>
              <p:nvPr/>
            </p:nvSpPr>
            <p:spPr>
              <a:xfrm>
                <a:off x="2219325" y="1950626"/>
                <a:ext cx="7753350" cy="1125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sz="3200" i="1">
                          <a:latin typeface="Cambria Math" panose="02040503050406030204" pitchFamily="18" charset="0"/>
                        </a:rPr>
                        <m:t> = </m:t>
                      </m:r>
                      <m:sSub>
                        <m:sSub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3200" i="1">
                          <a:latin typeface="Cambria Math" panose="02040503050406030204" pitchFamily="18" charset="0"/>
                        </a:rPr>
                        <m:t> + </m:t>
                      </m:r>
                      <m:f>
                        <m:f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 − 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ru-RU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, 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ru-RU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ru-RU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ru-RU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sz="3200" i="1">
                          <a:latin typeface="Cambria Math" panose="02040503050406030204" pitchFamily="18" charset="0"/>
                        </a:rPr>
                        <m:t> </m:t>
                      </m:r>
                      <m:sSub>
                        <m:sSub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63C895-CEEF-4BB4-AFB0-641BB0C1A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325" y="1950626"/>
                <a:ext cx="7753350" cy="11259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A1D906-F2CE-4DA5-ABDB-F23FB42F3B42}"/>
                  </a:ext>
                </a:extLst>
              </p:cNvPr>
              <p:cNvSpPr txBox="1"/>
              <p:nvPr/>
            </p:nvSpPr>
            <p:spPr>
              <a:xfrm>
                <a:off x="857251" y="3615269"/>
                <a:ext cx="10344150" cy="28466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текущее приближение.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𝑚𝑜𝑑</m:t>
                        </m:r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d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ru-RU" sz="24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 строка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\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столбец системы уравнения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u-RU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 </m:t>
                        </m:r>
                        <m:sSub>
                          <m:sSubPr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 </m:t>
                        </m:r>
                      </m:e>
                    </m:d>
                  </m:oMath>
                </a14:m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скалярное произведение (текущее значение левой части i-го уравнения).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невязка (ошибка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квадрат евклидовой нормы.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A1D906-F2CE-4DA5-ABDB-F23FB42F3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1" y="3615269"/>
                <a:ext cx="10344150" cy="2846613"/>
              </a:xfrm>
              <a:prstGeom prst="rect">
                <a:avLst/>
              </a:prstGeom>
              <a:blipFill>
                <a:blip r:embed="rId3"/>
                <a:stretch>
                  <a:fillRect l="-943" t="-1713" r="-884" b="-40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Блок-схема: узел 5">
            <a:extLst>
              <a:ext uri="{FF2B5EF4-FFF2-40B4-BE49-F238E27FC236}">
                <a16:creationId xmlns:a16="http://schemas.microsoft.com/office/drawing/2014/main" id="{1D40D137-D906-4F94-AB9E-94DBA5044D33}"/>
              </a:ext>
            </a:extLst>
          </p:cNvPr>
          <p:cNvSpPr/>
          <p:nvPr/>
        </p:nvSpPr>
        <p:spPr>
          <a:xfrm>
            <a:off x="11234738" y="6096000"/>
            <a:ext cx="623887" cy="58102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468124-B333-475C-B443-CC9A61705162}"/>
              </a:ext>
            </a:extLst>
          </p:cNvPr>
          <p:cNvSpPr txBox="1"/>
          <p:nvPr/>
        </p:nvSpPr>
        <p:spPr>
          <a:xfrm>
            <a:off x="11382375" y="6201846"/>
            <a:ext cx="40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40561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7024C-A847-4E7B-BE92-DDFE86B72B0E}"/>
              </a:ext>
            </a:extLst>
          </p:cNvPr>
          <p:cNvSpPr txBox="1"/>
          <p:nvPr/>
        </p:nvSpPr>
        <p:spPr>
          <a:xfrm>
            <a:off x="361950" y="105459"/>
            <a:ext cx="5667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72FC38-5C30-47E1-B1F8-5DB36557C15D}"/>
              </a:ext>
            </a:extLst>
          </p:cNvPr>
          <p:cNvSpPr txBox="1"/>
          <p:nvPr/>
        </p:nvSpPr>
        <p:spPr>
          <a:xfrm>
            <a:off x="952499" y="969317"/>
            <a:ext cx="5667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Рандомизированный алгоритм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Качмажа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63C895-CEEF-4BB4-AFB0-641BB0C1A46C}"/>
                  </a:ext>
                </a:extLst>
              </p:cNvPr>
              <p:cNvSpPr txBox="1"/>
              <p:nvPr/>
            </p:nvSpPr>
            <p:spPr>
              <a:xfrm>
                <a:off x="2219325" y="1867016"/>
                <a:ext cx="7753350" cy="1125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sz="3200" i="1">
                          <a:latin typeface="Cambria Math" panose="02040503050406030204" pitchFamily="18" charset="0"/>
                        </a:rPr>
                        <m:t> = </m:t>
                      </m:r>
                      <m:sSub>
                        <m:sSub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3200" i="1">
                          <a:latin typeface="Cambria Math" panose="02040503050406030204" pitchFamily="18" charset="0"/>
                        </a:rPr>
                        <m:t> + </m:t>
                      </m:r>
                      <m:f>
                        <m:f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 − 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ru-RU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, </m:t>
                              </m:r>
                              <m:sSub>
                                <m:sSubPr>
                                  <m:ctrlPr>
                                    <a:rPr lang="ru-RU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ru-RU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ru-RU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ru-RU" sz="3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sz="3200" i="1">
                          <a:latin typeface="Cambria Math" panose="02040503050406030204" pitchFamily="18" charset="0"/>
                        </a:rPr>
                        <m:t> </m:t>
                      </m:r>
                      <m:sSub>
                        <m:sSubPr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63C895-CEEF-4BB4-AFB0-641BB0C1A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325" y="1867016"/>
                <a:ext cx="7753350" cy="11259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A1D906-F2CE-4DA5-ABDB-F23FB42F3B42}"/>
                  </a:ext>
                </a:extLst>
              </p:cNvPr>
              <p:cNvSpPr txBox="1"/>
              <p:nvPr/>
            </p:nvSpPr>
            <p:spPr>
              <a:xfrm>
                <a:off x="952499" y="3248025"/>
                <a:ext cx="10344150" cy="31375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текущее приближение.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400" dirty="0"/>
                  <a:t> 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 строка\столбец системы уравнения с наибольшим весом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u-RU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 </m:t>
                        </m:r>
                        <m:sSub>
                          <m:sSubPr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 </m:t>
                        </m:r>
                      </m:e>
                    </m:d>
                  </m:oMath>
                </a14:m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скалярное произведение (текущее значение левой части i-го уравнения).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ru-RU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невязка (ошибка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ru-RU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квадрат евклидовой нормы.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A1D906-F2CE-4DA5-ABDB-F23FB42F3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499" y="3248025"/>
                <a:ext cx="10344150" cy="3137590"/>
              </a:xfrm>
              <a:prstGeom prst="rect">
                <a:avLst/>
              </a:prstGeom>
              <a:blipFill>
                <a:blip r:embed="rId3"/>
                <a:stretch>
                  <a:fillRect l="-884" t="-1553" r="-943" b="-34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Блок-схема: узел 5">
            <a:extLst>
              <a:ext uri="{FF2B5EF4-FFF2-40B4-BE49-F238E27FC236}">
                <a16:creationId xmlns:a16="http://schemas.microsoft.com/office/drawing/2014/main" id="{49A7F43E-7259-4B7A-B818-A9534CFD7B03}"/>
              </a:ext>
            </a:extLst>
          </p:cNvPr>
          <p:cNvSpPr/>
          <p:nvPr/>
        </p:nvSpPr>
        <p:spPr>
          <a:xfrm>
            <a:off x="11234738" y="6096000"/>
            <a:ext cx="623887" cy="58102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7F9C2-52AF-4A5C-9F7E-104C366FF362}"/>
              </a:ext>
            </a:extLst>
          </p:cNvPr>
          <p:cNvSpPr txBox="1"/>
          <p:nvPr/>
        </p:nvSpPr>
        <p:spPr>
          <a:xfrm>
            <a:off x="11382375" y="6201846"/>
            <a:ext cx="40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15068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72FC38-5C30-47E1-B1F8-5DB36557C15D}"/>
              </a:ext>
            </a:extLst>
          </p:cNvPr>
          <p:cNvSpPr txBox="1"/>
          <p:nvPr/>
        </p:nvSpPr>
        <p:spPr>
          <a:xfrm>
            <a:off x="295274" y="102542"/>
            <a:ext cx="8915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Процедура рандомизации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A1D906-F2CE-4DA5-ABDB-F23FB42F3B42}"/>
                  </a:ext>
                </a:extLst>
              </p:cNvPr>
              <p:cNvSpPr txBox="1"/>
              <p:nvPr/>
            </p:nvSpPr>
            <p:spPr>
              <a:xfrm>
                <a:off x="1114425" y="3916957"/>
                <a:ext cx="10344150" cy="962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ru-RU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ru-RU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норма строки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ru-RU" sz="24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ru-RU" sz="240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 норма Фробениуса</a:t>
                </a:r>
                <a:r>
                  <a:rPr lang="ru-RU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7A1D906-F2CE-4DA5-ABDB-F23FB42F3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425" y="3916957"/>
                <a:ext cx="10344150" cy="962186"/>
              </a:xfrm>
              <a:prstGeom prst="rect">
                <a:avLst/>
              </a:prstGeom>
              <a:blipFill>
                <a:blip r:embed="rId2"/>
                <a:stretch>
                  <a:fillRect t="-5096" b="-146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3AAB4C-3874-4793-9D6B-480E711A2BED}"/>
                  </a:ext>
                </a:extLst>
              </p:cNvPr>
              <p:cNvSpPr txBox="1"/>
              <p:nvPr/>
            </p:nvSpPr>
            <p:spPr>
              <a:xfrm>
                <a:off x="2647950" y="2090520"/>
                <a:ext cx="6096000" cy="1060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ru-R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ru-R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ru-RU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8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8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ru-RU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Sup>
                            <m:sSubSupPr>
                              <m:ctrlPr>
                                <a:rPr lang="ru-R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ru-RU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b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  <m:sup>
                              <m:r>
                                <a:rPr lang="ru-R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3AAB4C-3874-4793-9D6B-480E711A2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950" y="2090520"/>
                <a:ext cx="6096000" cy="10604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Блок-схема: узел 4">
            <a:extLst>
              <a:ext uri="{FF2B5EF4-FFF2-40B4-BE49-F238E27FC236}">
                <a16:creationId xmlns:a16="http://schemas.microsoft.com/office/drawing/2014/main" id="{AF4B3A7F-BF10-469A-BC7D-BEF246685A84}"/>
              </a:ext>
            </a:extLst>
          </p:cNvPr>
          <p:cNvSpPr/>
          <p:nvPr/>
        </p:nvSpPr>
        <p:spPr>
          <a:xfrm>
            <a:off x="11234738" y="6096000"/>
            <a:ext cx="623887" cy="58102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6F856-F545-4A60-8258-26A3390A8F74}"/>
              </a:ext>
            </a:extLst>
          </p:cNvPr>
          <p:cNvSpPr txBox="1"/>
          <p:nvPr/>
        </p:nvSpPr>
        <p:spPr>
          <a:xfrm>
            <a:off x="11382375" y="6201846"/>
            <a:ext cx="40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452553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1B8576-1B6F-423D-8613-793779BC5639}"/>
              </a:ext>
            </a:extLst>
          </p:cNvPr>
          <p:cNvSpPr txBox="1"/>
          <p:nvPr/>
        </p:nvSpPr>
        <p:spPr>
          <a:xfrm>
            <a:off x="228600" y="184141"/>
            <a:ext cx="9925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Регуляризирующий вариант алгоритма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Качмажа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FC4A3A-22A8-41A5-AEC6-22F50636445F}"/>
              </a:ext>
            </a:extLst>
          </p:cNvPr>
          <p:cNvSpPr txBox="1"/>
          <p:nvPr/>
        </p:nvSpPr>
        <p:spPr>
          <a:xfrm>
            <a:off x="866775" y="866775"/>
            <a:ext cx="5229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Регуляризация Тихонова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58B207-0DC7-4385-9838-83AB0D795A3C}"/>
                  </a:ext>
                </a:extLst>
              </p:cNvPr>
              <p:cNvSpPr txBox="1"/>
              <p:nvPr/>
            </p:nvSpPr>
            <p:spPr>
              <a:xfrm>
                <a:off x="4377837" y="1325880"/>
                <a:ext cx="3436325" cy="8753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d>
                            <m:dPr>
                              <m:begChr m:val=""/>
                              <m:endChr m:val="}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lit/>
                                </m:rPr>
                                <a:rPr lang="ru-RU" sz="2400" i="1">
                                  <a:latin typeface="Cambria Math" panose="02040503050406030204" pitchFamily="18" charset="0"/>
                                </a:rPr>
                                <m:t>{|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𝐴𝑢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lit/>
                                    </m:r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m:rPr>
                                  <m:lit/>
                                </m:rPr>
                                <a:rPr lang="ru-RU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m:rPr>
                                  <m:lit/>
                                </m:rPr>
                                <a:rPr lang="ru-RU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ru-RU" sz="2400" dirty="0"/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58B207-0DC7-4385-9838-83AB0D795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837" y="1325880"/>
                <a:ext cx="3436325" cy="8753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3F616A-AF7C-4388-A572-30F5B4AE3ACA}"/>
                  </a:ext>
                </a:extLst>
              </p:cNvPr>
              <p:cNvSpPr txBox="1"/>
              <p:nvPr/>
            </p:nvSpPr>
            <p:spPr>
              <a:xfrm>
                <a:off x="866775" y="1854309"/>
                <a:ext cx="47447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ru-RU" sz="240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регуляризации.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240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lit/>
                      </m:rPr>
                      <a:rPr lang="ru-RU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евклидова норма.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3F616A-AF7C-4388-A572-30F5B4AE3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75" y="1854309"/>
                <a:ext cx="4744720" cy="830997"/>
              </a:xfrm>
              <a:prstGeom prst="rect">
                <a:avLst/>
              </a:prstGeom>
              <a:blipFill>
                <a:blip r:embed="rId3"/>
                <a:stretch>
                  <a:fillRect l="-1027" t="-5839" b="-153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5E0D42-93C8-4A09-AD45-171744949A7E}"/>
                  </a:ext>
                </a:extLst>
              </p:cNvPr>
              <p:cNvSpPr txBox="1"/>
              <p:nvPr/>
            </p:nvSpPr>
            <p:spPr>
              <a:xfrm>
                <a:off x="4829457" y="3420096"/>
                <a:ext cx="2856936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ru-RU" sz="2400">
                              <a:latin typeface="Cambria Math" panose="02040503050406030204" pitchFamily="18" charset="0"/>
                            </a:rPr>
                            <m:t>α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 sz="24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sz="2400" i="1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5E0D42-93C8-4A09-AD45-171744949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457" y="3420096"/>
                <a:ext cx="2856936" cy="4168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8FF1024-E6C4-462C-9BC4-7288DAC24A50}"/>
              </a:ext>
            </a:extLst>
          </p:cNvPr>
          <p:cNvSpPr txBox="1"/>
          <p:nvPr/>
        </p:nvSpPr>
        <p:spPr>
          <a:xfrm>
            <a:off x="866774" y="2931160"/>
            <a:ext cx="5229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Уравнение Эйлера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106292-DB30-413B-A222-014B85E06FD0}"/>
              </a:ext>
            </a:extLst>
          </p:cNvPr>
          <p:cNvSpPr txBox="1"/>
          <p:nvPr/>
        </p:nvSpPr>
        <p:spPr>
          <a:xfrm>
            <a:off x="701992" y="4057968"/>
            <a:ext cx="111118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работе [1] для решения задачи (1) предложена расширенная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регуляризованная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нормальная система уравнений: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6C8192-3179-47A4-9D4D-0C9843744688}"/>
              </a:ext>
            </a:extLst>
          </p:cNvPr>
          <p:cNvSpPr txBox="1"/>
          <p:nvPr/>
        </p:nvSpPr>
        <p:spPr>
          <a:xfrm>
            <a:off x="10916150" y="1286635"/>
            <a:ext cx="629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A68DE8-3023-4CEE-B8FF-827CC468759A}"/>
              </a:ext>
            </a:extLst>
          </p:cNvPr>
          <p:cNvSpPr txBox="1"/>
          <p:nvPr/>
        </p:nvSpPr>
        <p:spPr>
          <a:xfrm>
            <a:off x="10943442" y="3385436"/>
            <a:ext cx="629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36BC20-BF7E-4C12-B229-02834DB42DC8}"/>
                  </a:ext>
                </a:extLst>
              </p:cNvPr>
              <p:cNvSpPr txBox="1"/>
              <p:nvPr/>
            </p:nvSpPr>
            <p:spPr>
              <a:xfrm>
                <a:off x="3661958" y="5178635"/>
                <a:ext cx="5191934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⟺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36BC20-BF7E-4C12-B229-02834DB42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958" y="5178635"/>
                <a:ext cx="5191934" cy="8298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80D30BE-0A69-4D7D-83F2-584E76FA83C3}"/>
              </a:ext>
            </a:extLst>
          </p:cNvPr>
          <p:cNvSpPr txBox="1"/>
          <p:nvPr/>
        </p:nvSpPr>
        <p:spPr>
          <a:xfrm>
            <a:off x="10963762" y="5386956"/>
            <a:ext cx="629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Блок-схема: узел 17">
            <a:extLst>
              <a:ext uri="{FF2B5EF4-FFF2-40B4-BE49-F238E27FC236}">
                <a16:creationId xmlns:a16="http://schemas.microsoft.com/office/drawing/2014/main" id="{C12271A4-8B81-4981-8006-775C0962ACE6}"/>
              </a:ext>
            </a:extLst>
          </p:cNvPr>
          <p:cNvSpPr/>
          <p:nvPr/>
        </p:nvSpPr>
        <p:spPr>
          <a:xfrm>
            <a:off x="11234738" y="6096000"/>
            <a:ext cx="623887" cy="58102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DDBF31-5184-444E-849D-5486AEAAB9E5}"/>
              </a:ext>
            </a:extLst>
          </p:cNvPr>
          <p:cNvSpPr txBox="1"/>
          <p:nvPr/>
        </p:nvSpPr>
        <p:spPr>
          <a:xfrm>
            <a:off x="11382375" y="6201846"/>
            <a:ext cx="40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34305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F99700-46A0-46B2-8F93-A7F9F3171EDC}"/>
              </a:ext>
            </a:extLst>
          </p:cNvPr>
          <p:cNvSpPr txBox="1"/>
          <p:nvPr/>
        </p:nvSpPr>
        <p:spPr>
          <a:xfrm>
            <a:off x="228600" y="152400"/>
            <a:ext cx="10306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Строчно-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ориентиованный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вариант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F30BE7-BF93-45D8-9D93-46F0026EA1A7}"/>
                  </a:ext>
                </a:extLst>
              </p:cNvPr>
              <p:cNvSpPr txBox="1"/>
              <p:nvPr/>
            </p:nvSpPr>
            <p:spPr>
              <a:xfrm>
                <a:off x="6322418" y="3270305"/>
                <a:ext cx="3300006" cy="9828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ru-R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F30BE7-BF93-45D8-9D93-46F0026EA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418" y="3270305"/>
                <a:ext cx="3300006" cy="9828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E4B5DAD-1039-423C-96F0-FB125553A294}"/>
              </a:ext>
            </a:extLst>
          </p:cNvPr>
          <p:cNvSpPr txBox="1"/>
          <p:nvPr/>
        </p:nvSpPr>
        <p:spPr>
          <a:xfrm>
            <a:off x="969010" y="798731"/>
            <a:ext cx="568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Начальные условия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22B0F-0513-4DE1-8FD3-2B62B6E8663A}"/>
                  </a:ext>
                </a:extLst>
              </p:cNvPr>
              <p:cNvSpPr txBox="1"/>
              <p:nvPr/>
            </p:nvSpPr>
            <p:spPr>
              <a:xfrm>
                <a:off x="4786375" y="2091393"/>
                <a:ext cx="2619243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ru-RU" sz="24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22B0F-0513-4DE1-8FD3-2B62B6E8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375" y="2091393"/>
                <a:ext cx="2619243" cy="377667"/>
              </a:xfrm>
              <a:prstGeom prst="rect">
                <a:avLst/>
              </a:prstGeom>
              <a:blipFill>
                <a:blip r:embed="rId3"/>
                <a:stretch>
                  <a:fillRect l="-2558" b="-322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317087-4996-448D-BF23-748A407E6562}"/>
                  </a:ext>
                </a:extLst>
              </p:cNvPr>
              <p:cNvSpPr txBox="1"/>
              <p:nvPr/>
            </p:nvSpPr>
            <p:spPr>
              <a:xfrm>
                <a:off x="5205410" y="1196340"/>
                <a:ext cx="1781175" cy="497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317087-4996-448D-BF23-748A407E6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410" y="1196340"/>
                <a:ext cx="1781175" cy="497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3265BF0-02CE-458D-B0AA-9F0AF3164A97}"/>
              </a:ext>
            </a:extLst>
          </p:cNvPr>
          <p:cNvSpPr txBox="1"/>
          <p:nvPr/>
        </p:nvSpPr>
        <p:spPr>
          <a:xfrm>
            <a:off x="11298824" y="3493965"/>
            <a:ext cx="629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B1193C-D36F-48DF-A4B7-70E36A6E4471}"/>
                  </a:ext>
                </a:extLst>
              </p:cNvPr>
              <p:cNvSpPr txBox="1"/>
              <p:nvPr/>
            </p:nvSpPr>
            <p:spPr>
              <a:xfrm>
                <a:off x="1649323" y="3362637"/>
                <a:ext cx="2556597" cy="7981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ru-R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ru-R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ru-RU" sz="24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ru-R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ru-RU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B1193C-D36F-48DF-A4B7-70E36A6E4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323" y="3362637"/>
                <a:ext cx="2556597" cy="798167"/>
              </a:xfrm>
              <a:prstGeom prst="rect">
                <a:avLst/>
              </a:prstGeom>
              <a:blipFill>
                <a:blip r:embed="rId5"/>
                <a:stretch>
                  <a:fillRect l="-2387" r="-1432" b="-106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Блок-схема: узел 8">
            <a:extLst>
              <a:ext uri="{FF2B5EF4-FFF2-40B4-BE49-F238E27FC236}">
                <a16:creationId xmlns:a16="http://schemas.microsoft.com/office/drawing/2014/main" id="{7EB02BFA-B563-426E-8D81-CC8AEF748FF4}"/>
              </a:ext>
            </a:extLst>
          </p:cNvPr>
          <p:cNvSpPr/>
          <p:nvPr/>
        </p:nvSpPr>
        <p:spPr>
          <a:xfrm>
            <a:off x="11234738" y="6096000"/>
            <a:ext cx="623887" cy="58102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6F211E-51CF-40A8-B4EE-DEEF71C03B73}"/>
              </a:ext>
            </a:extLst>
          </p:cNvPr>
          <p:cNvSpPr txBox="1"/>
          <p:nvPr/>
        </p:nvSpPr>
        <p:spPr>
          <a:xfrm>
            <a:off x="11382375" y="6201846"/>
            <a:ext cx="40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6081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1B8576-1B6F-423D-8613-793779BC5639}"/>
              </a:ext>
            </a:extLst>
          </p:cNvPr>
          <p:cNvSpPr txBox="1"/>
          <p:nvPr/>
        </p:nvSpPr>
        <p:spPr>
          <a:xfrm>
            <a:off x="228600" y="152400"/>
            <a:ext cx="10306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Столбцово-ориентиованный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вариант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07DAC-979A-43A0-B8C2-7A7D2D9C7E37}"/>
              </a:ext>
            </a:extLst>
          </p:cNvPr>
          <p:cNvSpPr txBox="1"/>
          <p:nvPr/>
        </p:nvSpPr>
        <p:spPr>
          <a:xfrm>
            <a:off x="969010" y="798731"/>
            <a:ext cx="568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Начальные условия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A96CF6-F35D-4AB8-8745-2AF8B50D8310}"/>
                  </a:ext>
                </a:extLst>
              </p:cNvPr>
              <p:cNvSpPr txBox="1"/>
              <p:nvPr/>
            </p:nvSpPr>
            <p:spPr>
              <a:xfrm>
                <a:off x="4786375" y="2091393"/>
                <a:ext cx="2619243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ru-RU" sz="24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A96CF6-F35D-4AB8-8745-2AF8B50D8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375" y="2091393"/>
                <a:ext cx="2619243" cy="377667"/>
              </a:xfrm>
              <a:prstGeom prst="rect">
                <a:avLst/>
              </a:prstGeom>
              <a:blipFill>
                <a:blip r:embed="rId2"/>
                <a:stretch>
                  <a:fillRect l="-2326" t="-1613" b="-354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117AEF-1183-4C45-85E1-6E8B79461BD3}"/>
                  </a:ext>
                </a:extLst>
              </p:cNvPr>
              <p:cNvSpPr txBox="1"/>
              <p:nvPr/>
            </p:nvSpPr>
            <p:spPr>
              <a:xfrm>
                <a:off x="5205410" y="1196340"/>
                <a:ext cx="1781175" cy="497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117AEF-1183-4C45-85E1-6E8B79461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410" y="1196340"/>
                <a:ext cx="1781175" cy="497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F468050-11A5-4CB6-B0D6-5E23E01C5793}"/>
              </a:ext>
            </a:extLst>
          </p:cNvPr>
          <p:cNvSpPr txBox="1"/>
          <p:nvPr/>
        </p:nvSpPr>
        <p:spPr>
          <a:xfrm>
            <a:off x="11411437" y="3226742"/>
            <a:ext cx="629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6B5929-7250-4F10-8B2D-D55E7EB141A3}"/>
                  </a:ext>
                </a:extLst>
              </p:cNvPr>
              <p:cNvSpPr txBox="1"/>
              <p:nvPr/>
            </p:nvSpPr>
            <p:spPr>
              <a:xfrm>
                <a:off x="2711089" y="3116311"/>
                <a:ext cx="3050194" cy="9862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400" dirty="0"/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6B5929-7250-4F10-8B2D-D55E7EB14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089" y="3116311"/>
                <a:ext cx="3050194" cy="9862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664AE7-1CED-4635-BB01-10F2C675DD88}"/>
                  </a:ext>
                </a:extLst>
              </p:cNvPr>
              <p:cNvSpPr txBox="1"/>
              <p:nvPr/>
            </p:nvSpPr>
            <p:spPr>
              <a:xfrm>
                <a:off x="6496051" y="3034479"/>
                <a:ext cx="2916824" cy="8245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,−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sSubSup>
                                    <m:sSubSup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"/>
                              <m:endChr m:val="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lit/>
                                </m:rPr>
                                <a:rPr lang="ru-RU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d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lit/>
                                </m:rPr>
                                <a:rPr lang="ru-RU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ru-RU" sz="2400" i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664AE7-1CED-4635-BB01-10F2C675D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051" y="3034479"/>
                <a:ext cx="2916824" cy="8245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2897E4E-4FD4-4A3C-9BF6-634CB19345A0}"/>
                  </a:ext>
                </a:extLst>
              </p:cNvPr>
              <p:cNvSpPr txBox="1"/>
              <p:nvPr/>
            </p:nvSpPr>
            <p:spPr>
              <a:xfrm>
                <a:off x="969010" y="4324975"/>
                <a:ext cx="10344150" cy="1585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40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ru-RU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en-US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начальное приближение, где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𝐴𝑢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en-US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2897E4E-4FD4-4A3C-9BF6-634CB1934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010" y="4324975"/>
                <a:ext cx="10344150" cy="15855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Блок-схема: узел 11">
            <a:extLst>
              <a:ext uri="{FF2B5EF4-FFF2-40B4-BE49-F238E27FC236}">
                <a16:creationId xmlns:a16="http://schemas.microsoft.com/office/drawing/2014/main" id="{A2F9C3D8-FB7A-4868-B46A-9D6763F00466}"/>
              </a:ext>
            </a:extLst>
          </p:cNvPr>
          <p:cNvSpPr/>
          <p:nvPr/>
        </p:nvSpPr>
        <p:spPr>
          <a:xfrm>
            <a:off x="11234738" y="6096000"/>
            <a:ext cx="623887" cy="58102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A78B1F-37DE-49EA-8031-B9F737268C3C}"/>
              </a:ext>
            </a:extLst>
          </p:cNvPr>
          <p:cNvSpPr txBox="1"/>
          <p:nvPr/>
        </p:nvSpPr>
        <p:spPr>
          <a:xfrm>
            <a:off x="11382375" y="6201846"/>
            <a:ext cx="40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21679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7024C-A847-4E7B-BE92-DDFE86B72B0E}"/>
              </a:ext>
            </a:extLst>
          </p:cNvPr>
          <p:cNvSpPr txBox="1"/>
          <p:nvPr/>
        </p:nvSpPr>
        <p:spPr>
          <a:xfrm>
            <a:off x="361950" y="105459"/>
            <a:ext cx="5667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72FC38-5C30-47E1-B1F8-5DB36557C15D}"/>
              </a:ext>
            </a:extLst>
          </p:cNvPr>
          <p:cNvSpPr txBox="1"/>
          <p:nvPr/>
        </p:nvSpPr>
        <p:spPr>
          <a:xfrm>
            <a:off x="952499" y="969317"/>
            <a:ext cx="5667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Регуляризованный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Качмажа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63C87B-F914-4422-BC15-9B95812F6A6E}"/>
                  </a:ext>
                </a:extLst>
              </p:cNvPr>
              <p:cNvSpPr txBox="1"/>
              <p:nvPr/>
            </p:nvSpPr>
            <p:spPr>
              <a:xfrm>
                <a:off x="3364060" y="2239975"/>
                <a:ext cx="1827360" cy="8539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i="1"/>
                                <m:t>max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"/>
                              <m:endChr m:val="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lit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acc>
                                <m:accPr>
                                  <m:chr m:val="̃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lit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</m:den>
                      </m:f>
                    </m:oMath>
                  </m:oMathPara>
                </a14:m>
                <a:endParaRPr lang="ru-RU" sz="2400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63C87B-F914-4422-BC15-9B95812F6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060" y="2239975"/>
                <a:ext cx="1827360" cy="8539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240B84-293F-4783-8BA3-7C92177997D4}"/>
                  </a:ext>
                </a:extLst>
              </p:cNvPr>
              <p:cNvSpPr txBox="1"/>
              <p:nvPr/>
            </p:nvSpPr>
            <p:spPr>
              <a:xfrm>
                <a:off x="6619874" y="2165564"/>
                <a:ext cx="2642647" cy="10027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"/>
                              <m:endChr m:val="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lit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̃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acc>
                            </m:e>
                          </m:d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lit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sz="24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240B84-293F-4783-8BA3-7C9217799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874" y="2165564"/>
                <a:ext cx="2642647" cy="1002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5816D4-8BDE-4266-8C37-2270E6E21C98}"/>
                  </a:ext>
                </a:extLst>
              </p:cNvPr>
              <p:cNvSpPr txBox="1"/>
              <p:nvPr/>
            </p:nvSpPr>
            <p:spPr>
              <a:xfrm>
                <a:off x="1028700" y="3847531"/>
                <a:ext cx="10344150" cy="899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4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max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максимальное сингулярное значение.</a:t>
                </a:r>
                <a:endParaRPr lang="en-US" sz="24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endParaRPr lang="ru-RU" sz="2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5816D4-8BDE-4266-8C37-2270E6E21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" y="3847531"/>
                <a:ext cx="10344150" cy="899862"/>
              </a:xfrm>
              <a:prstGeom prst="rect">
                <a:avLst/>
              </a:prstGeom>
              <a:blipFill>
                <a:blip r:embed="rId4"/>
                <a:stretch>
                  <a:fillRect t="-54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55C2E4A-19E7-4B45-99C6-13E85C119EEA}"/>
              </a:ext>
            </a:extLst>
          </p:cNvPr>
          <p:cNvSpPr txBox="1"/>
          <p:nvPr/>
        </p:nvSpPr>
        <p:spPr>
          <a:xfrm>
            <a:off x="11411437" y="2417117"/>
            <a:ext cx="629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Блок-схема: узел 9">
            <a:extLst>
              <a:ext uri="{FF2B5EF4-FFF2-40B4-BE49-F238E27FC236}">
                <a16:creationId xmlns:a16="http://schemas.microsoft.com/office/drawing/2014/main" id="{181BAE7B-02D0-4183-8957-2035720BB857}"/>
              </a:ext>
            </a:extLst>
          </p:cNvPr>
          <p:cNvSpPr/>
          <p:nvPr/>
        </p:nvSpPr>
        <p:spPr>
          <a:xfrm>
            <a:off x="11234738" y="6096000"/>
            <a:ext cx="623887" cy="58102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140B64-8E86-4B0F-B587-3A6007CD139D}"/>
              </a:ext>
            </a:extLst>
          </p:cNvPr>
          <p:cNvSpPr txBox="1"/>
          <p:nvPr/>
        </p:nvSpPr>
        <p:spPr>
          <a:xfrm>
            <a:off x="11382375" y="6201846"/>
            <a:ext cx="40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34095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8B4AD12-3F4C-4EEC-BB39-36BF7C9DB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707" y="1409418"/>
            <a:ext cx="4010585" cy="40391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EB7572-863C-4A30-AC18-E5D53B9059CD}"/>
              </a:ext>
            </a:extLst>
          </p:cNvPr>
          <p:cNvSpPr txBox="1"/>
          <p:nvPr/>
        </p:nvSpPr>
        <p:spPr>
          <a:xfrm>
            <a:off x="361950" y="105459"/>
            <a:ext cx="5667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</a:p>
        </p:txBody>
      </p:sp>
      <p:sp>
        <p:nvSpPr>
          <p:cNvPr id="4" name="Блок-схема: узел 3">
            <a:extLst>
              <a:ext uri="{FF2B5EF4-FFF2-40B4-BE49-F238E27FC236}">
                <a16:creationId xmlns:a16="http://schemas.microsoft.com/office/drawing/2014/main" id="{3BD4C5DF-702E-4AF3-BA2D-C320FAE03A3F}"/>
              </a:ext>
            </a:extLst>
          </p:cNvPr>
          <p:cNvSpPr/>
          <p:nvPr/>
        </p:nvSpPr>
        <p:spPr>
          <a:xfrm>
            <a:off x="11234738" y="6096000"/>
            <a:ext cx="623887" cy="58102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FCCC60-9435-439A-8994-8543E5514D8D}"/>
              </a:ext>
            </a:extLst>
          </p:cNvPr>
          <p:cNvSpPr txBox="1"/>
          <p:nvPr/>
        </p:nvSpPr>
        <p:spPr>
          <a:xfrm>
            <a:off x="11382375" y="6201846"/>
            <a:ext cx="623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25426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071763-E67A-4629-9DAE-8FEFCA998C5B}"/>
              </a:ext>
            </a:extLst>
          </p:cNvPr>
          <p:cNvSpPr txBox="1"/>
          <p:nvPr/>
        </p:nvSpPr>
        <p:spPr>
          <a:xfrm>
            <a:off x="361950" y="105459"/>
            <a:ext cx="5667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F2CF51-83FF-48AE-BF0E-25854DE9E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95" y="1081088"/>
            <a:ext cx="4327642" cy="234791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8158512-DDD6-4AA9-ACA0-4A825DFA7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846" y="1081088"/>
            <a:ext cx="4191414" cy="234791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7DA9F8C-FB82-48B0-8C04-5D5B03CC0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846" y="3919539"/>
            <a:ext cx="4191415" cy="24304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7BADB2-402C-421B-B18C-EC2A4F711B9C}"/>
              </a:ext>
            </a:extLst>
          </p:cNvPr>
          <p:cNvSpPr txBox="1"/>
          <p:nvPr/>
        </p:nvSpPr>
        <p:spPr>
          <a:xfrm>
            <a:off x="838200" y="4057650"/>
            <a:ext cx="51911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Кол-во итераций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50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Кол-во внутренних итераций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45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Кол-во внешних итераций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32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 регуляризации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0.01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0.2241</a:t>
            </a:r>
          </a:p>
        </p:txBody>
      </p:sp>
      <p:sp>
        <p:nvSpPr>
          <p:cNvPr id="7" name="Блок-схема: узел 6">
            <a:extLst>
              <a:ext uri="{FF2B5EF4-FFF2-40B4-BE49-F238E27FC236}">
                <a16:creationId xmlns:a16="http://schemas.microsoft.com/office/drawing/2014/main" id="{6E1D6DCB-9202-4BE2-8AAD-2CAA7B3031FB}"/>
              </a:ext>
            </a:extLst>
          </p:cNvPr>
          <p:cNvSpPr/>
          <p:nvPr/>
        </p:nvSpPr>
        <p:spPr>
          <a:xfrm>
            <a:off x="11234738" y="6096000"/>
            <a:ext cx="623887" cy="58102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AFCFDA-BE0F-47A3-9BA4-44D8C13589A7}"/>
              </a:ext>
            </a:extLst>
          </p:cNvPr>
          <p:cNvSpPr txBox="1"/>
          <p:nvPr/>
        </p:nvSpPr>
        <p:spPr>
          <a:xfrm>
            <a:off x="11382375" y="6201846"/>
            <a:ext cx="47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31291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7DB0E5B-9DEE-4D0B-A51B-86C215496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9170"/>
            <a:ext cx="11073230" cy="5763955"/>
          </a:xfrm>
          <a:prstGeom prst="rect">
            <a:avLst/>
          </a:prstGeom>
        </p:spPr>
      </p:pic>
      <p:sp>
        <p:nvSpPr>
          <p:cNvPr id="4" name="Блок-схема: узел 3">
            <a:extLst>
              <a:ext uri="{FF2B5EF4-FFF2-40B4-BE49-F238E27FC236}">
                <a16:creationId xmlns:a16="http://schemas.microsoft.com/office/drawing/2014/main" id="{653A2065-26F2-4EAF-A8B3-A8E6EECBDC26}"/>
              </a:ext>
            </a:extLst>
          </p:cNvPr>
          <p:cNvSpPr/>
          <p:nvPr/>
        </p:nvSpPr>
        <p:spPr>
          <a:xfrm>
            <a:off x="11234738" y="6096000"/>
            <a:ext cx="623887" cy="58102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F092B-9D38-4C10-86E2-9494E1901F9E}"/>
              </a:ext>
            </a:extLst>
          </p:cNvPr>
          <p:cNvSpPr txBox="1"/>
          <p:nvPr/>
        </p:nvSpPr>
        <p:spPr>
          <a:xfrm>
            <a:off x="11382375" y="6201846"/>
            <a:ext cx="623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09822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071763-E67A-4629-9DAE-8FEFCA998C5B}"/>
              </a:ext>
            </a:extLst>
          </p:cNvPr>
          <p:cNvSpPr txBox="1"/>
          <p:nvPr/>
        </p:nvSpPr>
        <p:spPr>
          <a:xfrm>
            <a:off x="361950" y="105459"/>
            <a:ext cx="5667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7BADB2-402C-421B-B18C-EC2A4F711B9C}"/>
              </a:ext>
            </a:extLst>
          </p:cNvPr>
          <p:cNvSpPr txBox="1"/>
          <p:nvPr/>
        </p:nvSpPr>
        <p:spPr>
          <a:xfrm>
            <a:off x="838200" y="4057650"/>
            <a:ext cx="51911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Кол-во итераций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50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Кол-во внутренних итераций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230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Кол-во внешних итераций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30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 регуляризации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0.01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0.0622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23BF3C-5C0C-4F96-82E2-EBEC27EA7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425" y="1004888"/>
            <a:ext cx="4248380" cy="242411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5C27E9-E826-4016-8103-0920287B0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6" y="986336"/>
            <a:ext cx="4248380" cy="244266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B69545A-D226-4E1C-B0B5-DA32A1BBC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425" y="4057650"/>
            <a:ext cx="4248380" cy="2494516"/>
          </a:xfrm>
          <a:prstGeom prst="rect">
            <a:avLst/>
          </a:prstGeom>
        </p:spPr>
      </p:pic>
      <p:sp>
        <p:nvSpPr>
          <p:cNvPr id="8" name="Блок-схема: узел 7">
            <a:extLst>
              <a:ext uri="{FF2B5EF4-FFF2-40B4-BE49-F238E27FC236}">
                <a16:creationId xmlns:a16="http://schemas.microsoft.com/office/drawing/2014/main" id="{C2D1B7F0-8E79-4F16-A541-5E0D8D1B4986}"/>
              </a:ext>
            </a:extLst>
          </p:cNvPr>
          <p:cNvSpPr/>
          <p:nvPr/>
        </p:nvSpPr>
        <p:spPr>
          <a:xfrm>
            <a:off x="11234738" y="6096000"/>
            <a:ext cx="623887" cy="58102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C3B3E0-E008-4B29-A172-FA2D890A9304}"/>
              </a:ext>
            </a:extLst>
          </p:cNvPr>
          <p:cNvSpPr txBox="1"/>
          <p:nvPr/>
        </p:nvSpPr>
        <p:spPr>
          <a:xfrm>
            <a:off x="11382375" y="6201846"/>
            <a:ext cx="47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1680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DA2168-72B8-4D17-B579-33D3FDB41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023"/>
            <a:ext cx="10725220" cy="5605278"/>
          </a:xfrm>
          <a:prstGeom prst="rect">
            <a:avLst/>
          </a:prstGeom>
        </p:spPr>
      </p:pic>
      <p:sp>
        <p:nvSpPr>
          <p:cNvPr id="4" name="Блок-схема: узел 3">
            <a:extLst>
              <a:ext uri="{FF2B5EF4-FFF2-40B4-BE49-F238E27FC236}">
                <a16:creationId xmlns:a16="http://schemas.microsoft.com/office/drawing/2014/main" id="{C885EF39-37FB-4857-A921-4E1D58601FBD}"/>
              </a:ext>
            </a:extLst>
          </p:cNvPr>
          <p:cNvSpPr/>
          <p:nvPr/>
        </p:nvSpPr>
        <p:spPr>
          <a:xfrm>
            <a:off x="11234738" y="6096000"/>
            <a:ext cx="623887" cy="58102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51FBB-89C9-4952-AD09-F6F907EA78A6}"/>
              </a:ext>
            </a:extLst>
          </p:cNvPr>
          <p:cNvSpPr txBox="1"/>
          <p:nvPr/>
        </p:nvSpPr>
        <p:spPr>
          <a:xfrm>
            <a:off x="11382375" y="6201846"/>
            <a:ext cx="47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45251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09DD3B-A177-42CA-A034-66E6761DF2F8}"/>
              </a:ext>
            </a:extLst>
          </p:cNvPr>
          <p:cNvSpPr txBox="1"/>
          <p:nvPr/>
        </p:nvSpPr>
        <p:spPr>
          <a:xfrm>
            <a:off x="361950" y="105459"/>
            <a:ext cx="5667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Литература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0AF84-8779-40D9-9B4D-FCED35DBB463}"/>
              </a:ext>
            </a:extLst>
          </p:cNvPr>
          <p:cNvSpPr txBox="1"/>
          <p:nvPr/>
        </p:nvSpPr>
        <p:spPr>
          <a:xfrm>
            <a:off x="766761" y="1276350"/>
            <a:ext cx="108489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Жданов А. И. Метод расширенных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регуляризованных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нормальных уравнений// Ж.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вычисл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физ., 2012. Т.52, №2. С. 205–208.</a:t>
            </a:r>
          </a:p>
          <a:p>
            <a:pPr marL="342900" indent="-342900" algn="just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Ivanov A., Zhdanov A.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Kaczmarz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for Tikhonov regularization problem// Appl. Math. E-Notes, 2013. vol.13. pp. 270–276.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Блок-схема: узел 3">
            <a:extLst>
              <a:ext uri="{FF2B5EF4-FFF2-40B4-BE49-F238E27FC236}">
                <a16:creationId xmlns:a16="http://schemas.microsoft.com/office/drawing/2014/main" id="{5B2ECF3F-DBED-4817-8220-BF074CE2A953}"/>
              </a:ext>
            </a:extLst>
          </p:cNvPr>
          <p:cNvSpPr/>
          <p:nvPr/>
        </p:nvSpPr>
        <p:spPr>
          <a:xfrm>
            <a:off x="11234738" y="6096000"/>
            <a:ext cx="623887" cy="58102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59F03-A624-4BF4-8A8B-97C49B4DC0F4}"/>
              </a:ext>
            </a:extLst>
          </p:cNvPr>
          <p:cNvSpPr txBox="1"/>
          <p:nvPr/>
        </p:nvSpPr>
        <p:spPr>
          <a:xfrm>
            <a:off x="11382375" y="6220896"/>
            <a:ext cx="47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873938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501</Words>
  <Application>Microsoft Office PowerPoint</Application>
  <PresentationFormat>Широкоэкранный</PresentationFormat>
  <Paragraphs>99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Times New Roman</vt:lpstr>
      <vt:lpstr>Тема Office</vt:lpstr>
      <vt:lpstr>Регуляризирующие свойства алгоритма Качмажа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Регуляризирующие свойства алгоритма Качмажа</dc:title>
  <dc:creator>Егор Бекиш</dc:creator>
  <cp:lastModifiedBy>Егор Бекиш</cp:lastModifiedBy>
  <cp:revision>48</cp:revision>
  <dcterms:created xsi:type="dcterms:W3CDTF">2026-04-02T07:22:56Z</dcterms:created>
  <dcterms:modified xsi:type="dcterms:W3CDTF">2026-04-07T07:13:11Z</dcterms:modified>
</cp:coreProperties>
</file>